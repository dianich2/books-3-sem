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79" r:id="rId5"/>
    <p:sldId id="263" r:id="rId6"/>
    <p:sldId id="280" r:id="rId7"/>
    <p:sldId id="262" r:id="rId8"/>
    <p:sldId id="281" r:id="rId9"/>
    <p:sldId id="264" r:id="rId10"/>
    <p:sldId id="265" r:id="rId11"/>
    <p:sldId id="282" r:id="rId12"/>
    <p:sldId id="266" r:id="rId13"/>
    <p:sldId id="283" r:id="rId14"/>
    <p:sldId id="267" r:id="rId15"/>
    <p:sldId id="268" r:id="rId16"/>
    <p:sldId id="269" r:id="rId17"/>
    <p:sldId id="284" r:id="rId18"/>
    <p:sldId id="270" r:id="rId19"/>
    <p:sldId id="271" r:id="rId20"/>
    <p:sldId id="278" r:id="rId21"/>
    <p:sldId id="285" r:id="rId22"/>
    <p:sldId id="260" r:id="rId23"/>
    <p:sldId id="286" r:id="rId24"/>
    <p:sldId id="261" r:id="rId25"/>
    <p:sldId id="287" r:id="rId26"/>
    <p:sldId id="272" r:id="rId27"/>
    <p:sldId id="273" r:id="rId28"/>
    <p:sldId id="289" r:id="rId29"/>
    <p:sldId id="274" r:id="rId30"/>
    <p:sldId id="288" r:id="rId31"/>
    <p:sldId id="275" r:id="rId32"/>
    <p:sldId id="290" r:id="rId33"/>
    <p:sldId id="276" r:id="rId34"/>
    <p:sldId id="291" r:id="rId35"/>
    <p:sldId id="277" r:id="rId36"/>
    <p:sldId id="292" r:id="rId37"/>
    <p:sldId id="293" r:id="rId38"/>
    <p:sldId id="29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customXml" Target="../customXml/item3.xml"/><Relationship Id="rId44" Type="http://schemas.openxmlformats.org/officeDocument/2006/relationships/customXml" Target="../customXml/item2.xml"/><Relationship Id="rId43" Type="http://schemas.openxmlformats.org/officeDocument/2006/relationships/customXml" Target="../customXml/item1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1EF38BA-EC40-47AE-8436-3553620A61E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D620A40-0BAB-4293-A13A-CDE6CF302820}" type="slidenum">
              <a:rPr lang="en-US" smtClean="0"/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38BA-EC40-47AE-8436-3553620A61E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20A40-0BAB-4293-A13A-CDE6CF3028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EF38BA-EC40-47AE-8436-3553620A61E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D620A40-0BAB-4293-A13A-CDE6CF302820}" type="slidenum">
              <a:rPr lang="en-US" smtClean="0"/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38BA-EC40-47AE-8436-3553620A61E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20A40-0BAB-4293-A13A-CDE6CF3028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38BA-EC40-47AE-8436-3553620A61E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20A40-0BAB-4293-A13A-CDE6CF3028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38BA-EC40-47AE-8436-3553620A61E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20A40-0BAB-4293-A13A-CDE6CF3028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38BA-EC40-47AE-8436-3553620A61E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20A40-0BAB-4293-A13A-CDE6CF3028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EF38BA-EC40-47AE-8436-3553620A61E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D620A40-0BAB-4293-A13A-CDE6CF302820}" type="slidenum">
              <a:rPr lang="en-US" smtClean="0"/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EF38BA-EC40-47AE-8436-3553620A61E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D620A40-0BAB-4293-A13A-CDE6CF302820}" type="slidenum">
              <a:rPr lang="en-US" smtClean="0"/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38BA-EC40-47AE-8436-3553620A61E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20A40-0BAB-4293-A13A-CDE6CF3028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38BA-EC40-47AE-8436-3553620A61E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20A40-0BAB-4293-A13A-CDE6CF30282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91EF38BA-EC40-47AE-8436-3553620A61E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D620A40-0BAB-4293-A13A-CDE6CF302820}" type="slidenum">
              <a:rPr lang="en-US" smtClean="0"/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906815" y="1679171"/>
            <a:ext cx="8361229" cy="2997218"/>
          </a:xfrm>
        </p:spPr>
        <p:txBody>
          <a:bodyPr/>
          <a:lstStyle/>
          <a:p>
            <a:r>
              <a:rPr lang="ru-RU" sz="5400" dirty="0"/>
              <a:t>Беспроводные технологии передачи данных</a:t>
            </a:r>
            <a:endParaRPr lang="ru-RU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55467" y="2222208"/>
            <a:ext cx="9343505" cy="4170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 fontAlgn="base"/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Методы </a:t>
            </a:r>
            <a:r>
              <a:rPr lang="ru-RU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беспроводной технологии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wireless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передачи данных являются удобным, а иногда незаменимым средством связи. Беспроводные технологии различаются по типам сигнала, частоте (большая частота означает большую скорость передачи) и расстоянию передачи. Большое значение имеют помехи и стоимость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fontAlgn="base"/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fontAlgn="base"/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Можно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выделить три основных типа беспроводной технологии: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0225" lvl="1" indent="-285750" algn="just" fontAlgn="base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"/>
              <a:tabLst>
                <a:tab pos="914400" algn="l"/>
              </a:tabLst>
            </a:pPr>
            <a:r>
              <a:rPr lang="ru-RU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радиосвязь;</a:t>
            </a:r>
            <a:endParaRPr lang="ru-RU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0225" lvl="1" indent="-285750" algn="just" fontAlgn="base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"/>
              <a:tabLst>
                <a:tab pos="914400" algn="l"/>
              </a:tabLst>
            </a:pPr>
            <a:r>
              <a:rPr lang="ru-RU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связь в микроволновом диапазоне;</a:t>
            </a:r>
            <a:endParaRPr lang="ru-RU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00225" lvl="1" indent="-285750" algn="just" fontAlgn="base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"/>
              <a:tabLst>
                <a:tab pos="914400" algn="l"/>
              </a:tabLst>
            </a:pPr>
            <a:r>
              <a:rPr lang="ru-RU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инфракрасная связь.</a:t>
            </a:r>
            <a:endParaRPr lang="ru-RU" sz="20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3" name="Прямоугольник 2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Разновидности беспроводных технологий </a:t>
              </a:r>
              <a:endParaRPr lang="ru-RU" sz="5400" b="1" dirty="0"/>
            </a:p>
          </p:txBody>
        </p:sp>
        <p:cxnSp>
          <p:nvCxnSpPr>
            <p:cNvPr id="6" name="Прямая соединительная линия 5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313411" y="2482656"/>
            <a:ext cx="918556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 fontAlgn="base"/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Передача данных </a:t>
            </a:r>
            <a:r>
              <a:rPr lang="ru-RU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микроволновом диапазоне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icrowaves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использует высокие частоты и применяется как на коротких, так и на больших расстояниях. </a:t>
            </a:r>
            <a:endParaRPr lang="ru-RU" sz="24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fontAlgn="base"/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fontAlgn="base"/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Главное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ограничение заключается в том, чтобы передатчик и приемник были в зоне прямой видимости. Передача данных в микроволновом диапазоне при использовании спутников может быть очень дорогой.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3" name="Прямоугольник 2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Разновидности беспроводных технологий </a:t>
              </a:r>
              <a:endParaRPr lang="ru-RU" sz="5400" b="1" dirty="0"/>
            </a:p>
          </p:txBody>
        </p:sp>
        <p:cxnSp>
          <p:nvCxnSpPr>
            <p:cNvPr id="6" name="Прямая соединительная линия 5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341813" y="2185046"/>
            <a:ext cx="904424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 fontAlgn="base"/>
            <a:r>
              <a:rPr lang="ru-RU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Инфракрасные технологии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Infrared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transmission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), функционируют на очень высоких частотах, приближающихся к частотам видимого света. Они могут быть использованы для установления двусторонней или широковещательной передачи на близких расстояниях. </a:t>
            </a:r>
            <a:endParaRPr lang="ru-RU" sz="24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fontAlgn="base"/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fontAlgn="base"/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инфракрасной связи обычно используют светодиоды (LED – 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Light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Emitting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Diode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для передачи инфракрасных волн приемнику. Инфракрасная передача ограничена малым расстоянием в прямой зоне видимости и может быть использована в офисных зданиях.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Разновидности беспроводных технологий </a:t>
              </a:r>
              <a:endParaRPr lang="ru-RU" sz="5400" b="1" dirty="0"/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341813" y="2308089"/>
            <a:ext cx="904424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 fontAlgn="base"/>
            <a:r>
              <a:rPr lang="ru-RU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Технологии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радиосвязи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пересылают данные на радиочастотах и практически не имеют ограничений по дальности. Радиосвязь используется для соединения локальных сетей на больших географических расстояниях. </a:t>
            </a:r>
            <a:endParaRPr lang="ru-RU" sz="24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fontAlgn="base"/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fontAlgn="base"/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Радиопередача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целом имеет высокую стоимость и чувствительна к электронному и атмосферному наложению, а также подвержена перехватам, поэтому требует шифрования для обеспечения уровня безопасности.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Разновидности беспроводных технологий </a:t>
              </a:r>
              <a:endParaRPr lang="ru-RU" sz="5400" b="1" dirty="0"/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3253" y="2115357"/>
            <a:ext cx="9084889" cy="4516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Wi-Fi-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сети (WLAN-сети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относящиеся к разновидности радиосвязи,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имеют ряд </a:t>
            </a:r>
            <a:r>
              <a:rPr lang="ru-RU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перед обычными кабельными сетями: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1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WLAN-сеть можно очень быстро развернуть, что очень удобно при проведении презентаций или в условиях работы вне офиса;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1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мобильных устройств, при подключении к локальным беспроводным сетям, могут легко перемещаться в рамках действующих зон сети;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1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скорости современных сетей довольно высоки (до 300 Мб/с), что позволяет их использовать для очень широкого спектра задач;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1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помощью дополнительного оборудования беспроводная сеть может быть успешно соединена с кабельными сетями;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lvl="1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WLAN-сеть может оказаться единственным выходом, если невозможна прокладка кабеля для обычной сети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 </a:t>
              </a:r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сети </a:t>
              </a:r>
              <a:endParaRPr lang="ru-RU" sz="5400" b="1" dirty="0"/>
            </a:p>
          </p:txBody>
        </p:sp>
        <p:cxnSp>
          <p:nvCxnSpPr>
            <p:cNvPr id="6" name="Прямая соединительная линия 5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3253" y="2115357"/>
            <a:ext cx="908488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Несмотря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все достоинства, WLAN-сети обладают рядом </a:t>
            </a:r>
            <a:r>
              <a:rPr lang="ru-RU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недостатков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главный из которых – 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легкого перехвата данных и взлома сети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Дополнительно стоит отметить 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чувствительность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 электронному и атмосферному </a:t>
            </a: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наложению, что приводит к ошибкам в процессе передачи.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 </a:t>
              </a:r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сети </a:t>
              </a:r>
              <a:endParaRPr lang="ru-RU" sz="5400" b="1" dirty="0"/>
            </a:p>
          </p:txBody>
        </p:sp>
        <p:cxnSp>
          <p:nvCxnSpPr>
            <p:cNvPr id="6" name="Прямая соединительная линия 5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13411" y="1873280"/>
            <a:ext cx="985058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 fontAlgn="base"/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Беспроводные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сети должны удовлетворять некоторым требованиям, типичным для всех локальных сетей, в том числе: высокая пропускная способность, возможность охвата небольших расстояний, связность подключенных станций и возможность широковещания. </a:t>
            </a:r>
            <a:endParaRPr lang="ru-RU" sz="24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fontAlgn="base"/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fontAlgn="base"/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Кроме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того, существует набор требований, характерных только для беспроводных локальных сетей. </a:t>
            </a:r>
            <a:endParaRPr lang="ru-RU" sz="24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94561" y="4492092"/>
            <a:ext cx="896943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fontAlgn="base">
              <a:buFont typeface="+mj-lt"/>
              <a:buAutoNum type="arabicPeriod"/>
              <a:tabLst>
                <a:tab pos="228600" algn="l"/>
              </a:tabLst>
            </a:pPr>
            <a:r>
              <a:rPr lang="ru-RU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Производительность.</a:t>
            </a:r>
            <a:r>
              <a:rPr lang="ru-RU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Протокол управления доступом к среде должен максимально эффективно использовать беспроводную среду для максимизации пропускной способности.</a:t>
            </a:r>
            <a:endParaRPr lang="en-US" sz="2400" i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 fontAlgn="base">
              <a:buFont typeface="+mj-lt"/>
              <a:buAutoNum type="arabicPeriod"/>
              <a:tabLst>
                <a:tab pos="228600" algn="l"/>
              </a:tabLst>
            </a:pPr>
            <a:endParaRPr lang="ru-RU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 fontAlgn="base">
              <a:buFont typeface="+mj-lt"/>
              <a:buAutoNum type="arabicPeriod"/>
              <a:tabLst>
                <a:tab pos="228600" algn="l"/>
              </a:tabLst>
            </a:pPr>
            <a:r>
              <a:rPr lang="ru-RU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Число узлов. </a:t>
            </a:r>
            <a:r>
              <a:rPr lang="ru-RU" sz="24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От беспроводных локальных сетей может требоваться поддержка сотен узлов из множества ячеек</a:t>
            </a:r>
            <a:r>
              <a:rPr lang="ru-RU" sz="24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Требования к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 </a:t>
              </a:r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сетям </a:t>
              </a:r>
              <a:endParaRPr lang="ru-RU" sz="5400" b="1" dirty="0"/>
            </a:p>
          </p:txBody>
        </p:sp>
        <p:cxnSp>
          <p:nvCxnSpPr>
            <p:cNvPr id="8" name="Прямая соединительная линия 7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71105" y="2015293"/>
            <a:ext cx="10066713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tabLst>
                <a:tab pos="228600" algn="l"/>
              </a:tabLst>
            </a:pPr>
            <a:r>
              <a:rPr lang="ru-RU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ru-RU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Соединение 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 магистральной локальной сетью.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 большинстве случаев требуется взаимосвязь со станциями магистральной локальной сети.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 fontAlgn="base">
              <a:buFont typeface="+mj-lt"/>
              <a:buAutoNum type="arabicPeriod"/>
              <a:tabLst>
                <a:tab pos="228600" algn="l"/>
              </a:tabLst>
            </a:pPr>
            <a:endParaRPr lang="en-US" sz="2000" i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fontAlgn="base">
              <a:tabLst>
                <a:tab pos="228600" algn="l"/>
              </a:tabLst>
            </a:pPr>
            <a:r>
              <a:rPr lang="ru-RU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4. </a:t>
            </a:r>
            <a:r>
              <a:rPr lang="ru-RU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Обслуживаемая 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область.</a:t>
            </a:r>
            <a:r>
              <a:rPr lang="ru-RU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Типичная сфера охвата беспроводной локальной сети имеет диаметр 100–300 м</a:t>
            </a:r>
            <a:r>
              <a:rPr lang="ru-RU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fontAlgn="base">
              <a:tabLst>
                <a:tab pos="228600" algn="l"/>
              </a:tabLst>
            </a:pPr>
            <a:endParaRPr lang="ru-RU" sz="2000" i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 fontAlgn="base">
              <a:tabLst>
                <a:tab pos="228600" algn="l"/>
              </a:tabLst>
            </a:pPr>
            <a:r>
              <a:rPr lang="en-US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  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Устойчивость передачи и безопасность.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Беспроводные сети, если они разработаны неправильно, могут быть подвержены интерференции (наложение сигналов) и легко прослушиваться. Структура беспроводной локальной сети должна обеспечивать надежную передачу даже в обстановке шума, а также некоторый уровень зашиты от прослушивания.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 fontAlgn="base">
              <a:tabLst>
                <a:tab pos="228600" algn="l"/>
              </a:tabLst>
            </a:pPr>
            <a:endParaRPr lang="ru-RU" sz="2000" i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 fontAlgn="base">
              <a:tabLst>
                <a:tab pos="228600" algn="l"/>
              </a:tabLst>
            </a:pP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6. 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Совместная работа в сети.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 ростом популярности беспроводных сетей повысилась вероятность того, что две или более сетей будут работать в одной области или в нескольких областях, допускающих интерференцию разных локальных сетей. 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Требования к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 </a:t>
              </a:r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сетям </a:t>
              </a:r>
              <a:endParaRPr lang="ru-RU" sz="5400" b="1" dirty="0"/>
            </a:p>
          </p:txBody>
        </p:sp>
        <p:cxnSp>
          <p:nvCxnSpPr>
            <p:cNvPr id="8" name="Прямая соединительная линия 7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13411" y="2256363"/>
            <a:ext cx="973420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tabLst>
                <a:tab pos="228600" algn="l"/>
              </a:tabLst>
            </a:pPr>
            <a:r>
              <a:rPr lang="en-US" sz="20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Работа без лицензии.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Пользователи желали бы приобретать продукты рынка беспроводных локальных сетей и работать с ними на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нелицензируемой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полосе частот.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 fontAlgn="base">
              <a:tabLst>
                <a:tab pos="228600" algn="l"/>
              </a:tabLst>
            </a:pP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 fontAlgn="base">
              <a:tabLst>
                <a:tab pos="228600" algn="l"/>
              </a:tabLst>
            </a:pP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8. 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Переключение/роуминг.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Протокол MAC, используемый в беспроводных локальных сетях, должен позволять мобильным станциям перемещаться из одной ячейки в другую.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 fontAlgn="base">
              <a:tabLst>
                <a:tab pos="228600" algn="l"/>
              </a:tabLst>
            </a:pP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 fontAlgn="base">
              <a:tabLst>
                <a:tab pos="228600" algn="l"/>
              </a:tabLst>
            </a:pP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9. 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Динамическая конфигурация.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МАС-адресация и сетевое управление локальной сети должны обеспечивать динамическое и автоматическое добавление, удаление и передислокацию конечных систем, не причиняя неудобств другим пользователям.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Требования к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 </a:t>
              </a:r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сетям </a:t>
              </a:r>
              <a:endParaRPr lang="ru-RU" sz="5400" b="1" dirty="0"/>
            </a:p>
          </p:txBody>
        </p:sp>
        <p:cxnSp>
          <p:nvCxnSpPr>
            <p:cNvPr id="8" name="Прямая соединительная линия 7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13411" y="2208227"/>
            <a:ext cx="9642764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 fontAlgn="base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Существует несколько разновидностей </a:t>
            </a:r>
            <a:r>
              <a:rPr lang="ru-RU" sz="2400" i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W</a:t>
            </a:r>
            <a:r>
              <a:rPr lang="en-US" sz="2400" i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400" i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-Fi</a:t>
            </a:r>
            <a:r>
              <a:rPr lang="ru-RU" sz="2400" i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-сетей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которые различаются схемой организации сигнала, скоростями передачи данных, радиусом охвата сети, а также характеристиками радиопередатчиков  и  приемных   устройств,  параметрами  передачи   (шифрование, кодирование и т. д.), методами взаимодействия оборудования</a:t>
            </a: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 fontAlgn="base"/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 fontAlgn="base"/>
            <a:r>
              <a:rPr lang="ru-RU" sz="2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Каждой из таких сетей соответствует свой базовый стандарт.</a:t>
            </a:r>
            <a:endParaRPr lang="en-US" sz="24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 fontAlgn="base"/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540385" algn="just" fontAlgn="base"/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Также существуют дополнительные стандарты, которые как бы «уточняют» (расширяют) правила и возможности использования </a:t>
            </a:r>
            <a:r>
              <a:rPr lang="ru-RU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</a:t>
            </a:r>
            <a:r>
              <a:rPr lang="en-US" sz="24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-Fi</a:t>
            </a:r>
            <a:r>
              <a:rPr lang="ru-RU" sz="2400" i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-сетей</a:t>
            </a:r>
            <a:r>
              <a:rPr lang="en-US" sz="2000" i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Стандарты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 </a:t>
              </a:r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сетей </a:t>
              </a:r>
              <a:endParaRPr lang="ru-RU" sz="5400" b="1" dirty="0"/>
            </a:p>
          </p:txBody>
        </p:sp>
        <p:cxnSp>
          <p:nvCxnSpPr>
            <p:cNvPr id="9" name="Прямая соединительная линия 8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92876" y="2146513"/>
            <a:ext cx="9904616" cy="4093428"/>
          </a:xfrm>
          <a:prstGeom prst="rect">
            <a:avLst/>
          </a:prstGeom>
          <a:solidFill>
            <a:schemeClr val="bg2">
              <a:alpha val="49000"/>
            </a:schemeClr>
          </a:solidFill>
        </p:spPr>
        <p:txBody>
          <a:bodyPr wrap="square">
            <a:spAutoFit/>
          </a:bodyPr>
          <a:lstStyle/>
          <a:p>
            <a:pPr indent="450215" algn="just" fontAlgn="base">
              <a:spcAft>
                <a:spcPts val="0"/>
              </a:spcAft>
            </a:pP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Стандарт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802.11b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(частотный диапазон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ГГц)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основан на методе широкополосной модуляции с прямым расширением спектра (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Direct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Sequence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Spread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Spectrum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DSSS). Весь рабочий диапазон делится на 14 каналов, разнесенных на 25 МГц для исключения взаимных помех. Данные передаются по одному из этих каналов без переключения на другие. Возможно одновременное использование всего 3 каналов. Скорость передачи данных может автоматически меняться в зависимости от уровня помех и расстояния между передатчиком и приемником.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fontAlgn="base">
              <a:spcAft>
                <a:spcPts val="0"/>
              </a:spcAft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 fontAlgn="base">
              <a:spcAft>
                <a:spcPts val="0"/>
              </a:spcAft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Стандарт IEEE 802.11b реализует максимальную теоретическую скорость передачи 11 Мбит/с. Следует учитывать, что такая скорость возможна при передаче данных одним WLAN-устройством. Если в среде одновременно функционирует большее число абонентских станций, то полоса пропускания распределяется между всеми и скорость передачи данных на одного пользователя падает.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Стандарт </a:t>
              </a:r>
              <a:r>
                <a:rPr lang="en-US" sz="5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 802.11b</a:t>
              </a:r>
              <a:endParaRPr lang="ru-RU" sz="5400" b="1" dirty="0"/>
            </a:p>
          </p:txBody>
        </p:sp>
        <p:cxnSp>
          <p:nvCxnSpPr>
            <p:cNvPr id="9" name="Прямая соединительная линия 8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313410" y="2005369"/>
            <a:ext cx="9401695" cy="4708981"/>
          </a:xfrm>
          <a:prstGeom prst="rect">
            <a:avLst/>
          </a:prstGeom>
          <a:solidFill>
            <a:schemeClr val="bg2">
              <a:alpha val="49000"/>
            </a:schemeClr>
          </a:solidFill>
        </p:spPr>
        <p:txBody>
          <a:bodyPr wrap="square">
            <a:spAutoFit/>
          </a:bodyPr>
          <a:lstStyle/>
          <a:p>
            <a:pPr algn="just"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802.11a был принят в 1999 году, тем не менее нашел свое применение только с 2001 года. Данный стандарт используется, в основном, в США и Японии. В России и в Европе он не получил широкого распространения.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стандарте 802.11a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(частотный диапазон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ГГц) применяется схема модуляции сигнала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−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мультиплексирование с разделением по ортогональным частотам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Orthogonal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Division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Multiplexing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OFDM). Основной поток данных разделяется на несколько параллельных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субпотоков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относительно низкой скоростью передачи, и затем для их модуляции применяется соответствующее число несущих.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Стандартом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определены три обязательные скорости передачи данных (6, 12 и 24 Мбит/с) и пять дополнительных (9, 18, 24, 48 и 54 Мбит/с). Также имеется возможность одновременного использования двух каналов, что повышает скорость передачи данных в 2 раза.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Стандарт </a:t>
              </a:r>
              <a:r>
                <a:rPr lang="en-US" sz="5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802.11a</a:t>
              </a:r>
              <a:endParaRPr lang="ru-RU" sz="5400" b="1" dirty="0"/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313411" y="2113435"/>
            <a:ext cx="9443258" cy="4401205"/>
          </a:xfrm>
          <a:prstGeom prst="rect">
            <a:avLst/>
          </a:prstGeom>
          <a:solidFill>
            <a:schemeClr val="bg2">
              <a:alpha val="49000"/>
            </a:schemeClr>
          </a:solidFill>
        </p:spPr>
        <p:txBody>
          <a:bodyPr wrap="square">
            <a:spAutoFit/>
          </a:bodyPr>
          <a:lstStyle/>
          <a:p>
            <a:pPr algn="just"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802.11g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(Wi-Fi 3)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окончательно был утверждён в июне 2003г. Он является дальнейшим усовершенствованием спецификации IEEE 802.11b и реализует передачу данных в том же частотном диапазоне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(2,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ГГц).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Главным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преимуществом этого стандарта является повышенная пропускная способность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−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передачи данных в радиоканале достигает 54 Мбит/с по сравнению с 11 Мбит/с у 802.11b. Как и IEEE 802.11b, новая спецификация функционирует в диапазоне 2,4 ГГц, однако для повышения скорости используется та же схема модуляции сигнала, что и в 802.11a - ортогональное частотное мультиплексирование (OFDM).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802.11g совместим с 802.11b. Так адаптеры 802.11b могут работать в сетях 802.11g (но при этом не быстрее 11 Мбит/с), а адаптеры 802.11g могут снижать скорость передачи данных до 11 Мбит/с для работы в старых сетях 802.11b.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Стандарт </a:t>
              </a:r>
              <a:r>
                <a:rPr lang="en-US" sz="5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802.11g</a:t>
              </a:r>
              <a:endParaRPr lang="ru-RU" sz="5400" b="1" dirty="0"/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78848" y="2117419"/>
            <a:ext cx="9963844" cy="3416320"/>
          </a:xfrm>
          <a:prstGeom prst="rect">
            <a:avLst/>
          </a:prstGeom>
          <a:solidFill>
            <a:schemeClr val="bg2">
              <a:alpha val="49000"/>
            </a:schemeClr>
          </a:solidFill>
        </p:spPr>
        <p:txBody>
          <a:bodyPr wrap="square">
            <a:spAutoFit/>
          </a:bodyPr>
          <a:lstStyle/>
          <a:p>
            <a:pPr algn="just"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802.11n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(Wi-Fi 4)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был ратифицирован 11 сентября 2009. Он увеличивает скорость передачи данных практически в 4 раза по сравнению с устройствами стандартов 802.11g (максимальная скорость которых равна 54 Мбит/с), при условии использования в режиме 802.11n с другими устройствами 802.11n.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Максимальная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теоретическая скорость передачи данных составляет 600 Мбит/с, применяя передачу данных сразу по четырём антеннам. По одной антенне – до 150 Мбит/с</a:t>
            </a:r>
            <a:r>
              <a:rPr lang="ru-RU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Стандарт </a:t>
              </a:r>
              <a:r>
                <a:rPr lang="en-US" sz="5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802.11n</a:t>
              </a:r>
              <a:endParaRPr lang="ru-RU" sz="5400" b="1" dirty="0"/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78848" y="2017666"/>
            <a:ext cx="9963844" cy="4154984"/>
          </a:xfrm>
          <a:prstGeom prst="rect">
            <a:avLst/>
          </a:prstGeom>
          <a:solidFill>
            <a:schemeClr val="bg2">
              <a:alpha val="49000"/>
            </a:schemeClr>
          </a:solidFill>
        </p:spPr>
        <p:txBody>
          <a:bodyPr wrap="square">
            <a:spAutoFit/>
          </a:bodyPr>
          <a:lstStyle/>
          <a:p>
            <a:pPr algn="just" fontAlgn="base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802.11n функционируют в частотных диапазонах 2,4 – 2,5 или 5,0 ГГц.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основе стандарта IEEE 802.11n лежит технология OFDM-MIMO. Устройства, поддерживающие стандарт IEEE 802.11n, могут функционировать в частотном диапазоне либо 5, либо 2,4 ГГц, причем конкретная реализация зависит от страны.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скорости передачи в стандарте IEEE 802.11n достигается за счет: удвоения ширины канала с 20 до 40 МГц, а также вследствие реализации технологии MIMO.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Стандарт </a:t>
              </a:r>
              <a:r>
                <a:rPr lang="en-US" sz="5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802.11n</a:t>
              </a:r>
              <a:endParaRPr lang="ru-RU" sz="5400" b="1" dirty="0"/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68457" y="1841242"/>
            <a:ext cx="9963844" cy="5016758"/>
          </a:xfrm>
          <a:prstGeom prst="rect">
            <a:avLst/>
          </a:prstGeom>
          <a:solidFill>
            <a:schemeClr val="bg2">
              <a:alpha val="49000"/>
            </a:schemeClr>
          </a:solidFill>
        </p:spPr>
        <p:txBody>
          <a:bodyPr wrap="square">
            <a:spAutoFit/>
          </a:bodyPr>
          <a:lstStyle/>
          <a:p>
            <a:pPr algn="just" fontAlgn="base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802.11ac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5)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новый стандарт, который работает только в диапазоне 5 ГГц. Теоретическая скорость передачи данных до 6,9 Гбит/с (при наличии 8 антенн и в режиме MU-MIMO). Данный режим есть только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двухдиапазонных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маршрутизаторах, которые могут транслировать сеть в диапазоне 2.4 ГГц и 5 ГГц.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данной технологии используется узконаправленное излучение антенн, более широкие каналы, несколько антенн для передачи и приема данных, что позволяет достигать реального быстродействие до 1,3 Гбит/с и увеличить расстояние связи. Новый стандарт обеспечит также лучшее прохождение сигналов через стены домов, поэтому сеть на базе технологии 802.11ac надежно работает в пределах целого здания.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настоящее время он данный стандарт в основном работает с ограниченной скоростью передачи данных до 300 Мбит/с. Ожидается, что повышение быстродействия будет достигнуто в первую очередь благодаря тому, что устройства смогут работать не только с каналами шириной 20-40 МГц, но и 80-160 МГц, особенно в частотном диапазоне 5 ГГц.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Стандарт </a:t>
              </a:r>
              <a:r>
                <a:rPr lang="en-US" sz="5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802.11ac</a:t>
              </a:r>
              <a:endParaRPr lang="ru-RU" sz="5400" b="1" dirty="0"/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210021" y="2008141"/>
            <a:ext cx="9380394" cy="4708981"/>
          </a:xfrm>
          <a:prstGeom prst="rect">
            <a:avLst/>
          </a:prstGeom>
          <a:solidFill>
            <a:schemeClr val="bg2">
              <a:alpha val="49000"/>
            </a:schemeClr>
          </a:solidFill>
        </p:spPr>
        <p:txBody>
          <a:bodyPr wrap="square">
            <a:spAutoFit/>
          </a:bodyPr>
          <a:lstStyle/>
          <a:p>
            <a:pPr algn="just" fontAlgn="base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802.11ax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анонсирован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осенью 2019 года и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утвержден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2020 году).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отличается от предшественника —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— увеличенной почти в полтора раза скоростью передачи данных (9,6 против 6,9 Гбит/с). Однако реальный прирост скорости у конечных пользователей должен составить порядка 30-40%.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Кроме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того, новый стандарт предусматривает более совершенную систему шифрования WPA3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III) и способен обеспечивать более высокую стабильность работы в местах скопления устройств с поддержкой W-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работает в диапазонах частот 2,4 и 5 ГГц, что обеспечивает большую пропускную способность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другим возможностям технологии можно отнести технологи MU-MIMO, которая позволяет роутеру принимать и отправлять несколько сигналов одновременно.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Стандарт </a:t>
              </a:r>
              <a:r>
                <a:rPr lang="en-US" sz="5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802.11ax</a:t>
              </a:r>
              <a:endParaRPr lang="ru-RU" sz="5400" b="1" dirty="0"/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313411" y="2058017"/>
            <a:ext cx="9963844" cy="4696157"/>
          </a:xfrm>
          <a:prstGeom prst="rect">
            <a:avLst/>
          </a:prstGeom>
          <a:solidFill>
            <a:schemeClr val="bg2">
              <a:alpha val="49000"/>
            </a:schemeClr>
          </a:solidFill>
        </p:spPr>
        <p:txBody>
          <a:bodyPr wrap="square">
            <a:spAutoFit/>
          </a:bodyPr>
          <a:lstStyle/>
          <a:p>
            <a:pPr indent="457200" algn="just">
              <a:lnSpc>
                <a:spcPts val="2200"/>
              </a:lnSpc>
              <a:spcAft>
                <a:spcPts val="375"/>
              </a:spcAft>
            </a:pP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6E – это новейший стандарт беспроводных сетей, а по сути – это улучшенная версия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6, которую называют расширением стандарта. Главным отличием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дополнение к увеличенному числу каналов (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добавилось 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14 новых 80 МГц и 7 160 МГц каналов)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является то, что устройства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6E способны работать в диапазоне 6 ГГц.</a:t>
            </a:r>
            <a:endParaRPr lang="ru-RU" sz="2000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ts val="1600"/>
              </a:lnSpc>
              <a:spcAft>
                <a:spcPts val="375"/>
              </a:spcAft>
            </a:pPr>
            <a:endParaRPr lang="en-US" sz="1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ts val="2200"/>
              </a:lnSpc>
              <a:spcAft>
                <a:spcPts val="375"/>
              </a:spcAft>
            </a:pPr>
            <a:r>
              <a:rPr lang="ru-RU" sz="2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Особенности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нового стандарта:</a:t>
            </a:r>
            <a:endParaRPr lang="ru-RU" sz="2000" b="1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ts val="2200"/>
              </a:lnSpc>
              <a:spcBef>
                <a:spcPts val="300"/>
              </a:spcBef>
              <a:spcAft>
                <a:spcPts val="375"/>
              </a:spcAft>
              <a:buFont typeface="Times New Roman" panose="02020603050405020304" pitchFamily="18" charset="0"/>
              <a:buChar char="−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8x8 восходящих/нисходящих каналов MU-MIMO, OFDMA и BSS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Color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для обеспечения возможности обработки до четырехкратно большего количества устройств;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2200"/>
              </a:lnSpc>
              <a:spcBef>
                <a:spcPts val="300"/>
              </a:spcBef>
              <a:spcAft>
                <a:spcPts val="375"/>
              </a:spcAft>
              <a:buFont typeface="Times New Roman" panose="02020603050405020304" pitchFamily="18" charset="0"/>
              <a:buChar char="−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целевое время пробуждения (TWT) для повышения эффективности сети и времени автономной работы устройств, включая устройства Интернета вещей;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2200"/>
              </a:lnSpc>
              <a:spcBef>
                <a:spcPts val="300"/>
              </a:spcBef>
              <a:spcAft>
                <a:spcPts val="375"/>
              </a:spcAft>
              <a:buFont typeface="Times New Roman" panose="02020603050405020304" pitchFamily="18" charset="0"/>
              <a:buChar char="−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режим квадратурной амплитудной модуляции 1024 (1024-QAM), позволяющий увеличить пропускную способность для новых областей применения с интенсивным использованием полосы пропускания и передачей большего количества данных в том же объеме спектра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Стандарт </a:t>
              </a:r>
              <a:r>
                <a:rPr lang="en-US" sz="5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802.11ax</a:t>
              </a:r>
              <a:endParaRPr lang="ru-RU" sz="5400" b="1" dirty="0"/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18582" y="2207646"/>
            <a:ext cx="9963844" cy="2780248"/>
          </a:xfrm>
          <a:prstGeom prst="rect">
            <a:avLst/>
          </a:prstGeom>
          <a:solidFill>
            <a:schemeClr val="bg2">
              <a:alpha val="49000"/>
            </a:schemeClr>
          </a:solidFill>
        </p:spPr>
        <p:txBody>
          <a:bodyPr wrap="square">
            <a:spAutoFit/>
          </a:bodyPr>
          <a:lstStyle/>
          <a:p>
            <a:pPr indent="457200" algn="just">
              <a:spcAft>
                <a:spcPts val="375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качестве 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недостатка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6E 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можно выделить </a:t>
            </a:r>
            <a:r>
              <a:rPr lang="ru-RU" sz="2400" u="sng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 самую высокую дальность передачи сигнала и способность </a:t>
            </a:r>
            <a:r>
              <a:rPr lang="ru-RU" sz="2400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«проходить через препятствия»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>
              <a:spcAft>
                <a:spcPts val="375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>
              <a:spcAft>
                <a:spcPts val="375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Таким образом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работать «качественно» и с заявленными показателями связь будет лишь в зданиях с минимальным количеством перекрытий или вовсе на открытом пространстве. </a:t>
            </a:r>
            <a:endParaRPr lang="ru-RU" sz="2400" dirty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Стандарт </a:t>
              </a:r>
              <a:r>
                <a:rPr lang="en-US" sz="5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802.11ax</a:t>
              </a:r>
              <a:endParaRPr lang="ru-RU" sz="5400" b="1" dirty="0"/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341813" y="2107161"/>
          <a:ext cx="9664239" cy="43685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3818"/>
                <a:gridCol w="1665310"/>
                <a:gridCol w="6805111"/>
              </a:tblGrid>
              <a:tr h="1990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Частота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Комментарий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</a:tr>
              <a:tr h="6920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802.11a 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GHz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совместим с сетями b или g. Это один из самых старых стандартов, но сегодня он используется многими устройствами. Максимальная скорость передачи – 54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Mбит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/с, но обычно от 6 до 24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Mбит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/с.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</a:tr>
              <a:tr h="6920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802.11b 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 GHz 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Совместим с g сетями. В реальности, g была сделана обратно совместимой с b для поддержки большего количества устройств.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скорость передачи – 11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Mбит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/с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</a:tr>
              <a:tr h="6920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802.11g 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 GHz 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Самый популярный тип сети. Сочетание скорости и обратной совместимости делает его подходящим для современных сетей.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скорость передачи – 54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Mбит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/с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</a:tr>
              <a:tr h="58536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802.11n 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 и 5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GHz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теоретическая скорость передачи данных составляет 600 Мбит/с, применяя передачу данных сразу по четырём антеннам. По одной антенне – до 150 Мбит/с.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</a:tr>
            </a:tbl>
          </a:graphicData>
        </a:graphic>
      </p:graphicFrame>
      <p:grpSp>
        <p:nvGrpSpPr>
          <p:cNvPr id="6" name="Группа 5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Стандарты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802.11</a:t>
              </a:r>
              <a:endParaRPr lang="ru-RU" sz="5400" b="1" dirty="0"/>
            </a:p>
          </p:txBody>
        </p:sp>
        <p:cxnSp>
          <p:nvCxnSpPr>
            <p:cNvPr id="8" name="Прямая соединительная линия 7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341813" y="2265103"/>
          <a:ext cx="9755678" cy="38945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5113"/>
                <a:gridCol w="2523838"/>
                <a:gridCol w="6026727"/>
              </a:tblGrid>
              <a:tr h="1990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Частота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Комментарий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</a:tr>
              <a:tr h="6920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802.11ac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GHz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Стандарт 802.11ac обеспечивает обратную совместимость с 802.11b / g / n и скоростью до 1300 Мбит/с в полосе 5 ГГц, плюс до 450 Мбит / с на 2,4 ГГц. 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теоретическая скорость передачи данных – 6,9 Гбит/с (при наличии 8 антенн и в режиме MU-MIMO).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</a:tr>
              <a:tr h="69204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802.11aх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2.4 и 5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GHz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(до 6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GHz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для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6)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  <a:cs typeface="Times New Roman" panose="02020603050405020304" pitchFamily="18" charset="0"/>
                        </a:rPr>
                        <a:t>Для 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  <a:cs typeface="Times New Roman" panose="02020603050405020304" pitchFamily="18" charset="0"/>
                        </a:rPr>
                        <a:t>Wi</a:t>
                      </a:r>
                      <a:r>
                        <a:rPr lang="ru-RU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  <a:cs typeface="Times New Roman" panose="02020603050405020304" pitchFamily="18" charset="0"/>
                        </a:rPr>
                        <a:t>Fi 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  <a:cs typeface="Times New Roman" panose="02020603050405020304" pitchFamily="18" charset="0"/>
                        </a:rPr>
                        <a:t>6 у</a:t>
                      </a:r>
                      <a:r>
                        <a:rPr lang="ru-RU" sz="1800" dirty="0" err="1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  <a:cs typeface="Times New Roman" panose="02020603050405020304" pitchFamily="18" charset="0"/>
                        </a:rPr>
                        <a:t>величена</a:t>
                      </a:r>
                      <a:r>
                        <a:rPr lang="ru-RU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  <a:cs typeface="Times New Roman" panose="02020603050405020304" pitchFamily="18" charset="0"/>
                        </a:rPr>
                        <a:t> почти в полтора раза по сравнению с 802.11ac теоретическая скорость передачи данных (9,6 Гбит/с).</a:t>
                      </a:r>
                      <a:endParaRPr lang="ru-RU" sz="1600" dirty="0" smtClean="0">
                        <a:effectLst/>
                        <a:latin typeface="Calibri" panose="020F0502020204030204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</a:rPr>
                        <a:t>В случае с 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</a:rPr>
                        <a:t>Wi</a:t>
                      </a:r>
                      <a:r>
                        <a:rPr lang="ru-RU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</a:rPr>
                        <a:t>-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</a:rPr>
                        <a:t>Fi 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</a:rPr>
                        <a:t>6Е увеличение частоты с 5ГГц до 6 ГГц, а также увеличение числа каналов (добавилось </a:t>
                      </a:r>
                      <a:r>
                        <a:rPr lang="ru-RU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</a:rPr>
                        <a:t>14 новых 80 МГц и 7 160 МГц каналов)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</a:rPr>
                        <a:t> должно приводить к увеличению пропускной способности по сравнению с базовым 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</a:rPr>
                        <a:t>Wi</a:t>
                      </a:r>
                      <a:r>
                        <a:rPr lang="ru-RU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</a:rPr>
                        <a:t>-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</a:rPr>
                        <a:t>Fi 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charset="0"/>
                        </a:rPr>
                        <a:t>6.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25962" marR="25962" marT="25962" marB="25962" anchor="ctr"/>
                </a:tc>
              </a:tr>
            </a:tbl>
          </a:graphicData>
        </a:graphic>
      </p:graphicFrame>
      <p:grpSp>
        <p:nvGrpSpPr>
          <p:cNvPr id="4" name="Группа 3"/>
          <p:cNvGrpSpPr/>
          <p:nvPr/>
        </p:nvGrpSpPr>
        <p:grpSpPr>
          <a:xfrm>
            <a:off x="1313411" y="0"/>
            <a:ext cx="9010996" cy="1762298"/>
            <a:chOff x="1313411" y="0"/>
            <a:chExt cx="9010996" cy="1762298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1341813" y="0"/>
              <a:ext cx="8970815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Стандарты </a:t>
              </a:r>
              <a:r>
                <a:rPr lang="en-US" sz="5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802.11</a:t>
              </a:r>
              <a:endParaRPr lang="ru-RU" sz="5400" b="1" dirty="0"/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344618" y="2123658"/>
          <a:ext cx="9869252" cy="333006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917732"/>
                <a:gridCol w="795152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 стандарта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802.11h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Дополняет спецификации IEEE 802.11 алгоритмами эффективного выбора частот для офисных и уличных беспроводных сетей, а также средствами управления спектра</a:t>
                      </a: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802.11i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Предусматривает для стандартов IEEE 802.11 средства шифрования передаваемых данных, а также</a:t>
                      </a:r>
                      <a:endParaRPr lang="ru-RU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централизованной аутентификации пользователей и рабочих станций</a:t>
                      </a:r>
                      <a:endParaRPr lang="ru-RU" sz="18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802.11j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Данный стандарт оговаривает существование в одном диапазоне сетей стандартов 802.11a и HiperLAN2. Спецификация предназначена для Японии и расширяет стандарт 802.11а добавочным каналом 4,9 ГГц</a:t>
                      </a: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5" name="Группа 4"/>
          <p:cNvGrpSpPr/>
          <p:nvPr/>
        </p:nvGrpSpPr>
        <p:grpSpPr>
          <a:xfrm>
            <a:off x="1313411" y="0"/>
            <a:ext cx="9900458" cy="2123658"/>
            <a:chOff x="1313411" y="0"/>
            <a:chExt cx="9010996" cy="2123658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1341813" y="0"/>
              <a:ext cx="8970815" cy="21236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Дополнительные стандарты </a:t>
              </a:r>
              <a:r>
                <a:rPr lang="en-US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802.11</a:t>
              </a:r>
              <a:endParaRPr lang="ru-RU" sz="4400" b="1" dirty="0"/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344617" y="2123658"/>
          <a:ext cx="9856311" cy="303657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915218"/>
                <a:gridCol w="7941093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 стандарта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802.11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Стандарт определяет требования к физическим параметрам каналов (мощность излучения и диапазоны частот) и устройств беспроводных сетей с целью обеспечения их соответствия законодательным нормам различных стран</a:t>
                      </a: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802.11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 сохранении полной совместимости с используемыми стандартами 802.11а и b, позволяет расширить их функциональность за счет поддержки потоковых мультимедиа данных и гарантированного качества услуг (</a:t>
                      </a:r>
                      <a:r>
                        <a:rPr lang="ru-RU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QoS</a:t>
                      </a: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802.11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Данный стандарт определяет механизм взаимодействия точек связи между собой при перемещении клиента между сегментами сети</a:t>
                      </a: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5" name="Группа 4"/>
          <p:cNvGrpSpPr/>
          <p:nvPr/>
        </p:nvGrpSpPr>
        <p:grpSpPr>
          <a:xfrm>
            <a:off x="1322543" y="133004"/>
            <a:ext cx="9900458" cy="1886989"/>
            <a:chOff x="1313411" y="0"/>
            <a:chExt cx="9010996" cy="2123658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1341813" y="0"/>
              <a:ext cx="8970815" cy="21236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Дополнительные стандарты </a:t>
              </a:r>
              <a:r>
                <a:rPr lang="en-US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802.11</a:t>
              </a:r>
              <a:endParaRPr lang="ru-RU" sz="4400" b="1" dirty="0"/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https://www.tadviser.ru/images/thumb/8/8e/2821--8.jpg/840px-2821--8.jpg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884" y="2028825"/>
            <a:ext cx="9708459" cy="38480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Группа 5"/>
          <p:cNvGrpSpPr/>
          <p:nvPr/>
        </p:nvGrpSpPr>
        <p:grpSpPr>
          <a:xfrm>
            <a:off x="1322543" y="133004"/>
            <a:ext cx="9900458" cy="1565900"/>
            <a:chOff x="1313411" y="0"/>
            <a:chExt cx="9010996" cy="1762298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1341813" y="0"/>
              <a:ext cx="8970815" cy="16279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Обозначения </a:t>
              </a:r>
              <a:r>
                <a:rPr lang="en-US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</a:t>
              </a:r>
              <a:endParaRPr lang="ru-RU" sz="4400" b="1" dirty="0"/>
            </a:p>
          </p:txBody>
        </p:sp>
        <p:cxnSp>
          <p:nvCxnSpPr>
            <p:cNvPr id="8" name="Прямая соединительная линия 7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22543" y="2258827"/>
            <a:ext cx="9753600" cy="3577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Выделяют 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три режима организации беспроводных сетей </a:t>
            </a:r>
            <a:r>
              <a:rPr lang="ru-RU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Wi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ru-RU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Fi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fontAlgn="base">
              <a:spcAft>
                <a:spcPts val="0"/>
              </a:spcAf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80135" lvl="0" indent="-342900" fontAlgn="base">
              <a:lnSpc>
                <a:spcPct val="107000"/>
              </a:lnSpc>
              <a:spcAft>
                <a:spcPts val="0"/>
              </a:spcAft>
              <a:buSzPts val="1000"/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Эпизодическая сеть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(Ad-Hoc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или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IBSS – Independent Basic Service Set).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1080135" lvl="0" indent="-342900" fontAlgn="base">
              <a:lnSpc>
                <a:spcPct val="107000"/>
              </a:lnSpc>
              <a:spcAft>
                <a:spcPts val="0"/>
              </a:spcAft>
              <a:buSzPts val="1000"/>
              <a:buFont typeface="Wingdings" panose="05000000000000000000" pitchFamily="2" charset="2"/>
              <a:buChar char="Ø"/>
              <a:tabLst>
                <a:tab pos="685800" algn="l"/>
              </a:tabLst>
            </a:pPr>
            <a:endParaRPr lang="ru-RU" sz="2400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1080135" lvl="0" indent="-342900" fontAlgn="base">
              <a:lnSpc>
                <a:spcPct val="107000"/>
              </a:lnSpc>
              <a:spcAft>
                <a:spcPts val="0"/>
              </a:spcAft>
              <a:buSzPts val="1000"/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Основная зона обслуживания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Basic Service Set (BSS)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или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Infrastructure Mode.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1080135" lvl="0" indent="-342900" fontAlgn="base">
              <a:lnSpc>
                <a:spcPct val="107000"/>
              </a:lnSpc>
              <a:spcAft>
                <a:spcPts val="0"/>
              </a:spcAft>
              <a:buSzPts val="1000"/>
              <a:buFont typeface="Wingdings" panose="05000000000000000000" pitchFamily="2" charset="2"/>
              <a:buChar char="Ø"/>
              <a:tabLst>
                <a:tab pos="685800" algn="l"/>
              </a:tabLst>
            </a:pPr>
            <a:endParaRPr lang="ru-RU" sz="2400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1080135" lvl="0" indent="-342900" fontAlgn="base">
              <a:lnSpc>
                <a:spcPct val="107000"/>
              </a:lnSpc>
              <a:spcAft>
                <a:spcPts val="0"/>
              </a:spcAft>
              <a:buSzPts val="1000"/>
              <a:buFont typeface="Wingdings" panose="05000000000000000000" pitchFamily="2" charset="2"/>
              <a:buChar char="Ø"/>
              <a:tabLst>
                <a:tab pos="685800" algn="l"/>
              </a:tabLst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Расширенная зона обслуживания ESS –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Extended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Service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Set.</a:t>
            </a:r>
            <a:endParaRPr lang="ru-RU" sz="2400" dirty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1322543" y="133004"/>
            <a:ext cx="9900458" cy="1565900"/>
            <a:chOff x="1313411" y="0"/>
            <a:chExt cx="9010996" cy="1762298"/>
          </a:xfrm>
        </p:grpSpPr>
        <p:sp>
          <p:nvSpPr>
            <p:cNvPr id="9" name="Прямоугольник 8"/>
            <p:cNvSpPr/>
            <p:nvPr/>
          </p:nvSpPr>
          <p:spPr>
            <a:xfrm>
              <a:off x="1341813" y="0"/>
              <a:ext cx="8970815" cy="16279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</a:t>
              </a:r>
              <a:endParaRPr lang="en-US" sz="4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r>
                <a:rPr lang="ru-RU" sz="4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Режимы </a:t>
              </a:r>
              <a:r>
                <a:rPr lang="ru-RU" sz="4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организации</a:t>
              </a:r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</a:t>
              </a:r>
              <a:endParaRPr lang="ru-RU" sz="4400" b="1" dirty="0"/>
            </a:p>
          </p:txBody>
        </p:sp>
        <p:cxnSp>
          <p:nvCxnSpPr>
            <p:cNvPr id="10" name="Прямая соединительная линия 9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353750" y="3082773"/>
            <a:ext cx="503873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Режим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 </a:t>
            </a: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Ad-Hoc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 представляет собой простейшую структуру локальной сети, когда абонентские станции (ноутбуки или компьютеры) взаимодействуют непосредственно друг с другом. Такая структура удобна для срочного развертывания сетей.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 descr="Режим IBSS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124" y="3249028"/>
            <a:ext cx="3971925" cy="20611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Группа 6"/>
          <p:cNvGrpSpPr/>
          <p:nvPr/>
        </p:nvGrpSpPr>
        <p:grpSpPr>
          <a:xfrm>
            <a:off x="1322543" y="133004"/>
            <a:ext cx="9900458" cy="1565900"/>
            <a:chOff x="1313411" y="0"/>
            <a:chExt cx="9010996" cy="1762298"/>
          </a:xfrm>
        </p:grpSpPr>
        <p:sp>
          <p:nvSpPr>
            <p:cNvPr id="9" name="Прямоугольник 8"/>
            <p:cNvSpPr/>
            <p:nvPr/>
          </p:nvSpPr>
          <p:spPr>
            <a:xfrm>
              <a:off x="1341813" y="0"/>
              <a:ext cx="8970815" cy="16279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</a:t>
              </a:r>
              <a:endParaRPr lang="en-US" sz="4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r>
                <a:rPr lang="ru-RU" sz="4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Режимы </a:t>
              </a:r>
              <a:r>
                <a:rPr lang="ru-RU" sz="4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организации</a:t>
              </a:r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</a:t>
              </a:r>
              <a:endParaRPr lang="ru-RU" sz="4400" b="1" dirty="0"/>
            </a:p>
          </p:txBody>
        </p:sp>
        <p:cxnSp>
          <p:nvCxnSpPr>
            <p:cNvPr id="10" name="Прямая соединительная линия 9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Прямоугольник 3"/>
          <p:cNvSpPr/>
          <p:nvPr/>
        </p:nvSpPr>
        <p:spPr>
          <a:xfrm>
            <a:off x="1798573" y="2296683"/>
            <a:ext cx="43447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Эпизодическая сеть</a:t>
            </a:r>
            <a:r>
              <a:rPr lang="en-US" sz="2400" b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(</a:t>
            </a:r>
            <a:r>
              <a:rPr lang="en-US" sz="24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Ad-Hoc</a:t>
            </a:r>
            <a:r>
              <a:rPr lang="ru-RU" sz="24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)</a:t>
            </a:r>
            <a:r>
              <a:rPr lang="en-US" sz="24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</a:t>
            </a:r>
            <a:endParaRPr lang="ru-RU" sz="24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13559" y="2116375"/>
            <a:ext cx="6096000" cy="393992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7200" algn="just" fontAlgn="base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</a:pPr>
            <a:r>
              <a:rPr lang="ru-RU" sz="2400" b="1" u="sng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Режим</a:t>
            </a:r>
            <a:r>
              <a:rPr lang="en-US" sz="2400" b="1" u="sng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BSS (Basic Service Set)</a:t>
            </a:r>
            <a:endParaRPr lang="ru-RU" sz="2400" b="1" u="sng" dirty="0">
              <a:solidFill>
                <a:srgbClr val="2E74B5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 </a:t>
            </a:r>
            <a:endParaRPr lang="ru-RU" sz="2400" dirty="0"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indent="457200" algn="just" fontAlgn="base">
              <a:spcAft>
                <a:spcPts val="0"/>
              </a:spcAft>
            </a:pP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режиме BSS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узлы сети взаимодействуют друг с другом не напрямую, а через точку доступа (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AP).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режиме BSS все узлы взаимодействуют между собой через одну AP, которая может играть роль моста для подключения к внешней кабельной сети.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 descr="Режим BSS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493" y="2831530"/>
            <a:ext cx="3517931" cy="32247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Группа 6"/>
          <p:cNvGrpSpPr/>
          <p:nvPr/>
        </p:nvGrpSpPr>
        <p:grpSpPr>
          <a:xfrm>
            <a:off x="1322543" y="133004"/>
            <a:ext cx="9900458" cy="1565900"/>
            <a:chOff x="1313411" y="0"/>
            <a:chExt cx="9010996" cy="1762298"/>
          </a:xfrm>
        </p:grpSpPr>
        <p:sp>
          <p:nvSpPr>
            <p:cNvPr id="11" name="Прямоугольник 10"/>
            <p:cNvSpPr/>
            <p:nvPr/>
          </p:nvSpPr>
          <p:spPr>
            <a:xfrm>
              <a:off x="1341813" y="0"/>
              <a:ext cx="8970815" cy="16279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</a:t>
              </a:r>
              <a:endParaRPr lang="en-US" sz="4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r>
                <a:rPr lang="ru-RU" sz="4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Режимы </a:t>
              </a:r>
              <a:r>
                <a:rPr lang="ru-RU" sz="4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организации</a:t>
              </a:r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</a:t>
              </a:r>
              <a:endParaRPr lang="ru-RU" sz="4400" b="1" dirty="0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56247" y="2117529"/>
            <a:ext cx="55438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fontAlgn="base">
              <a:spcAft>
                <a:spcPts val="0"/>
              </a:spcAft>
            </a:pPr>
            <a:r>
              <a:rPr lang="ru-RU" sz="2400" b="1" u="sng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Режим</a:t>
            </a:r>
            <a:r>
              <a:rPr lang="en-US" sz="2400" b="1" u="sng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ESS (Extended Service Set)</a:t>
            </a:r>
            <a:endParaRPr lang="ru-RU" sz="2400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fontAlgn="base">
              <a:spcAft>
                <a:spcPts val="0"/>
              </a:spcAft>
            </a:pPr>
            <a:r>
              <a:rPr lang="en-US" sz="2400" dirty="0">
                <a:solidFill>
                  <a:srgbClr val="777777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 fontAlgn="base">
              <a:spcAft>
                <a:spcPts val="0"/>
              </a:spcAft>
            </a:pP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Режим ESS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позволяет объединить несколько точек доступа, т.е. объединяет несколько сетей BSS. В данном случае точки доступа могут взаимодействовать и друг с другом. Расширенный режим удобно применять тогда, когда необходимо объединить в одну сеть несколько пользователей или подключить несколько проводных или беспроводных сетей.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" name="Рисунок 9" descr="Режим ESS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190" y="2981370"/>
            <a:ext cx="4124325" cy="26636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Группа 11"/>
          <p:cNvGrpSpPr/>
          <p:nvPr/>
        </p:nvGrpSpPr>
        <p:grpSpPr>
          <a:xfrm>
            <a:off x="1322543" y="133004"/>
            <a:ext cx="9900458" cy="1565900"/>
            <a:chOff x="1313411" y="0"/>
            <a:chExt cx="9010996" cy="1762298"/>
          </a:xfrm>
        </p:grpSpPr>
        <p:sp>
          <p:nvSpPr>
            <p:cNvPr id="13" name="Прямоугольник 12"/>
            <p:cNvSpPr/>
            <p:nvPr/>
          </p:nvSpPr>
          <p:spPr>
            <a:xfrm>
              <a:off x="1341813" y="0"/>
              <a:ext cx="8970815" cy="16279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</a:t>
              </a:r>
              <a:endParaRPr lang="en-US" sz="4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r>
                <a:rPr lang="ru-RU" sz="4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Режимы </a:t>
              </a:r>
              <a:r>
                <a:rPr lang="ru-RU" sz="4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организации</a:t>
              </a:r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</a:t>
              </a:r>
              <a:endParaRPr lang="ru-RU" sz="4400" b="1" dirty="0"/>
            </a:p>
          </p:txBody>
        </p:sp>
        <p:cxnSp>
          <p:nvCxnSpPr>
            <p:cNvPr id="14" name="Прямая соединительная линия 13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70710" y="2318369"/>
            <a:ext cx="100393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организации 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сетей </a:t>
            </a:r>
            <a:r>
              <a:rPr lang="ru-RU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Wireless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Fidelity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беспроводное соответствие) необходимы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сетевые карты, точки доступа и антенны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в использовании точек доступа отпадает, когда мы говорим об очень малых сетях, размещенных в одном помещении. Использование точек доступа позволяет более гибко настроить сеть, объединить клиентов проводных и беспроводных сетей, а также установить связь с удаленными объектами (внешнее исполнение).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1322543" y="133004"/>
            <a:ext cx="9900458" cy="1565900"/>
            <a:chOff x="1313411" y="0"/>
            <a:chExt cx="9010996" cy="1762298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1341813" y="0"/>
              <a:ext cx="8970815" cy="16279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</a:t>
              </a:r>
              <a:endParaRPr lang="en-US" sz="4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r>
                <a:rPr lang="ru-RU" sz="4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Оборудование для сетей </a:t>
              </a:r>
              <a:r>
                <a:rPr lang="en-US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</a:t>
              </a:r>
              <a:endParaRPr lang="ru-RU" sz="4400" b="1" dirty="0"/>
            </a:p>
          </p:txBody>
        </p:sp>
        <p:cxnSp>
          <p:nvCxnSpPr>
            <p:cNvPr id="8" name="Прямая соединительная линия 7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22543" y="2216374"/>
            <a:ext cx="10115550" cy="3766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lnSpc>
                <a:spcPct val="107000"/>
              </a:lnSpc>
              <a:spcAft>
                <a:spcPts val="800"/>
              </a:spcAft>
            </a:pPr>
            <a:r>
              <a:rPr lang="ru-RU" sz="24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Wi-Fi</a:t>
            </a:r>
            <a:r>
              <a:rPr lang="ru-RU" sz="2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сетевые карты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по сути мало чем отличаются от обычных сетевых карт, за исключением некоторых особенностей настройки. 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Wi-Fi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сетевые карты представлены в трех основных вариантах исполнения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: </a:t>
            </a:r>
            <a:endParaRPr lang="ru-RU" sz="2400" dirty="0"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1080135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внутренние PCI-карты, </a:t>
            </a:r>
            <a:endParaRPr lang="ru-RU" sz="2400" i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1080135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CARDBUS,</a:t>
            </a:r>
            <a:endParaRPr lang="ru-RU" sz="2400" i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1080135" indent="-28575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USB-адаптеры. </a:t>
            </a:r>
            <a:endParaRPr lang="ru-RU" sz="2400" i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indent="323850" algn="just">
              <a:lnSpc>
                <a:spcPct val="107000"/>
              </a:lnSpc>
              <a:spcAft>
                <a:spcPts val="800"/>
              </a:spcAft>
            </a:pPr>
            <a:endParaRPr lang="ru-RU" sz="24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indent="323850"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Также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существуют адаптеры в COMPACT FLASH форм-факторе.</a:t>
            </a:r>
            <a:endParaRPr lang="ru-RU" dirty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1322543" y="133004"/>
            <a:ext cx="9900458" cy="1565900"/>
            <a:chOff x="1313411" y="0"/>
            <a:chExt cx="9010996" cy="1762298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1341813" y="0"/>
              <a:ext cx="8970815" cy="16279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</a:t>
              </a:r>
              <a:endParaRPr lang="en-US" sz="4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r>
                <a:rPr lang="ru-RU" sz="4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Оборудование для сетей </a:t>
              </a:r>
              <a:r>
                <a:rPr lang="en-US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</a:t>
              </a:r>
              <a:endParaRPr lang="ru-RU" sz="4400" b="1" dirty="0"/>
            </a:p>
          </p:txBody>
        </p:sp>
        <p:cxnSp>
          <p:nvCxnSpPr>
            <p:cNvPr id="8" name="Прямая соединительная линия 7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66800" y="2332920"/>
            <a:ext cx="10039350" cy="34588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Wi-Fi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точки доступа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 – 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устройства, позволяющие объединять клиентов сети (как проводной, так и беспроводной) в единую сеть. Другими словами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 – 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для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Wi-Fi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клиентов, точка доступа – это своеобразный </a:t>
            </a: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хаб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(концентратор). </a:t>
            </a:r>
            <a:endParaRPr lang="ru-RU" sz="24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indent="323850" algn="just">
              <a:lnSpc>
                <a:spcPct val="107000"/>
              </a:lnSpc>
              <a:spcAft>
                <a:spcPts val="800"/>
              </a:spcAft>
            </a:pP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indent="323850"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Wi-Fi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 точки доступа представлены в двух основных вариантах исполнения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charset="0"/>
              </a:rPr>
              <a:t> – 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для использования </a:t>
            </a:r>
            <a:r>
              <a:rPr lang="ru-RU" sz="24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внутри помещений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и для </a:t>
            </a:r>
            <a:r>
              <a:rPr lang="ru-RU" sz="24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внешнего использования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.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1322543" y="133004"/>
            <a:ext cx="9900458" cy="1565900"/>
            <a:chOff x="1313411" y="0"/>
            <a:chExt cx="9010996" cy="1762298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1341813" y="0"/>
              <a:ext cx="8970815" cy="16279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</a:t>
              </a:r>
              <a:endParaRPr lang="en-US" sz="4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r>
                <a:rPr lang="ru-RU" sz="4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Оборудование для сетей </a:t>
              </a:r>
              <a:r>
                <a:rPr lang="en-US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</a:t>
              </a:r>
              <a:endParaRPr lang="ru-RU" sz="4400" b="1" dirty="0"/>
            </a:p>
          </p:txBody>
        </p:sp>
        <p:cxnSp>
          <p:nvCxnSpPr>
            <p:cNvPr id="8" name="Прямая соединительная линия 7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22543" y="2034706"/>
            <a:ext cx="9633632" cy="4478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lnSpc>
                <a:spcPct val="107000"/>
              </a:lnSpc>
              <a:spcAft>
                <a:spcPts val="800"/>
              </a:spcAft>
            </a:pPr>
            <a:r>
              <a:rPr lang="ru-RU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Внутриофисные точки доступа</a:t>
            </a:r>
            <a:r>
              <a:rPr lang="ru-RU" sz="2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служат для объединения </a:t>
            </a:r>
            <a:r>
              <a:rPr lang="ru-RU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Wi-Fi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клиентов внутри помещений. Они оснащены функциями фильтров, создания виртуальных сетей и т. д. Но зачастую используются точки доступа с более широкими возможностями</a:t>
            </a:r>
            <a:r>
              <a:rPr lang="ru-RU" sz="22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 – 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WAN-порт, </a:t>
            </a:r>
            <a:r>
              <a:rPr lang="ru-RU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firewall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Ftp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-сервер и т.д. </a:t>
            </a: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indent="323850" algn="just">
              <a:lnSpc>
                <a:spcPct val="107000"/>
              </a:lnSpc>
              <a:spcAft>
                <a:spcPts val="800"/>
              </a:spcAft>
            </a:pPr>
            <a:endParaRPr lang="ru-RU" sz="2200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algn="just" defTabSz="360045"/>
            <a:r>
              <a:rPr lang="ru-RU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	Внешние </a:t>
            </a:r>
            <a:r>
              <a:rPr lang="ru-RU" sz="22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Wi-Fi</a:t>
            </a:r>
            <a:r>
              <a:rPr lang="ru-RU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точки доступа 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служат для объединения </a:t>
            </a:r>
            <a:r>
              <a:rPr lang="ru-RU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Wi-Fi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 клиентов вне помещений</a:t>
            </a:r>
            <a:r>
              <a:rPr lang="ru-RU" sz="2200" dirty="0">
                <a:latin typeface="Times New Roman" panose="02020603050405020304" pitchFamily="18" charset="0"/>
                <a:ea typeface="Calibri" panose="020F0502020204030204" charset="0"/>
              </a:rPr>
              <a:t>, 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имеют защищенное исполнение, более жесткие эксплуатационные характеристики и т.д. При применении нескольких внешних точек доступа можно соединить достаточно удаленные объекты. Внешние </a:t>
            </a:r>
            <a:r>
              <a:rPr lang="ru-RU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Wi-Fi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 точки доступа отличаются и большей излучаемой мощностью. Ко всем внешним точкам доступа можно подключить дополнительные антенны, что позволяет расширить зону покрытия </a:t>
            </a:r>
            <a:r>
              <a:rPr lang="ru-RU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Wi-Fi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 сети. </a:t>
            </a:r>
            <a:endParaRPr lang="ru-RU" sz="2200" dirty="0">
              <a:effectLst/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1322543" y="133004"/>
            <a:ext cx="9900458" cy="1565900"/>
            <a:chOff x="1313411" y="0"/>
            <a:chExt cx="9010996" cy="1762298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1341813" y="0"/>
              <a:ext cx="8970815" cy="16279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</a:t>
              </a:r>
              <a:endParaRPr lang="en-US" sz="4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r>
                <a:rPr lang="ru-RU" sz="4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Оборудование для сетей </a:t>
              </a:r>
              <a:r>
                <a:rPr lang="en-US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</a:t>
              </a:r>
              <a:endParaRPr lang="ru-RU" sz="4400" b="1" dirty="0"/>
            </a:p>
          </p:txBody>
        </p:sp>
        <p:cxnSp>
          <p:nvCxnSpPr>
            <p:cNvPr id="8" name="Прямая соединительная линия 7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246909" y="1987755"/>
            <a:ext cx="9459884" cy="3211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spcAft>
                <a:spcPts val="800"/>
              </a:spcAft>
            </a:pPr>
            <a:r>
              <a:rPr lang="ru-RU" sz="2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Внешние </a:t>
            </a:r>
            <a:r>
              <a:rPr lang="ru-RU" sz="2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Wi-Fi</a:t>
            </a:r>
            <a:r>
              <a:rPr lang="ru-RU" sz="2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антенны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служат для передачи и приема  сигнала, усиление которого в режиме передачи позволяет увеличить зону покрытия </a:t>
            </a:r>
            <a:r>
              <a:rPr lang="ru-RU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Wi-Fi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сетей. </a:t>
            </a:r>
            <a:endParaRPr lang="ru-RU" sz="2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indent="323850" algn="just">
              <a:spcAft>
                <a:spcPts val="800"/>
              </a:spcAft>
            </a:pPr>
            <a:endParaRPr lang="ru-RU" sz="2200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indent="323850" algn="just">
              <a:spcAft>
                <a:spcPts val="800"/>
              </a:spcAft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В основном распространены </a:t>
            </a:r>
            <a:r>
              <a:rPr lang="ru-RU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пассивные </a:t>
            </a:r>
            <a:r>
              <a:rPr lang="ru-RU" sz="22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антенны, </a:t>
            </a:r>
            <a:r>
              <a:rPr lang="ru-RU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которые подразделяются на:</a:t>
            </a:r>
            <a:r>
              <a:rPr lang="ru-RU" sz="22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 </a:t>
            </a:r>
            <a:endParaRPr lang="ru-RU" sz="2200" dirty="0" smtClean="0"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1080135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круговые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, или </a:t>
            </a:r>
            <a:r>
              <a:rPr lang="ru-RU" sz="2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всенаправленные;</a:t>
            </a:r>
            <a:endParaRPr lang="ru-RU" sz="2200" i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1080135" indent="-342900" algn="just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направленные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. </a:t>
            </a: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1322543" y="133004"/>
            <a:ext cx="9900458" cy="1565900"/>
            <a:chOff x="1313411" y="0"/>
            <a:chExt cx="9010996" cy="1762298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1341813" y="0"/>
              <a:ext cx="8970815" cy="16279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</a:t>
              </a:r>
              <a:endParaRPr lang="en-US" sz="4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r>
                <a:rPr lang="ru-RU" sz="4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Оборудование для сетей </a:t>
              </a:r>
              <a:r>
                <a:rPr lang="en-US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</a:t>
              </a:r>
              <a:endParaRPr lang="ru-RU" sz="4400" b="1" dirty="0"/>
            </a:p>
          </p:txBody>
        </p:sp>
        <p:cxnSp>
          <p:nvCxnSpPr>
            <p:cNvPr id="9" name="Прямая соединительная линия 8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Прямоугольник 3"/>
          <p:cNvSpPr/>
          <p:nvPr/>
        </p:nvSpPr>
        <p:spPr>
          <a:xfrm>
            <a:off x="1246909" y="5857348"/>
            <a:ext cx="94598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Основное различие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 – 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характер распространения волн антенной. </a:t>
            </a:r>
            <a:endParaRPr lang="ru-RU" sz="2400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flipV="1">
            <a:off x="1246909" y="5411585"/>
            <a:ext cx="9592887" cy="24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46508" y="2248914"/>
            <a:ext cx="9294277" cy="816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lnSpc>
                <a:spcPct val="107000"/>
              </a:lnSpc>
              <a:spcAft>
                <a:spcPts val="800"/>
              </a:spcAft>
            </a:pPr>
            <a:r>
              <a:rPr lang="ru-RU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Круговая </a:t>
            </a:r>
            <a:r>
              <a:rPr lang="ru-RU" sz="2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антенна 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излучает сигнал по кругу 360</a:t>
            </a:r>
            <a:r>
              <a:rPr lang="ru-RU" sz="22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º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</a:t>
            </a:r>
            <a:r>
              <a:rPr lang="ru-RU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(зона распространения в виде сферы).</a:t>
            </a:r>
            <a:endParaRPr lang="ru-RU" sz="2200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1322543" y="133004"/>
            <a:ext cx="9900458" cy="1565900"/>
            <a:chOff x="1313411" y="0"/>
            <a:chExt cx="9010996" cy="1762298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1341813" y="0"/>
              <a:ext cx="8970815" cy="16279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</a:t>
              </a:r>
              <a:endParaRPr lang="en-US" sz="4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r>
                <a:rPr lang="ru-RU" sz="4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Оборудование для сетей </a:t>
              </a:r>
              <a:r>
                <a:rPr lang="en-US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</a:t>
              </a:r>
              <a:endParaRPr lang="ru-RU" sz="4400" b="1" dirty="0"/>
            </a:p>
          </p:txBody>
        </p:sp>
        <p:cxnSp>
          <p:nvCxnSpPr>
            <p:cNvPr id="9" name="Прямая соединительная линия 8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Рисунок 9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538" y="3291493"/>
            <a:ext cx="3423285" cy="3284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059" y="1961024"/>
            <a:ext cx="3644265" cy="475541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Прямоугольник 2"/>
          <p:cNvSpPr/>
          <p:nvPr/>
        </p:nvSpPr>
        <p:spPr>
          <a:xfrm>
            <a:off x="1146508" y="2099285"/>
            <a:ext cx="6044001" cy="3038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lnSpc>
                <a:spcPct val="107000"/>
              </a:lnSpc>
              <a:spcAft>
                <a:spcPts val="800"/>
              </a:spcAft>
            </a:pPr>
            <a:r>
              <a:rPr lang="ru-RU" sz="2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Направленная антенна </a:t>
            </a:r>
            <a:r>
              <a:rPr lang="ru-RU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передает сигнал на </a:t>
            </a: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определенный сектор</a:t>
            </a:r>
            <a:r>
              <a:rPr lang="ru-RU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.</a:t>
            </a:r>
            <a:endParaRPr lang="ru-RU" sz="2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indent="323850" algn="just">
              <a:lnSpc>
                <a:spcPct val="107000"/>
              </a:lnSpc>
              <a:spcAft>
                <a:spcPts val="800"/>
              </a:spcAft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indent="323850" algn="just">
              <a:lnSpc>
                <a:spcPct val="107000"/>
              </a:lnSpc>
              <a:spcAft>
                <a:spcPts val="800"/>
              </a:spcAft>
            </a:pPr>
            <a:r>
              <a:rPr lang="ru-RU" sz="22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При этом выделяют два вида направленных антенн:</a:t>
            </a:r>
            <a:endParaRPr lang="ru-RU" sz="22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72009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С горизонтальным расширением спектра;</a:t>
            </a:r>
            <a:endParaRPr lang="ru-RU" sz="2200" i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marL="72009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2200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С вертикальными расширением спектра.</a:t>
            </a:r>
            <a:endParaRPr lang="ru-RU" sz="2200" i="1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1322543" y="133004"/>
            <a:ext cx="9900458" cy="1565900"/>
            <a:chOff x="1313411" y="0"/>
            <a:chExt cx="9010996" cy="1762298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1341813" y="0"/>
              <a:ext cx="8970815" cy="16279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</a:t>
              </a:r>
              <a:endParaRPr lang="en-US" sz="4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r>
                <a:rPr lang="ru-RU" sz="4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Оборудование для сетей </a:t>
              </a:r>
              <a:r>
                <a:rPr lang="en-US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</a:t>
              </a:r>
              <a:endParaRPr lang="ru-RU" sz="4400" b="1" dirty="0"/>
            </a:p>
          </p:txBody>
        </p:sp>
        <p:cxnSp>
          <p:nvCxnSpPr>
            <p:cNvPr id="9" name="Прямая соединительная линия 8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46508" y="2099285"/>
            <a:ext cx="9942670" cy="487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Wi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-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Fi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 антенны характеризуются </a:t>
            </a:r>
            <a:r>
              <a:rPr lang="ru-RU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четырьмя основными </a:t>
            </a:r>
            <a:r>
              <a:rPr lang="ru-RU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charset="0"/>
              </a:rPr>
              <a:t>параметрами:</a:t>
            </a:r>
            <a:endParaRPr lang="ru-RU" sz="2200" b="1" i="1" dirty="0">
              <a:latin typeface="Calibri" panose="020F0502020204030204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1322543" y="133004"/>
            <a:ext cx="9900458" cy="1565900"/>
            <a:chOff x="1313411" y="0"/>
            <a:chExt cx="9010996" cy="1762298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1341813" y="0"/>
              <a:ext cx="8970815" cy="16279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Беспроводные технологии. </a:t>
              </a:r>
              <a:endParaRPr lang="en-US" sz="4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r>
                <a:rPr lang="ru-RU" sz="4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Оборудование для сетей </a:t>
              </a:r>
              <a:r>
                <a:rPr lang="en-US" sz="44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Wi-Fi</a:t>
              </a:r>
              <a:endParaRPr lang="ru-RU" sz="4400" b="1" dirty="0"/>
            </a:p>
          </p:txBody>
        </p:sp>
        <p:cxnSp>
          <p:nvCxnSpPr>
            <p:cNvPr id="9" name="Прямая соединительная линия 8"/>
            <p:cNvCxnSpPr/>
            <p:nvPr/>
          </p:nvCxnSpPr>
          <p:spPr>
            <a:xfrm flipV="1">
              <a:off x="1313411" y="1753985"/>
              <a:ext cx="9010996" cy="8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Прямоугольник 1"/>
          <p:cNvSpPr/>
          <p:nvPr/>
        </p:nvSpPr>
        <p:spPr>
          <a:xfrm>
            <a:off x="2158538" y="2665812"/>
            <a:ext cx="8747760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tabLst>
                <a:tab pos="540385" algn="l"/>
              </a:tabLst>
            </a:pP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Поляризация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отражает специфику распространения радиоволн. Поляризация бывает горизонтальная (линейная) и вертикальная. При проектировании сети – это необходимо учитывать при подборе антенн, поляризация обязательно должна совпадать.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tabLst>
                <a:tab pos="540385" algn="l"/>
              </a:tabLst>
            </a:pP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HPBW по горизонтали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угол распространения вол по горизонтали. Для всех круговых антенн равен 360º. Для направленных </a:t>
            </a:r>
            <a:r>
              <a:rPr lang="ru-RU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антенн значительно меньше.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tabLst>
                <a:tab pos="540385" algn="l"/>
              </a:tabLst>
            </a:pP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HPBW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 вертикали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– 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угол распространения волн по вертикали. При малом угле возможно возникновение мертвых зон.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tabLst>
                <a:tab pos="540385" algn="l"/>
              </a:tabLst>
            </a:pP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Усиление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 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характеризует усиление сигнала. Чем больше данный параметр, тем на большем расстоянии можно установить связь с сетью.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2304F6EE495E644B112D58DFC38BAB9" ma:contentTypeVersion="2" ma:contentTypeDescription="Создание документа." ma:contentTypeScope="" ma:versionID="0a995be38319a96e3eb44e46942ee405">
  <xsd:schema xmlns:xsd="http://www.w3.org/2001/XMLSchema" xmlns:xs="http://www.w3.org/2001/XMLSchema" xmlns:p="http://schemas.microsoft.com/office/2006/metadata/properties" xmlns:ns2="59cfa341-3e59-4baf-87b0-4188bddce36b" targetNamespace="http://schemas.microsoft.com/office/2006/metadata/properties" ma:root="true" ma:fieldsID="1a735e130f1cb42b65ed5dd37b08db66" ns2:_="">
    <xsd:import namespace="59cfa341-3e59-4baf-87b0-4188bddce3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cfa341-3e59-4baf-87b0-4188bddce3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C9ECB4-7E17-4203-9839-6490BDF7324D}">
  <ds:schemaRefs/>
</ds:datastoreItem>
</file>

<file path=customXml/itemProps2.xml><?xml version="1.0" encoding="utf-8"?>
<ds:datastoreItem xmlns:ds="http://schemas.openxmlformats.org/officeDocument/2006/customXml" ds:itemID="{4B8CA00D-F5A7-4662-A26F-904E13A9007B}">
  <ds:schemaRefs/>
</ds:datastoreItem>
</file>

<file path=customXml/itemProps3.xml><?xml version="1.0" encoding="utf-8"?>
<ds:datastoreItem xmlns:ds="http://schemas.openxmlformats.org/officeDocument/2006/customXml" ds:itemID="{04C62FA2-D3A1-4FE0-AEE5-CA7072DCD50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0</TotalTime>
  <Words>20082</Words>
  <Application>WPS Presentation</Application>
  <PresentationFormat>Широкоэкранный</PresentationFormat>
  <Paragraphs>350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Arial</vt:lpstr>
      <vt:lpstr>SimSun</vt:lpstr>
      <vt:lpstr>Wingdings</vt:lpstr>
      <vt:lpstr>Franklin Gothic Book</vt:lpstr>
      <vt:lpstr>Times New Roman</vt:lpstr>
      <vt:lpstr>Symbol</vt:lpstr>
      <vt:lpstr>Microsoft YaHei</vt:lpstr>
      <vt:lpstr>Arial Unicode MS</vt:lpstr>
      <vt:lpstr>Calibri</vt:lpstr>
      <vt:lpstr>Crop</vt:lpstr>
      <vt:lpstr>Беспроводные технологии передачи данных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Беспроводные технологии передачи данных</dc:title>
  <dc:creator>Dmitri Romanenko</dc:creator>
  <cp:lastModifiedBy>Диана Подшивале�</cp:lastModifiedBy>
  <cp:revision>20</cp:revision>
  <dcterms:created xsi:type="dcterms:W3CDTF">2020-11-25T18:22:00Z</dcterms:created>
  <dcterms:modified xsi:type="dcterms:W3CDTF">2024-12-21T06:25:38Z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0x01010022304F6EE495E644B112D58DFC38BAB9</vt:lpwstr>
  </property>
  <property fmtid="{D5CDD505-2E9C-101B-9397-08002B2CF9AE}" pid="3" name="ICV">
    <vt:lpwstr>A74B9FFDA1324122989A5691EE5AFEE4_12</vt:lpwstr>
  </property>
  <property fmtid="{D5CDD505-2E9C-101B-9397-08002B2CF9AE}" pid="4" name="KSOProductBuildVer">
    <vt:lpwstr>1033-12.2.0.19307</vt:lpwstr>
  </property>
</Properties>
</file>
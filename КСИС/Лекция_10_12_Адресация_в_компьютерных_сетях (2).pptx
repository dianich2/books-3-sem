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01" r:id="rId4"/>
    <p:sldId id="302" r:id="rId5"/>
    <p:sldId id="258" r:id="rId6"/>
    <p:sldId id="303" r:id="rId7"/>
    <p:sldId id="304" r:id="rId8"/>
    <p:sldId id="305" r:id="rId9"/>
    <p:sldId id="306" r:id="rId10"/>
    <p:sldId id="307" r:id="rId11"/>
    <p:sldId id="308" r:id="rId12"/>
    <p:sldId id="300" r:id="rId13"/>
    <p:sldId id="259" r:id="rId14"/>
    <p:sldId id="309" r:id="rId15"/>
    <p:sldId id="310" r:id="rId16"/>
    <p:sldId id="260" r:id="rId17"/>
    <p:sldId id="261" r:id="rId18"/>
    <p:sldId id="312" r:id="rId19"/>
    <p:sldId id="262" r:id="rId20"/>
    <p:sldId id="311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13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85612B9-C9E7-4617-B9E3-89534843F9BA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5612B9-C9E7-4617-B9E3-89534843F9BA}" type="slidenum">
              <a:rPr lang="en-US" smtClean="0"/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5612B9-C9E7-4617-B9E3-89534843F9BA}" type="slidenum">
              <a:rPr lang="en-US" smtClean="0"/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5612B9-C9E7-4617-B9E3-89534843F9BA}" type="slidenum">
              <a:rPr lang="en-US" smtClean="0"/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612B9-C9E7-4617-B9E3-89534843F9B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21E219F-196B-4713-8DBE-1517158C2821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855A10F-F273-49B3-B333-802A62257AB8}" type="slidenum">
              <a:rPr lang="ru-RU" altLang="ru-RU"/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FB93621-998E-4802-ADF0-24FCD737003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85612B9-C9E7-4617-B9E3-89534843F9BA}" type="slidenum">
              <a:rPr lang="en-US" smtClean="0"/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vshu.kirov.ru/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35445" y="2537322"/>
            <a:ext cx="8361229" cy="2098226"/>
          </a:xfrm>
        </p:spPr>
        <p:txBody>
          <a:bodyPr/>
          <a:lstStyle/>
          <a:p>
            <a:r>
              <a:rPr lang="ru-RU" altLang="ru-RU" dirty="0" smtClean="0">
                <a:latin typeface="Arial" panose="020B0604020202020204" pitchFamily="34" charset="0"/>
              </a:rPr>
              <a:t>Адресация в компьютерных сетях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01824" y="4635548"/>
            <a:ext cx="6831673" cy="1086237"/>
          </a:xfrm>
        </p:spPr>
        <p:txBody>
          <a:bodyPr/>
          <a:lstStyle/>
          <a:p>
            <a:pPr algn="r"/>
            <a:r>
              <a:rPr lang="ru-RU" dirty="0" smtClean="0"/>
              <a:t>Лекция 10-12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Что такое IP-адрес компьютера и как его проверить?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724" y="2889091"/>
            <a:ext cx="4234407" cy="2269808"/>
          </a:xfrm>
          <a:prstGeom prst="rect">
            <a:avLst/>
          </a:prstGeom>
          <a:noFill/>
          <a:effectLst>
            <a:softEdge rad="254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485934"/>
            <a:ext cx="9601200" cy="1485900"/>
          </a:xfrm>
        </p:spPr>
        <p:txBody>
          <a:bodyPr/>
          <a:lstStyle/>
          <a:p>
            <a:r>
              <a:rPr lang="ru-RU" dirty="0" smtClean="0"/>
              <a:t>Типы адресов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71599" y="1618911"/>
            <a:ext cx="97144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компьютер в сетях TCP/IP имеет адреса трех уровней: физический (MAC-адрес), сетевой (IP-адрес) и символьный (DNS-имя).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AutoShape 2" descr="Как узнать свой IP-адрес: простые способы и онлайн-сервисы - Apelsin.Ne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2056" name="Picture 8" descr="DNS-записи домена: типы записей, как их добавить и проверит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895" y="3687286"/>
            <a:ext cx="3714750" cy="2943225"/>
          </a:xfrm>
          <a:prstGeom prst="rect">
            <a:avLst/>
          </a:prstGeom>
          <a:noFill/>
          <a:effectLst>
            <a:softEdge rad="203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AC -адрес [АйТи бубен]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9" r="7798"/>
          <a:stretch>
            <a:fillRect/>
          </a:stretch>
        </p:blipFill>
        <p:spPr bwMode="auto">
          <a:xfrm>
            <a:off x="1093901" y="3844711"/>
            <a:ext cx="3840480" cy="2667000"/>
          </a:xfrm>
          <a:prstGeom prst="rect">
            <a:avLst/>
          </a:prstGeom>
          <a:noFill/>
          <a:effectLst>
            <a:softEdge rad="152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ctrTitle"/>
          </p:nvPr>
        </p:nvSpPr>
        <p:spPr>
          <a:xfrm>
            <a:off x="2238375" y="2143126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ru-RU" sz="5400" b="1" i="1" u="sng" dirty="0" smtClean="0"/>
              <a:t>Mac-</a:t>
            </a:r>
            <a:r>
              <a:rPr lang="ru-RU" altLang="ru-RU" sz="5400" b="1" i="1" u="sng" dirty="0" smtClean="0"/>
              <a:t>адрес</a:t>
            </a:r>
            <a:endParaRPr lang="ru-RU" altLang="ru-RU" sz="54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1524001" y="24791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1524001" y="24791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11824" y="1496815"/>
            <a:ext cx="91117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стандартного выбран 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48-битный формат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адреса, что соответствует примерно 280 триллионам различных адресов.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тем, чтобы распределить возможные диапазоны адресов между многочисленными изготовителями сетевых адаптеров, была предложена следующая структура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адреса.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708732" y="417237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386" y="3997779"/>
            <a:ext cx="9010650" cy="2171700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815" y="1373645"/>
            <a:ext cx="9010650" cy="21717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1524001" y="24791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1524001" y="24791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708732" y="417237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08732" y="3780113"/>
            <a:ext cx="98414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Младшие 24 разряда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кода адреса называются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OUA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Organizationally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Unique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Address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sz="2400" b="1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уникальный 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адрес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Именно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их присваивает каждый из зарегистрированных производителей сетевых адаптеров. Всего возможно свыше 16 миллионов комбинаций, то есть каждый изготовитель может выпустить 16 миллионов сетевых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адаптеров.</a:t>
            </a:r>
            <a:endParaRPr lang="en-US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24220" y="2108300"/>
            <a:ext cx="3071060" cy="54345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983" y="1383477"/>
            <a:ext cx="9010650" cy="21717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1524001" y="24791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1524001" y="24791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708732" y="417237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08732" y="3780113"/>
            <a:ext cx="98414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Следующие 22 разряда кода называются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OUI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Organizationally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Unique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Identifier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уникальный идентификатор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IEEE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присваивает один или несколько OUI каждому производителю сетевых адаптеров. Это позволяет исключить совпадения адресов адаптеров от разных производителей. Всего возможно свыше 4 миллионов разных OUI, это означает, что теоретически может быть зарегистрировано 4 миллиона производителей.</a:t>
            </a:r>
            <a:endParaRPr lang="en-US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98700" y="2111574"/>
            <a:ext cx="3528260" cy="54345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966" y="1789877"/>
            <a:ext cx="9010650" cy="21717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1524001" y="28855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1524001" y="28855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708732" y="417237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616366" y="4592941"/>
            <a:ext cx="98414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Вместе OUA и OUI называются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UAA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Universally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Administered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Address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 – универсально управляемый адрес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или IEEE-адрес.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98700" y="2517974"/>
            <a:ext cx="6596580" cy="54345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265" y="2321843"/>
            <a:ext cx="9010650" cy="21717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1524001" y="281443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1524001" y="281443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856654" y="337621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616366" y="4592941"/>
            <a:ext cx="984148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Старший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бит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I/G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Individual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Group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указывает на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 адреса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1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Если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он установлен в 0, то индивидуальный, если в 1, то групповой (многопунктовый или функциональный). Пакеты с групповым адресом получат все имеющие этот групповой адрес сетевые адаптеры. Причем групповой адрес определяется 46-ю младшими разрядами.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98220" y="3040756"/>
            <a:ext cx="1313380" cy="54345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616366" y="1312793"/>
            <a:ext cx="98414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Два старших разряда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адреса управляющие, они определяют тип адреса, способ интерпретации остальных 46 разрядов.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598220" y="3058628"/>
            <a:ext cx="673300" cy="543459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2592298" y="3049692"/>
            <a:ext cx="673300" cy="543459"/>
          </a:xfrm>
          <a:prstGeom prst="rect">
            <a:avLst/>
          </a:prstGeom>
          <a:solidFill>
            <a:srgbClr val="FF0000">
              <a:alpha val="4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2" grpId="0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272" y="1794025"/>
            <a:ext cx="9010650" cy="21717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856654" y="337621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616366" y="4464000"/>
            <a:ext cx="98414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Второй управляющий бит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U/L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Universal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Local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называется флажком универсального/местного управления и определяет, как был присвоен адрес данному сетевому адаптеру. Обычно он установлен в 0. Установка бита U/L в 1 означает, что адрес задан не производителем сетевого адаптера, а организацией, использующей данную сеть.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177340" y="2519666"/>
            <a:ext cx="673300" cy="543459"/>
          </a:xfrm>
          <a:prstGeom prst="rect">
            <a:avLst/>
          </a:prstGeom>
          <a:solidFill>
            <a:srgbClr val="FF0000">
              <a:alpha val="4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856654" y="337621"/>
            <a:ext cx="9601200" cy="1485900"/>
          </a:xfrm>
        </p:spPr>
        <p:txBody>
          <a:bodyPr/>
          <a:lstStyle/>
          <a:p>
            <a:r>
              <a:rPr lang="ru-RU" dirty="0" smtClean="0"/>
              <a:t>Физический адрес (</a:t>
            </a:r>
            <a:r>
              <a:rPr lang="en-US" dirty="0" smtClean="0"/>
              <a:t>MAC-</a:t>
            </a:r>
            <a:r>
              <a:rPr lang="ru-RU" dirty="0" smtClean="0"/>
              <a:t>адрес)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616366" y="4464000"/>
            <a:ext cx="984148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широковещательной передачи (то есть передачи всем абонентам сети одновременно) применяется специально выделенный </a:t>
            </a:r>
            <a:r>
              <a:rPr lang="ru-RU" sz="2400" b="1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адрес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−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все 48 битов которого установлены в единицу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Его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принимают все абоненты сети независимо от их индивидуальных и групповых адресов.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862" y="1671022"/>
            <a:ext cx="8905875" cy="2257425"/>
          </a:xfrm>
          <a:prstGeom prst="rect">
            <a:avLst/>
          </a:prstGeom>
          <a:effectLst>
            <a:softEdge rad="190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ctrTitle"/>
          </p:nvPr>
        </p:nvSpPr>
        <p:spPr>
          <a:xfrm>
            <a:off x="2238375" y="2143126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ru-RU" sz="5400" b="1" i="1" u="sng" dirty="0" smtClean="0"/>
              <a:t>IP v4</a:t>
            </a:r>
            <a:endParaRPr lang="ru-RU" altLang="ru-RU" sz="54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30982"/>
            <a:ext cx="10972800" cy="1143000"/>
          </a:xfrm>
        </p:spPr>
        <p:txBody>
          <a:bodyPr/>
          <a:lstStyle/>
          <a:p>
            <a:pPr eaLnBrk="1" hangingPunct="1"/>
            <a:r>
              <a:rPr lang="ru-RU" altLang="ru-RU" b="1" i="1" dirty="0" smtClean="0"/>
              <a:t>Представление IP-адреса</a:t>
            </a:r>
            <a:endParaRPr lang="ru-RU" altLang="ru-RU" b="1" i="1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463040" y="1087904"/>
            <a:ext cx="96621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Адрес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представляет собой 32-разрядное двоичное число, разделенное на группы по 8 бит, называемые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октетами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63040" y="5290244"/>
            <a:ext cx="9662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172.16.123.1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действительный адрес, а 172.16.123.256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несуществующий адрес, поскольку 256 выходит за пределы допустимого диапазона: от 0 до 255.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2286767"/>
            <a:ext cx="9410700" cy="2638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15845" y="398130"/>
            <a:ext cx="10972800" cy="1143000"/>
          </a:xfrm>
        </p:spPr>
        <p:txBody>
          <a:bodyPr/>
          <a:lstStyle/>
          <a:p>
            <a:pPr eaLnBrk="1" hangingPunct="1"/>
            <a:r>
              <a:rPr lang="ru-RU" altLang="ru-RU" b="1" i="1" dirty="0" smtClean="0"/>
              <a:t>Представление IP-адреса</a:t>
            </a:r>
            <a:endParaRPr lang="ru-RU" altLang="ru-RU" b="1" i="1" dirty="0" smtClean="0"/>
          </a:p>
        </p:txBody>
      </p:sp>
      <p:graphicFrame>
        <p:nvGraphicFramePr>
          <p:cNvPr id="3099" name="Group 27"/>
          <p:cNvGraphicFramePr>
            <a:graphicFrameLocks noGrp="1"/>
          </p:cNvGraphicFramePr>
          <p:nvPr>
            <p:ph sz="half" idx="2"/>
          </p:nvPr>
        </p:nvGraphicFramePr>
        <p:xfrm>
          <a:off x="2399031" y="2513607"/>
          <a:ext cx="8002588" cy="968376"/>
        </p:xfrm>
        <a:graphic>
          <a:graphicData uri="http://schemas.openxmlformats.org/drawingml/2006/table">
            <a:tbl>
              <a:tblPr/>
              <a:tblGrid>
                <a:gridCol w="2667000"/>
                <a:gridCol w="2668588"/>
                <a:gridCol w="2667000"/>
              </a:tblGrid>
              <a:tr h="4841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172.16.123.1 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ID подсети 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ID хоста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172.16.0.0 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0.0.123.1 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691146" y="1421127"/>
            <a:ext cx="97732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 состоит из двух логических частей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номера подсети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подсети) и 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номера узла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хоста) в этой подсети.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691146" y="3743466"/>
            <a:ext cx="9773265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записать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подсети, в поле номера узла в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-адресе ставят нули. Чтобы записать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хоста, в поле номера подсети ставят нули. Например, если в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-адресе 172.16.123.1 первые два байта отводятся под номер подсети, остальные два байта – под номер узла, то номера записываются следующим образом: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ctr">
              <a:spcBef>
                <a:spcPts val="600"/>
              </a:spcBef>
              <a:spcAft>
                <a:spcPts val="60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ID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подсети 172.16.0.0;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ctr">
              <a:spcBef>
                <a:spcPts val="600"/>
              </a:spcBef>
              <a:spcAft>
                <a:spcPts val="60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ID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хоста 0.0.123.1.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15845" y="398130"/>
            <a:ext cx="10972800" cy="1143000"/>
          </a:xfrm>
        </p:spPr>
        <p:txBody>
          <a:bodyPr/>
          <a:lstStyle/>
          <a:p>
            <a:pPr eaLnBrk="1" hangingPunct="1"/>
            <a:r>
              <a:rPr lang="ru-RU" altLang="ru-RU" b="1" i="1" dirty="0" smtClean="0"/>
              <a:t>Представление IP-адреса</a:t>
            </a:r>
            <a:endParaRPr lang="ru-RU" altLang="ru-RU" b="1" i="1" dirty="0" smtClean="0"/>
          </a:p>
        </p:txBody>
      </p:sp>
      <p:sp>
        <p:nvSpPr>
          <p:cNvPr id="3" name="Прямоугольник 2"/>
          <p:cNvSpPr/>
          <p:nvPr/>
        </p:nvSpPr>
        <p:spPr>
          <a:xfrm>
            <a:off x="1484671" y="1616077"/>
            <a:ext cx="99010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числу разрядов, отводимых для представления номера узла (или номера подсети), можно определить общее количество узлов (или подсетей) по простому правилу: если число разрядов для представления номера узла равно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то общее  количество узлов равно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Два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узла вычитаются вследствие того, что адреса со всеми разрядами, равными нулям или единицам, являются особыми и используются в специальных целях.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84671" y="5258251"/>
            <a:ext cx="9901084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если под номер узла в некоторой подсети отводится два байта (16 бит), то общее количество узлов в такой подсети равно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ctr">
              <a:spcBef>
                <a:spcPts val="600"/>
              </a:spcBef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= 65534 узла.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84671" y="4935794"/>
            <a:ext cx="9901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01097" y="214983"/>
            <a:ext cx="8229600" cy="561975"/>
          </a:xfrm>
        </p:spPr>
        <p:txBody>
          <a:bodyPr>
            <a:noAutofit/>
          </a:bodyPr>
          <a:lstStyle/>
          <a:p>
            <a:r>
              <a:rPr lang="ru-RU" altLang="ru-RU" b="1" i="1" dirty="0"/>
              <a:t>Классы </a:t>
            </a:r>
            <a:r>
              <a:rPr lang="en-US" b="1" i="1" dirty="0"/>
              <a:t>IP</a:t>
            </a:r>
            <a:r>
              <a:rPr lang="ru-RU" b="1" i="1" dirty="0"/>
              <a:t>-адресов </a:t>
            </a:r>
            <a:r>
              <a:rPr lang="en-US" b="1" i="1" dirty="0"/>
              <a:t>(</a:t>
            </a:r>
            <a:r>
              <a:rPr lang="ru-RU" altLang="ru-RU" b="1" i="1" dirty="0"/>
              <a:t>сетей</a:t>
            </a:r>
            <a:r>
              <a:rPr lang="en-US" altLang="ru-RU" b="1" i="1" dirty="0"/>
              <a:t>)</a:t>
            </a:r>
            <a:endParaRPr lang="ru-RU" altLang="ru-RU" b="1" i="1" dirty="0"/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>
            <a:off x="1524000" y="915269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211" y="952500"/>
            <a:ext cx="7448550" cy="5905500"/>
          </a:xfrm>
          <a:prstGeom prst="rect">
            <a:avLst/>
          </a:prstGeom>
          <a:effectLst>
            <a:softEdge rad="165100"/>
          </a:effectLst>
        </p:spPr>
      </p:pic>
      <p:sp>
        <p:nvSpPr>
          <p:cNvPr id="3" name="Прямоугольник 2"/>
          <p:cNvSpPr/>
          <p:nvPr/>
        </p:nvSpPr>
        <p:spPr>
          <a:xfrm>
            <a:off x="1248698" y="1266354"/>
            <a:ext cx="28710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Существует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пять классов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-адресов: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0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/>
            <a:endParaRPr 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принадлежность к тому или иному классу отвечают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первые биты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206" y="598488"/>
            <a:ext cx="11031794" cy="14859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b="1" i="1" dirty="0"/>
              <a:t>Характеристики IP-адресов разных классов</a:t>
            </a:r>
            <a:endParaRPr lang="ru-RU" altLang="ru-RU" b="1" i="1" dirty="0"/>
          </a:p>
        </p:txBody>
      </p:sp>
      <p:graphicFrame>
        <p:nvGraphicFramePr>
          <p:cNvPr id="1638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371600" y="2373621"/>
          <a:ext cx="9961195" cy="34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Document" r:id="rId1" imgW="6050280" imgH="2084705" progId="Word.Document.8">
                  <p:embed/>
                </p:oleObj>
              </mc:Choice>
              <mc:Fallback>
                <p:oleObj name="Document" r:id="rId1" imgW="6050280" imgH="208470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373621"/>
                        <a:ext cx="9961195" cy="34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Line 6"/>
          <p:cNvSpPr>
            <a:spLocks noChangeShapeType="1"/>
          </p:cNvSpPr>
          <p:nvPr/>
        </p:nvSpPr>
        <p:spPr bwMode="auto">
          <a:xfrm>
            <a:off x="1524000" y="134143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243348"/>
            <a:ext cx="9601200" cy="1485900"/>
          </a:xfrm>
        </p:spPr>
        <p:txBody>
          <a:bodyPr>
            <a:normAutofit/>
          </a:bodyPr>
          <a:lstStyle/>
          <a:p>
            <a:r>
              <a:rPr lang="ru-RU" b="1" i="1" dirty="0"/>
              <a:t>Проблема классов </a:t>
            </a:r>
            <a:r>
              <a:rPr lang="en-US" b="1" i="1" dirty="0"/>
              <a:t>IP-</a:t>
            </a:r>
            <a:r>
              <a:rPr lang="ru-RU" b="1" i="1" dirty="0"/>
              <a:t>адресов</a:t>
            </a:r>
            <a:endParaRPr lang="en-US" b="1" i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89703" y="3609284"/>
            <a:ext cx="1015672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0"/>
              </a:spcAf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Существует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два основных способа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решения этой проблемы: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  <a:tabLst>
                <a:tab pos="540385" algn="l"/>
              </a:tabLs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более эффективная схема деления на подсети с использованием масок (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RFC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950);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"/>
              <a:tabLst>
                <a:tab pos="540385" algn="l"/>
              </a:tabLs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протокола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версии 6 (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6).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>
              <a:spcAft>
                <a:spcPts val="0"/>
              </a:spcAft>
            </a:pPr>
            <a:endParaRPr lang="ru-RU" sz="22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89703" y="1271434"/>
            <a:ext cx="1026487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spcAft>
                <a:spcPts val="0"/>
              </a:spcAft>
            </a:pP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классов удовлетворительно решало задачу деления на подсети в начале развития Интернета. В 90-е годы с увеличением числа подсетей стал ощущаться дефицит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-адресов. Это связано с неэффективностью распределения при классовой схеме адресации. Например, если организации требуется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тысяча </a:t>
            </a: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-адресов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ей выделяется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сеть класса В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при этом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64534 адреса не будут использоваться.</a:t>
            </a:r>
            <a:endParaRPr lang="en-US" sz="2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288026" y="5398901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48"/>
                <a:gridCol w="95180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7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 настоящее время использовать принцип классов для определения идентификаторов сети и хоста можно и нужно только в случае отсутствия маски подсети.</a:t>
                      </a:r>
                      <a:endParaRPr lang="en-US" sz="2200" b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7" name="Прямая соединительная линия 6"/>
          <p:cNvCxnSpPr/>
          <p:nvPr/>
        </p:nvCxnSpPr>
        <p:spPr>
          <a:xfrm flipV="1">
            <a:off x="1288026" y="3492356"/>
            <a:ext cx="10058400" cy="27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1288026" y="5188421"/>
            <a:ext cx="10058400" cy="27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97507"/>
            <a:ext cx="8229600" cy="1143000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Использование масок </a:t>
            </a:r>
            <a:endParaRPr lang="ru-RU" altLang="ru-RU" b="1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6529" y="4005284"/>
            <a:ext cx="9909675" cy="2287362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 00000000. 00000000. 00000000  (255.0.0.0);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u-RU" altLang="ru-RU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В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 11111111. 00000000. 00000000 (255.255.0.0);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u-RU" altLang="ru-RU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ru-RU" alt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С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 11111111. 11111111. 00000000 (255.255.255.0)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2" name="Line 4"/>
          <p:cNvSpPr>
            <a:spLocks noChangeShapeType="1"/>
          </p:cNvSpPr>
          <p:nvPr/>
        </p:nvSpPr>
        <p:spPr bwMode="auto">
          <a:xfrm>
            <a:off x="1524000" y="1180331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682902" y="1659088"/>
            <a:ext cx="97520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Маска подсети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subnet mask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число, которое используется в паре с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-адресом; двоичная запись маски содержит единицы в тех разрядах, которые должны в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-адресе интерпретироваться как номер сети.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стандартных классов сетей маски имеют следующие значения: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23651"/>
            <a:ext cx="8229600" cy="1143000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Формы записи маски </a:t>
            </a:r>
            <a:endParaRPr lang="ru-RU" altLang="ru-RU" b="1" i="1" dirty="0"/>
          </a:p>
        </p:txBody>
      </p:sp>
      <p:graphicFrame>
        <p:nvGraphicFramePr>
          <p:cNvPr id="9255" name="Group 39"/>
          <p:cNvGraphicFramePr>
            <a:graphicFrameLocks noGrp="1"/>
          </p:cNvGraphicFramePr>
          <p:nvPr>
            <p:ph sz="quarter" idx="2"/>
          </p:nvPr>
        </p:nvGraphicFramePr>
        <p:xfrm>
          <a:off x="2301466" y="3689054"/>
          <a:ext cx="8070850" cy="914272"/>
        </p:xfrm>
        <a:graphic>
          <a:graphicData uri="http://schemas.openxmlformats.org/drawingml/2006/table">
            <a:tbl>
              <a:tblPr/>
              <a:tblGrid>
                <a:gridCol w="4035425"/>
                <a:gridCol w="4035425"/>
              </a:tblGrid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sz="2400" dirty="0" smtClean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</a:t>
                      </a: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sz="2400" dirty="0" smtClean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192.168.1.1/24</a:t>
                      </a: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9254" name="Group 38"/>
          <p:cNvGraphicFramePr>
            <a:graphicFrameLocks noGrp="1"/>
          </p:cNvGraphicFramePr>
          <p:nvPr>
            <p:ph sz="quarter" idx="3"/>
          </p:nvPr>
        </p:nvGraphicFramePr>
        <p:xfrm>
          <a:off x="2135188" y="5734050"/>
          <a:ext cx="8075612" cy="914272"/>
        </p:xfrm>
        <a:graphic>
          <a:graphicData uri="http://schemas.openxmlformats.org/drawingml/2006/table">
            <a:tbl>
              <a:tblPr/>
              <a:tblGrid>
                <a:gridCol w="2692400"/>
                <a:gridCol w="2690812"/>
                <a:gridCol w="2692400"/>
              </a:tblGrid>
              <a:tr h="39608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sz="2400" dirty="0" smtClean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</a:t>
                      </a: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подсети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хоста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8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192.168.1.0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0.0.0.1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22" name="Line 4"/>
          <p:cNvSpPr>
            <a:spLocks noChangeShapeType="1"/>
          </p:cNvSpPr>
          <p:nvPr/>
        </p:nvSpPr>
        <p:spPr bwMode="auto">
          <a:xfrm>
            <a:off x="1524000" y="14064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1524000" y="1661430"/>
            <a:ext cx="96257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Маска подсети записывается либо в виде, аналогичном записи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-адреса, например 255.255.255.0, либо совместно с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-адресом с помощью указания числа единичных разрядов в записи маски, например 192.168.1.1/24, т. е. в маске содержится 24 единицы (255.255.255.0).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24000" y="5085744"/>
            <a:ext cx="8192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/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таком случае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подсети и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хоста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будут следующими.</a:t>
            </a:r>
            <a:endParaRPr lang="en-US" sz="24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524000" y="4837471"/>
            <a:ext cx="9625782" cy="29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88641"/>
            <a:ext cx="10668000" cy="1143000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Проверка корректности маски </a:t>
            </a:r>
            <a:endParaRPr lang="ru-RU" altLang="ru-RU" b="1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0"/>
            <a:ext cx="8291513" cy="1396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</a:t>
            </a:r>
            <a:r>
              <a:rPr lang="ru-RU" alt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правила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Маска в двоичном виде начинается с 1.</a:t>
            </a:r>
            <a:endParaRPr lang="ru-RU" alt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единиц в двоичном виде непрерывна.</a:t>
            </a:r>
            <a:endParaRPr lang="ru-RU" alt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2" name="Line 4"/>
          <p:cNvSpPr>
            <a:spLocks noChangeShapeType="1"/>
          </p:cNvSpPr>
          <p:nvPr/>
        </p:nvSpPr>
        <p:spPr bwMode="auto">
          <a:xfrm>
            <a:off x="1524000" y="134076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226" y="3284984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255.128.0.0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19737" y="3299285"/>
            <a:ext cx="22994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корректная маска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2063552" y="2996952"/>
            <a:ext cx="7776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Группа 35"/>
          <p:cNvGrpSpPr/>
          <p:nvPr/>
        </p:nvGrpSpPr>
        <p:grpSpPr>
          <a:xfrm>
            <a:off x="1981200" y="3668618"/>
            <a:ext cx="5616624" cy="633771"/>
            <a:chOff x="457200" y="3668617"/>
            <a:chExt cx="5616624" cy="633771"/>
          </a:xfrm>
        </p:grpSpPr>
        <p:sp>
          <p:nvSpPr>
            <p:cNvPr id="16" name="TextBox 15"/>
            <p:cNvSpPr txBox="1"/>
            <p:nvPr/>
          </p:nvSpPr>
          <p:spPr>
            <a:xfrm>
              <a:off x="457200" y="3933056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11111111.10000000.00000000.00000000</a:t>
              </a:r>
              <a:endPara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Прямая со стрелкой 20"/>
            <p:cNvCxnSpPr/>
            <p:nvPr/>
          </p:nvCxnSpPr>
          <p:spPr>
            <a:xfrm flipV="1">
              <a:off x="1475656" y="3668617"/>
              <a:ext cx="0" cy="1924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2307614" y="4590419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255.0.255.0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3819782" y="4604720"/>
            <a:ext cx="2594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корректная маска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" name="Группа 36"/>
          <p:cNvGrpSpPr/>
          <p:nvPr/>
        </p:nvGrpSpPr>
        <p:grpSpPr>
          <a:xfrm>
            <a:off x="2081246" y="4974053"/>
            <a:ext cx="5616624" cy="633771"/>
            <a:chOff x="557246" y="4974052"/>
            <a:chExt cx="5616624" cy="633771"/>
          </a:xfrm>
        </p:grpSpPr>
        <p:sp>
          <p:nvSpPr>
            <p:cNvPr id="29" name="TextBox 28"/>
            <p:cNvSpPr txBox="1"/>
            <p:nvPr/>
          </p:nvSpPr>
          <p:spPr>
            <a:xfrm>
              <a:off x="557246" y="5238491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11111111.00000000.11111111.00000000</a:t>
              </a:r>
              <a:endPara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Прямая со стрелкой 29"/>
            <p:cNvCxnSpPr/>
            <p:nvPr/>
          </p:nvCxnSpPr>
          <p:spPr>
            <a:xfrm flipV="1">
              <a:off x="1575702" y="4974052"/>
              <a:ext cx="0" cy="1924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Группа 34"/>
          <p:cNvGrpSpPr/>
          <p:nvPr/>
        </p:nvGrpSpPr>
        <p:grpSpPr>
          <a:xfrm>
            <a:off x="2410500" y="4640725"/>
            <a:ext cx="1162472" cy="297323"/>
            <a:chOff x="6073824" y="4869160"/>
            <a:chExt cx="1162472" cy="297323"/>
          </a:xfrm>
        </p:grpSpPr>
        <p:cxnSp>
          <p:nvCxnSpPr>
            <p:cNvPr id="23" name="Прямая соединительная линия 22"/>
            <p:cNvCxnSpPr/>
            <p:nvPr/>
          </p:nvCxnSpPr>
          <p:spPr>
            <a:xfrm flipV="1">
              <a:off x="6073824" y="4869161"/>
              <a:ext cx="1162472" cy="2973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/>
            <p:nvPr/>
          </p:nvCxnSpPr>
          <p:spPr>
            <a:xfrm flipH="1" flipV="1">
              <a:off x="6073824" y="4869160"/>
              <a:ext cx="1162472" cy="2973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Прямая соединительная линия 40"/>
          <p:cNvCxnSpPr/>
          <p:nvPr/>
        </p:nvCxnSpPr>
        <p:spPr>
          <a:xfrm>
            <a:off x="2129305" y="4437112"/>
            <a:ext cx="7776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>
            <a:off x="2137058" y="5733256"/>
            <a:ext cx="7776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24098" y="5833483"/>
            <a:ext cx="17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255.254.128.0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3875594" y="5847784"/>
            <a:ext cx="2594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корректная маска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Группа 37"/>
          <p:cNvGrpSpPr/>
          <p:nvPr/>
        </p:nvGrpSpPr>
        <p:grpSpPr>
          <a:xfrm>
            <a:off x="2137058" y="6217117"/>
            <a:ext cx="5616624" cy="633771"/>
            <a:chOff x="613058" y="6217116"/>
            <a:chExt cx="5616624" cy="633771"/>
          </a:xfrm>
        </p:grpSpPr>
        <p:sp>
          <p:nvSpPr>
            <p:cNvPr id="45" name="TextBox 44"/>
            <p:cNvSpPr txBox="1"/>
            <p:nvPr/>
          </p:nvSpPr>
          <p:spPr>
            <a:xfrm>
              <a:off x="613058" y="6481555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11111111.11111110.10000000.00000000</a:t>
              </a:r>
              <a:endPara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Прямая со стрелкой 45"/>
            <p:cNvCxnSpPr/>
            <p:nvPr/>
          </p:nvCxnSpPr>
          <p:spPr>
            <a:xfrm flipV="1">
              <a:off x="1631514" y="6217116"/>
              <a:ext cx="0" cy="1924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Группа 46"/>
          <p:cNvGrpSpPr/>
          <p:nvPr/>
        </p:nvGrpSpPr>
        <p:grpSpPr>
          <a:xfrm>
            <a:off x="2535137" y="5883789"/>
            <a:ext cx="1162472" cy="297323"/>
            <a:chOff x="6073824" y="4869160"/>
            <a:chExt cx="1162472" cy="297323"/>
          </a:xfrm>
        </p:grpSpPr>
        <p:cxnSp>
          <p:nvCxnSpPr>
            <p:cNvPr id="48" name="Прямая соединительная линия 47"/>
            <p:cNvCxnSpPr/>
            <p:nvPr/>
          </p:nvCxnSpPr>
          <p:spPr>
            <a:xfrm flipV="1">
              <a:off x="6073824" y="4869161"/>
              <a:ext cx="1162472" cy="2973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/>
            <p:cNvCxnSpPr/>
            <p:nvPr/>
          </p:nvCxnSpPr>
          <p:spPr>
            <a:xfrm flipH="1" flipV="1">
              <a:off x="6073824" y="4869160"/>
              <a:ext cx="1162472" cy="2973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5" grpId="0"/>
      <p:bldP spid="6" grpId="0"/>
      <p:bldP spid="27" grpId="0"/>
      <p:bldP spid="28" grpId="0"/>
      <p:bldP spid="43" grpId="0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27485"/>
            <a:ext cx="10668000" cy="1143000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Проверка корректности маски </a:t>
            </a:r>
            <a:endParaRPr lang="ru-RU" altLang="ru-RU" b="1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600201"/>
            <a:ext cx="9753599" cy="806699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маске в десятичном виде могут присутствовать только следующие числа с непрерывной последовательностью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единиц.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2" name="Line 4"/>
          <p:cNvSpPr>
            <a:spLocks noChangeShapeType="1"/>
          </p:cNvSpPr>
          <p:nvPr/>
        </p:nvSpPr>
        <p:spPr bwMode="auto">
          <a:xfrm>
            <a:off x="1524000" y="134076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215680" y="2666330"/>
          <a:ext cx="6096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десятичном виде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двоичном виде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11111111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254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11111110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11111100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11111000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11110000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224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11100000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11000000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10000000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334" y="394364"/>
            <a:ext cx="10972800" cy="1143000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Проверка корректности маски </a:t>
            </a:r>
            <a:endParaRPr lang="ru-RU" altLang="ru-RU" b="1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600201"/>
            <a:ext cx="9281651" cy="2994797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alt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Важна также корректная последовательность данных чисел в десятичном виде:</a:t>
            </a:r>
            <a:endParaRPr lang="ru-RU" alt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AutoNum type="arabicPeriod"/>
            </a:pPr>
            <a:r>
              <a:rPr lang="ru-RU" altLang="ru-RU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Маска начинается с одного из представленных чисел с непрерывной последовательностью единиц (255, 254, 252, 248, 240, 224, 192, 128).</a:t>
            </a:r>
            <a:endParaRPr lang="ru-RU" altLang="ru-RU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ru-RU" altLang="ru-RU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255 в маске может следовать любое из представленных чисел с непрерывной последовательностью единиц (255, 254, 252, 248, 240, 224, 192, 128).</a:t>
            </a:r>
            <a:endParaRPr lang="ru-RU" altLang="ru-RU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ru-RU" altLang="ru-RU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маске после 254, 252, 248, 240, 224, 192, 128 могут быть только нули.</a:t>
            </a:r>
            <a:endParaRPr lang="ru-RU" altLang="ru-RU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altLang="ru-RU" sz="2000" dirty="0"/>
          </a:p>
        </p:txBody>
      </p:sp>
      <p:sp>
        <p:nvSpPr>
          <p:cNvPr id="17422" name="Line 4"/>
          <p:cNvSpPr>
            <a:spLocks noChangeShapeType="1"/>
          </p:cNvSpPr>
          <p:nvPr/>
        </p:nvSpPr>
        <p:spPr bwMode="auto">
          <a:xfrm>
            <a:off x="1524000" y="134076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9915" y="5867980"/>
            <a:ext cx="1650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255.128.0.0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83631" y="5848172"/>
            <a:ext cx="1650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252.0.0.0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8712" y="5867980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255.254.128.0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8067769" y="5921184"/>
            <a:ext cx="1685142" cy="345624"/>
            <a:chOff x="6073824" y="4869160"/>
            <a:chExt cx="1162472" cy="297323"/>
          </a:xfrm>
        </p:grpSpPr>
        <p:cxnSp>
          <p:nvCxnSpPr>
            <p:cNvPr id="13" name="Прямая соединительная линия 12"/>
            <p:cNvCxnSpPr/>
            <p:nvPr/>
          </p:nvCxnSpPr>
          <p:spPr>
            <a:xfrm flipV="1">
              <a:off x="6073824" y="4869161"/>
              <a:ext cx="1162472" cy="2973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/>
            <p:nvPr/>
          </p:nvCxnSpPr>
          <p:spPr>
            <a:xfrm flipH="1" flipV="1">
              <a:off x="6073824" y="4869160"/>
              <a:ext cx="1162472" cy="2973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Прямая соединительная линия 3"/>
          <p:cNvCxnSpPr/>
          <p:nvPr/>
        </p:nvCxnSpPr>
        <p:spPr>
          <a:xfrm flipV="1">
            <a:off x="1637296" y="4916129"/>
            <a:ext cx="9168355" cy="250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938823" y="5085184"/>
            <a:ext cx="2797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масок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457200" algn="l" eaLnBrk="1" hangingPunct="1"/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altLang="ru-RU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alt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2063751" y="1341439"/>
            <a:ext cx="842486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 192.168.89.16, маска подсети 255.255.192.0 (другая форма записи: 192.168.89.16/18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определить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подсети и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хоста.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2135188" y="3147707"/>
            <a:ext cx="8532812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IP-address: 192.168.89.16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11000000.10101000.01011001.00010000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     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11111111.11111111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.11000000.00000000</a:t>
            </a:r>
            <a:b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ID:                       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11000000.10101000.01000000.00000000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		       192            168	64	  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2135188" y="5019369"/>
            <a:ext cx="8532812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IP-address: 192.168.89.16  =  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</a:t>
            </a:r>
            <a:r>
              <a:rPr lang="en-US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000.01011001.00010000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00000000.00000000.00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</a:t>
            </a:r>
            <a:b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ID:                             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00000000.00000000.00011001.00010000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	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274638"/>
            <a:ext cx="8147050" cy="1143000"/>
          </a:xfrm>
        </p:spPr>
        <p:txBody>
          <a:bodyPr/>
          <a:lstStyle/>
          <a:p>
            <a:pPr algn="l" eaLnBrk="1" hangingPunct="1"/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alt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2063751" y="1341439"/>
            <a:ext cx="84248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 192.168.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.16, маска подсети 255.255.192.0 (другая форма записи: 192.168.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.16/18).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определить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подсети и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хоста.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2135188" y="2852739"/>
            <a:ext cx="8532812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IP-address: 192.168.200.16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11000000.10101000.11001000.00010000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   =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11111111.11111111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.11000000.00000000</a:t>
            </a:r>
            <a:b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ID:                       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11000000.10101000.11000000.00000000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		       192            168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192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2135188" y="4724401"/>
            <a:ext cx="8532812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IP-address: 192.168.89.16  =  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</a:t>
            </a:r>
            <a:r>
              <a:rPr lang="en-US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000.11001000.00010000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00000000.00000000.00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</a:t>
            </a:r>
            <a:b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ID:                             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00000000.00000000.00011001.00010000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	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  <p:bldP spid="8196" grpId="0"/>
      <p:bldP spid="819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297" y="169921"/>
            <a:ext cx="8939683" cy="706438"/>
          </a:xfrm>
        </p:spPr>
        <p:txBody>
          <a:bodyPr>
            <a:noAutofit/>
          </a:bodyPr>
          <a:lstStyle/>
          <a:p>
            <a:r>
              <a:rPr lang="ru-RU" altLang="ru-RU" b="1" i="1" dirty="0"/>
              <a:t>Структурирование сети с помощью масок</a:t>
            </a:r>
            <a:endParaRPr lang="ru-RU" altLang="ru-RU" b="1" i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5297" y="1757191"/>
            <a:ext cx="9214986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помощью масок администратор может структурировать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не требуя от поставщика услуг дополнительных номеров сетей.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/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23850" algn="just">
              <a:spcBef>
                <a:spcPts val="600"/>
              </a:spcBef>
            </a:pP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Допустим, организации выделена сеть класса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160.95.0.0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5298" y="3992675"/>
            <a:ext cx="92149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такой сети может находиться до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65 534 узлов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Однако организации требуется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независимые сети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числом узлов в каждой не более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254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 этой ситуации можно применить деление на подсети с помощью масок. Например, при использовании маски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255.255.255.0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третий байт адреса будет определять номер внутренней подсети, а четвертый байт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– 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номер узла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2323" y="277544"/>
            <a:ext cx="9920747" cy="706438"/>
          </a:xfrm>
        </p:spPr>
        <p:txBody>
          <a:bodyPr>
            <a:noAutofit/>
          </a:bodyPr>
          <a:lstStyle/>
          <a:p>
            <a:r>
              <a:rPr lang="ru-RU" altLang="ru-RU" b="1" i="1" dirty="0"/>
              <a:t>Структурирование сети с помощью масок</a:t>
            </a:r>
            <a:endParaRPr lang="ru-RU" altLang="ru-RU" b="1" i="1" dirty="0"/>
          </a:p>
        </p:txBody>
      </p:sp>
      <p:pic>
        <p:nvPicPr>
          <p:cNvPr id="19459" name="Рисунок 609"/>
          <p:cNvPicPr>
            <a:picLocks noChangeAspect="1" noChangeArrowheads="1"/>
          </p:cNvPicPr>
          <p:nvPr/>
        </p:nvPicPr>
        <p:blipFill>
          <a:blip r:embed="rId1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780" y="1575437"/>
            <a:ext cx="6337300" cy="143981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Рисунок 608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178" y="3685210"/>
            <a:ext cx="6803135" cy="3049886"/>
          </a:xfrm>
          <a:prstGeom prst="rect">
            <a:avLst/>
          </a:prstGeom>
          <a:noFill/>
          <a:ln>
            <a:noFill/>
          </a:ln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AutoShape 6"/>
          <p:cNvSpPr>
            <a:spLocks noChangeArrowheads="1"/>
          </p:cNvSpPr>
          <p:nvPr/>
        </p:nvSpPr>
        <p:spPr bwMode="auto">
          <a:xfrm>
            <a:off x="5574891" y="3015250"/>
            <a:ext cx="324466" cy="669960"/>
          </a:xfrm>
          <a:prstGeom prst="downArrow">
            <a:avLst>
              <a:gd name="adj1" fmla="val 43156"/>
              <a:gd name="adj2" fmla="val 6892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591780" y="3685210"/>
            <a:ext cx="34243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Маршрутизаторы во внешней сети (Интернет) ничего «не знают» о делении сети 160.95.0.0 на подсети, все пакеты направляются на маршрутизатор организации, который переправляет их в требуемую внутреннюю подсеть.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en-US" altLang="ru-RU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alt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2063750" y="836713"/>
            <a:ext cx="921384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 192.168.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.16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маска подсети 255.255.192.0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находящегося в сети, которою необходимо структурировать по следующему принципу: разбить на некоторое число сетей, не превышающее 25. Необходимо определить маску подсети для заданной структуризации.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подсети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2423593" y="3019111"/>
            <a:ext cx="8339709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IP-address: 192.168.200.16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11000000.10101000.11001000.00010000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   =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11111111.11111111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.11000000.00000000</a:t>
            </a:r>
            <a:b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ID:                          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11000000.10101000.11000000.00000000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		       192            168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192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2063750" y="4325803"/>
            <a:ext cx="9213849" cy="15388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количество сетей не будет превышать 25, то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 добавить 5 разрядов (2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^5=32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т.е. превышает требуемое количество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ru-RU" sz="1600" dirty="0">
              <a:latin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192.168.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_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  _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.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endParaRPr lang="ru-RU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algn="just" eaLnBrk="1" hangingPunct="1">
              <a:defRPr/>
            </a:pPr>
            <a:endParaRPr lang="ru-RU" dirty="0">
              <a:latin typeface="Arial" panose="020B0604020202020204" pitchFamily="3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V="1">
            <a:off x="2423593" y="5589240"/>
            <a:ext cx="581237" cy="314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5303912" y="5615374"/>
            <a:ext cx="360040" cy="28803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7968208" y="5615374"/>
            <a:ext cx="612068" cy="2880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0" y="6050890"/>
            <a:ext cx="3384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</a:rPr>
              <a:t>Имеющиеся 18 разрядов в </a:t>
            </a:r>
            <a:r>
              <a:rPr lang="en-US" sz="1400" dirty="0">
                <a:solidFill>
                  <a:srgbClr val="FF0000"/>
                </a:solidFill>
              </a:rPr>
              <a:t>Network ID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50645" y="6051528"/>
            <a:ext cx="2723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B0F0"/>
                </a:solidFill>
              </a:rPr>
              <a:t>Оставшиеся разряды </a:t>
            </a:r>
            <a:r>
              <a:rPr lang="en-US" sz="1400" dirty="0">
                <a:solidFill>
                  <a:srgbClr val="00B0F0"/>
                </a:solidFill>
              </a:rPr>
              <a:t>Host ID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73316" y="6050890"/>
            <a:ext cx="338437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C000"/>
                </a:solidFill>
              </a:rPr>
              <a:t>Добавленные 5 разрядов в </a:t>
            </a:r>
            <a:r>
              <a:rPr lang="en-US" sz="1400" dirty="0">
                <a:solidFill>
                  <a:srgbClr val="FFC000"/>
                </a:solidFill>
              </a:rPr>
              <a:t>Network ID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117946" y="6381328"/>
            <a:ext cx="80516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искомая маска – 255.255.254.0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11" grpId="0"/>
      <p:bldP spid="13" grpId="0"/>
      <p:bldP spid="20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altLang="ru-RU" sz="2000" u="sng" dirty="0"/>
              <a:t>Пример </a:t>
            </a:r>
            <a:r>
              <a:rPr lang="en-US" altLang="ru-RU" sz="2000" u="sng" dirty="0"/>
              <a:t>5</a:t>
            </a:r>
            <a:endParaRPr lang="ru-RU" altLang="ru-RU" sz="2000" u="sng" dirty="0"/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2063751" y="836713"/>
            <a:ext cx="8859888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 192.168.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.16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маска подсети 255.255.192.0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находящегося в сети, которою необходимо структурировать по следующему принципу: разбить на некоторое число сетей, в каждой из которой число узлов не превышает 60. Необходимо определить маску подсети для заданной структуризации.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05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подсети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2057682" y="2847091"/>
            <a:ext cx="8339709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IP-address: 192.168.200.16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11000000.10101000.11001000.00010000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   =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u="sng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11111111.11111111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.11000000.00000000</a:t>
            </a:r>
            <a:b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ID:                            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11000000.10101000.11000000.00000000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		       192            168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192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0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2076772" y="4149080"/>
            <a:ext cx="8134029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количество узлов в сети не будет превышать 60, то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 оставить 6 разрядов (2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 т.е. превышает требуемое количество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(60)).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ru-RU" sz="1050" dirty="0">
              <a:latin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192.168.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_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  _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.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00B0F0"/>
                </a:solidFill>
                <a:latin typeface="Arial" panose="020B0604020202020204" pitchFamily="34" charset="0"/>
              </a:rPr>
              <a:t> _ </a:t>
            </a:r>
            <a:endParaRPr lang="ru-RU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algn="just" eaLnBrk="1" hangingPunct="1">
              <a:defRPr/>
            </a:pPr>
            <a:endParaRPr lang="ru-RU" dirty="0">
              <a:latin typeface="Arial" panose="020B0604020202020204" pitchFamily="3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V="1">
            <a:off x="2423593" y="5589240"/>
            <a:ext cx="581237" cy="314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5303912" y="5615374"/>
            <a:ext cx="360040" cy="28803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7968208" y="5615374"/>
            <a:ext cx="612068" cy="2880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68361" y="5903407"/>
            <a:ext cx="3384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</a:rPr>
              <a:t>Имеющиеся 18 разрядов в </a:t>
            </a:r>
            <a:r>
              <a:rPr lang="en-US" sz="1400" dirty="0">
                <a:solidFill>
                  <a:srgbClr val="FF0000"/>
                </a:solidFill>
              </a:rPr>
              <a:t>Network ID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08871" y="5904045"/>
            <a:ext cx="2840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B0F0"/>
                </a:solidFill>
              </a:rPr>
              <a:t>Оставляемые 6 разрядов </a:t>
            </a:r>
            <a:r>
              <a:rPr lang="en-US" sz="1400" dirty="0">
                <a:solidFill>
                  <a:srgbClr val="00B0F0"/>
                </a:solidFill>
              </a:rPr>
              <a:t>Host ID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11824" y="5903407"/>
            <a:ext cx="3855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C000"/>
                </a:solidFill>
              </a:rPr>
              <a:t>Лишние 8 разрядов добавляются в </a:t>
            </a:r>
            <a:r>
              <a:rPr lang="en-US" sz="1400" dirty="0">
                <a:solidFill>
                  <a:srgbClr val="FFC000"/>
                </a:solidFill>
              </a:rPr>
              <a:t>Network ID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117946" y="6381328"/>
            <a:ext cx="80516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искомая маска – 255.255.255.192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11" grpId="0"/>
      <p:bldP spid="13" grpId="0"/>
      <p:bldP spid="20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45225" y="135268"/>
            <a:ext cx="8229600" cy="777875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Особые </a:t>
            </a:r>
            <a:r>
              <a:rPr lang="en-US" altLang="ru-RU" b="1" i="1" dirty="0"/>
              <a:t>IP-</a:t>
            </a:r>
            <a:r>
              <a:rPr lang="ru-RU" altLang="ru-RU" b="1" i="1" dirty="0"/>
              <a:t>адреса</a:t>
            </a:r>
            <a:endParaRPr lang="ru-RU" altLang="ru-RU" b="1" i="1" dirty="0"/>
          </a:p>
        </p:txBody>
      </p:sp>
      <p:sp>
        <p:nvSpPr>
          <p:cNvPr id="20483" name="Line 5"/>
          <p:cNvSpPr>
            <a:spLocks noChangeShapeType="1"/>
          </p:cNvSpPr>
          <p:nvPr/>
        </p:nvSpPr>
        <p:spPr bwMode="auto">
          <a:xfrm>
            <a:off x="1524000" y="10525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1524001" y="1196976"/>
            <a:ext cx="8964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0485" name="Text Box 7"/>
          <p:cNvSpPr txBox="1">
            <a:spLocks noChangeArrowheads="1"/>
          </p:cNvSpPr>
          <p:nvPr/>
        </p:nvSpPr>
        <p:spPr bwMode="auto">
          <a:xfrm>
            <a:off x="1981200" y="1268413"/>
            <a:ext cx="836295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 algn="just">
              <a:spcBef>
                <a:spcPct val="50000"/>
              </a:spcBef>
              <a:buFontTx/>
              <a:buAutoNum type="arabicPeriod"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IР-адрес состоит только из двоичных нулей, то он обозначает адрес того узла, который сгенерировал этот пакет.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None/>
            </a:pP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десятичном виде это 0.0.0.0</a:t>
            </a:r>
            <a:endParaRPr lang="en-US" alt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6" name="Text Box 8"/>
          <p:cNvSpPr txBox="1">
            <a:spLocks noChangeArrowheads="1"/>
          </p:cNvSpPr>
          <p:nvPr/>
        </p:nvSpPr>
        <p:spPr bwMode="auto">
          <a:xfrm>
            <a:off x="2400180" y="2189501"/>
            <a:ext cx="396081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0 0 0 0 ................................... 0 0 0 0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20487" name="Text Box 9"/>
          <p:cNvSpPr txBox="1">
            <a:spLocks noChangeArrowheads="1"/>
          </p:cNvSpPr>
          <p:nvPr/>
        </p:nvSpPr>
        <p:spPr bwMode="auto">
          <a:xfrm>
            <a:off x="1986116" y="3424134"/>
            <a:ext cx="8358034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поле номера сети стоят 0, то по умолчанию считается, что этот узел принадлежит той же самой сети, что и узел, который отправил пакет.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0.0.100.1 / 16    или    31.1.1.1 / 3</a:t>
            </a:r>
            <a:endParaRPr lang="ru-RU" alt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endParaRPr lang="ru-RU" altLang="ru-RU" sz="1800" b="1" dirty="0">
              <a:latin typeface="Arial" panose="020B0604020202020204" pitchFamily="34" charset="0"/>
            </a:endParaRPr>
          </a:p>
        </p:txBody>
      </p:sp>
      <p:sp>
        <p:nvSpPr>
          <p:cNvPr id="20488" name="Rectangle 10"/>
          <p:cNvSpPr>
            <a:spLocks noChangeArrowheads="1"/>
          </p:cNvSpPr>
          <p:nvPr/>
        </p:nvSpPr>
        <p:spPr bwMode="auto">
          <a:xfrm>
            <a:off x="2400180" y="4279004"/>
            <a:ext cx="28368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0 0 0 0 .......0 Номер узла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3588499" y="5466735"/>
            <a:ext cx="6696744" cy="1299080"/>
            <a:chOff x="1619672" y="5523588"/>
            <a:chExt cx="6696744" cy="1299080"/>
          </a:xfrm>
        </p:grpSpPr>
        <p:cxnSp>
          <p:nvCxnSpPr>
            <p:cNvPr id="3" name="Прямая со стрелкой 2"/>
            <p:cNvCxnSpPr/>
            <p:nvPr/>
          </p:nvCxnSpPr>
          <p:spPr>
            <a:xfrm flipV="1">
              <a:off x="4037480" y="5523588"/>
              <a:ext cx="0" cy="2816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2699792" y="5805264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F0000"/>
                  </a:solidFill>
                </a:rPr>
                <a:t>000</a:t>
              </a:r>
              <a:r>
                <a:rPr lang="ru-RU" dirty="0">
                  <a:solidFill>
                    <a:srgbClr val="00B0F0"/>
                  </a:solidFill>
                </a:rPr>
                <a:t>11111.00000001.00000001.00000001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6" name="Прямая со стрелкой 5"/>
            <p:cNvCxnSpPr/>
            <p:nvPr/>
          </p:nvCxnSpPr>
          <p:spPr>
            <a:xfrm flipV="1">
              <a:off x="2411760" y="6174596"/>
              <a:ext cx="360040" cy="1347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619672" y="6453336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Network ID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Прямая со стрелкой 8"/>
            <p:cNvCxnSpPr>
              <a:endCxn id="4" idx="2"/>
            </p:cNvCxnSpPr>
            <p:nvPr/>
          </p:nvCxnSpPr>
          <p:spPr>
            <a:xfrm flipH="1" flipV="1">
              <a:off x="5508104" y="6174596"/>
              <a:ext cx="504056" cy="278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508104" y="6447165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Host ID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6" grpId="0" animBg="1"/>
      <p:bldP spid="20487" grpId="0"/>
      <p:bldP spid="2048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1524000" y="1397725"/>
            <a:ext cx="98912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Если все двоичные разряды IP-адреса равны 1, то пакет с таким адресом назначения должен рассылаться всем узлам, находящимся в той же сети, что и источник этого пакета. Такая рассылка называется ограниченным широковещательным сообщением </a:t>
            </a:r>
            <a:r>
              <a:rPr lang="ru-RU" alt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sz="20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ru-RU" alt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2455048" y="2773076"/>
            <a:ext cx="3876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1 1 1 1 .........................................1 1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0" y="3201226"/>
            <a:ext cx="5455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десятичном виде это 255.255.255.255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524000" y="3793328"/>
            <a:ext cx="902015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Другой вариант</a:t>
            </a:r>
            <a:r>
              <a:rPr lang="ru-RU" alt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ru-RU" altLang="ru-RU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(всем узлам в сети отправителя) может быть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адрес, в котором все разряды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двоичном виде – 0, а все разряды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двоичном виде – 1.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  0.255.255.255 / 8   или   15.255.255.255 / 4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3630939" y="5336540"/>
            <a:ext cx="6696744" cy="1521460"/>
            <a:chOff x="1619672" y="5301208"/>
            <a:chExt cx="6696744" cy="1521460"/>
          </a:xfrm>
        </p:grpSpPr>
        <p:cxnSp>
          <p:nvCxnSpPr>
            <p:cNvPr id="10" name="Прямая со стрелкой 9"/>
            <p:cNvCxnSpPr/>
            <p:nvPr/>
          </p:nvCxnSpPr>
          <p:spPr>
            <a:xfrm flipV="1">
              <a:off x="3995936" y="5301208"/>
              <a:ext cx="0" cy="4361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9792" y="5805264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F0000"/>
                  </a:solidFill>
                </a:rPr>
                <a:t>0000</a:t>
              </a:r>
              <a:r>
                <a:rPr lang="ru-RU" dirty="0">
                  <a:solidFill>
                    <a:srgbClr val="00B0F0"/>
                  </a:solidFill>
                </a:rPr>
                <a:t>1111.11111111.11111111.11111111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12" name="Прямая со стрелкой 11"/>
            <p:cNvCxnSpPr/>
            <p:nvPr/>
          </p:nvCxnSpPr>
          <p:spPr>
            <a:xfrm flipV="1">
              <a:off x="2411760" y="6174596"/>
              <a:ext cx="360040" cy="1347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619672" y="6453336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Network ID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Прямая со стрелкой 13"/>
            <p:cNvCxnSpPr>
              <a:endCxn id="11" idx="2"/>
            </p:cNvCxnSpPr>
            <p:nvPr/>
          </p:nvCxnSpPr>
          <p:spPr>
            <a:xfrm flipH="1" flipV="1">
              <a:off x="5508104" y="6174596"/>
              <a:ext cx="504056" cy="278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508104" y="6447165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Host ID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1745225" y="135268"/>
            <a:ext cx="8229600" cy="777875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Особые </a:t>
            </a:r>
            <a:r>
              <a:rPr lang="en-US" altLang="ru-RU" b="1" i="1" dirty="0"/>
              <a:t>IP-</a:t>
            </a:r>
            <a:r>
              <a:rPr lang="ru-RU" altLang="ru-RU" b="1" i="1" dirty="0"/>
              <a:t>адреса</a:t>
            </a:r>
            <a:endParaRPr lang="ru-RU" altLang="ru-RU" b="1" i="1" dirty="0"/>
          </a:p>
        </p:txBody>
      </p:sp>
      <p:sp>
        <p:nvSpPr>
          <p:cNvPr id="17" name="Line 5"/>
          <p:cNvSpPr>
            <a:spLocks noChangeShapeType="1"/>
          </p:cNvSpPr>
          <p:nvPr/>
        </p:nvSpPr>
        <p:spPr bwMode="auto">
          <a:xfrm>
            <a:off x="1524000" y="10525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524001" y="1196976"/>
            <a:ext cx="8964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1118953"/>
            <a:ext cx="9143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Если поле адреса назначения содержит только 1, то пакет, имеющий такой адрес рассылается всем узлам сети с заданным номером. Такая рассылка называется широковещательным сообщением (</a:t>
            </a:r>
            <a:r>
              <a:rPr lang="ru-RU" altLang="ru-RU" sz="20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08015" y="2198453"/>
            <a:ext cx="3275012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Номер сети 1111................11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604619" y="2712648"/>
            <a:ext cx="61739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  1.255.255.255 / 8   или   15.255.255.255 / 5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4253001" y="3122050"/>
            <a:ext cx="6696744" cy="1172661"/>
            <a:chOff x="1619672" y="5301208"/>
            <a:chExt cx="6696744" cy="1172661"/>
          </a:xfrm>
        </p:grpSpPr>
        <p:cxnSp>
          <p:nvCxnSpPr>
            <p:cNvPr id="12" name="Прямая со стрелкой 11"/>
            <p:cNvCxnSpPr/>
            <p:nvPr/>
          </p:nvCxnSpPr>
          <p:spPr>
            <a:xfrm flipV="1">
              <a:off x="3995936" y="5301208"/>
              <a:ext cx="0" cy="2992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699792" y="5600481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F0000"/>
                  </a:solidFill>
                </a:rPr>
                <a:t>00001</a:t>
              </a:r>
              <a:r>
                <a:rPr lang="ru-RU" dirty="0">
                  <a:solidFill>
                    <a:srgbClr val="00B0F0"/>
                  </a:solidFill>
                </a:rPr>
                <a:t>111.11111111.11111111.11111111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 flipV="1">
              <a:off x="2411760" y="5960521"/>
              <a:ext cx="360040" cy="1347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619672" y="6104537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Network ID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Прямая со стрелкой 15"/>
            <p:cNvCxnSpPr>
              <a:endCxn id="13" idx="2"/>
            </p:cNvCxnSpPr>
            <p:nvPr/>
          </p:nvCxnSpPr>
          <p:spPr>
            <a:xfrm flipH="1" flipV="1">
              <a:off x="5508104" y="5969813"/>
              <a:ext cx="504056" cy="1347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760132" y="6095245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Host ID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18" name="Прямоугольник 17"/>
          <p:cNvSpPr/>
          <p:nvPr/>
        </p:nvSpPr>
        <p:spPr>
          <a:xfrm>
            <a:off x="1604619" y="4451709"/>
            <a:ext cx="90633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Но, например,  15.255.255.255 / 3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уже  относится к индивидуальному адресу в сети отправителя.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199723" y="5240072"/>
            <a:ext cx="23932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15.255.255.255 / 3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2594474" y="5630937"/>
            <a:ext cx="7896227" cy="1172661"/>
            <a:chOff x="1619672" y="5301208"/>
            <a:chExt cx="6696744" cy="1172661"/>
          </a:xfrm>
        </p:grpSpPr>
        <p:cxnSp>
          <p:nvCxnSpPr>
            <p:cNvPr id="21" name="Прямая со стрелкой 20"/>
            <p:cNvCxnSpPr/>
            <p:nvPr/>
          </p:nvCxnSpPr>
          <p:spPr>
            <a:xfrm flipV="1">
              <a:off x="3995936" y="5301208"/>
              <a:ext cx="0" cy="2992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699792" y="5600481"/>
              <a:ext cx="561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F0000"/>
                  </a:solidFill>
                </a:rPr>
                <a:t>000</a:t>
              </a:r>
              <a:r>
                <a:rPr lang="ru-RU" dirty="0">
                  <a:solidFill>
                    <a:srgbClr val="00B0F0"/>
                  </a:solidFill>
                </a:rPr>
                <a:t>01111.11111111.11111111.11111111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3" name="Прямая со стрелкой 22"/>
            <p:cNvCxnSpPr/>
            <p:nvPr/>
          </p:nvCxnSpPr>
          <p:spPr>
            <a:xfrm flipV="1">
              <a:off x="2411760" y="5960521"/>
              <a:ext cx="360040" cy="1347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619672" y="6104537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Network ID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5" name="Прямая со стрелкой 24"/>
            <p:cNvCxnSpPr>
              <a:endCxn id="22" idx="2"/>
            </p:cNvCxnSpPr>
            <p:nvPr/>
          </p:nvCxnSpPr>
          <p:spPr>
            <a:xfrm flipH="1" flipV="1">
              <a:off x="5508104" y="5969813"/>
              <a:ext cx="504056" cy="1347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760132" y="6095245"/>
              <a:ext cx="1832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Host ID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1745225" y="135268"/>
            <a:ext cx="8229600" cy="777875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Особые </a:t>
            </a:r>
            <a:r>
              <a:rPr lang="en-US" altLang="ru-RU" b="1" i="1" dirty="0"/>
              <a:t>IP-</a:t>
            </a:r>
            <a:r>
              <a:rPr lang="ru-RU" altLang="ru-RU" b="1" i="1" dirty="0"/>
              <a:t>адреса</a:t>
            </a:r>
            <a:endParaRPr lang="ru-RU" altLang="ru-RU" b="1" i="1" dirty="0"/>
          </a:p>
        </p:txBody>
      </p:sp>
      <p:sp>
        <p:nvSpPr>
          <p:cNvPr id="28" name="Line 5"/>
          <p:cNvSpPr>
            <a:spLocks noChangeShapeType="1"/>
          </p:cNvSpPr>
          <p:nvPr/>
        </p:nvSpPr>
        <p:spPr bwMode="auto">
          <a:xfrm>
            <a:off x="1524000" y="10525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2" grpId="0"/>
      <p:bldP spid="18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1738383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Адрес 127.0.0.1 зарезервирован для организации обратной связи при тестировании работы программного обеспечения узла без реальной отправки пакета по сети. </a:t>
            </a:r>
            <a:endParaRPr lang="en-US" alt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имеет название</a:t>
            </a:r>
            <a:r>
              <a:rPr lang="ru-RU" altLang="ru-RU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loopback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36"/>
            <a:ext cx="8229600" cy="777875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Особые </a:t>
            </a:r>
            <a:r>
              <a:rPr lang="en-US" altLang="ru-RU" b="1" i="1" dirty="0"/>
              <a:t>IP-</a:t>
            </a:r>
            <a:r>
              <a:rPr lang="ru-RU" altLang="ru-RU" b="1" i="1" dirty="0"/>
              <a:t>адреса</a:t>
            </a:r>
            <a:endParaRPr lang="ru-RU" altLang="ru-RU" b="1" i="1" dirty="0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24000" y="10525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229045" y="259016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Куда будет доставлен пакет со следующим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адресом: 63.255.255.255/3 ?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29045" y="1139452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536702" y="5148881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ru-RU" alt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63.255.255.255/3</a:t>
            </a:r>
            <a:endParaRPr lang="ru-RU" altLang="ru-RU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4115780" y="2066792"/>
            <a:ext cx="1344176" cy="361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6556884" y="2071866"/>
            <a:ext cx="1267308" cy="349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27648" y="2492896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 индивидуальный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92145" y="2428438"/>
            <a:ext cx="2038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 широковещательный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2567608" y="3016117"/>
            <a:ext cx="1224136" cy="47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4007768" y="3016117"/>
            <a:ext cx="1152128" cy="433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31504" y="3515073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сеть отправителя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0.0.0.0)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7768" y="3487379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другую сеть с заданным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(не 0.0.0.0)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Прямая со стрелкой 21"/>
          <p:cNvCxnSpPr/>
          <p:nvPr/>
        </p:nvCxnSpPr>
        <p:spPr>
          <a:xfrm flipH="1">
            <a:off x="7197597" y="3043811"/>
            <a:ext cx="1224136" cy="47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8616280" y="3043811"/>
            <a:ext cx="1152128" cy="433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1493" y="3542767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сеть отправителя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0.0.0.0)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37757" y="3515073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другую сеть с заданным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(не 0.0.0.0)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5492584" y="1712958"/>
            <a:ext cx="11706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Mask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Группа 26"/>
          <p:cNvGrpSpPr/>
          <p:nvPr/>
        </p:nvGrpSpPr>
        <p:grpSpPr>
          <a:xfrm>
            <a:off x="1631504" y="5498771"/>
            <a:ext cx="6696744" cy="1203439"/>
            <a:chOff x="1619672" y="5301208"/>
            <a:chExt cx="6696744" cy="1203439"/>
          </a:xfrm>
        </p:grpSpPr>
        <p:cxnSp>
          <p:nvCxnSpPr>
            <p:cNvPr id="28" name="Прямая со стрелкой 27"/>
            <p:cNvCxnSpPr/>
            <p:nvPr/>
          </p:nvCxnSpPr>
          <p:spPr>
            <a:xfrm flipV="1">
              <a:off x="4499992" y="5301208"/>
              <a:ext cx="0" cy="2992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2699792" y="5600481"/>
              <a:ext cx="5616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001</a:t>
              </a:r>
              <a:r>
                <a:rPr lang="ru-RU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11111.11111111.11111111.11111111</a:t>
              </a:r>
              <a:endPara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Прямая со стрелкой 29"/>
            <p:cNvCxnSpPr/>
            <p:nvPr/>
          </p:nvCxnSpPr>
          <p:spPr>
            <a:xfrm flipV="1">
              <a:off x="2411760" y="5960521"/>
              <a:ext cx="360040" cy="1347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619672" y="6104537"/>
              <a:ext cx="1832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 ID</a:t>
              </a:r>
              <a:endPara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Прямая со стрелкой 31"/>
            <p:cNvCxnSpPr>
              <a:endCxn id="29" idx="2"/>
            </p:cNvCxnSpPr>
            <p:nvPr/>
          </p:nvCxnSpPr>
          <p:spPr>
            <a:xfrm flipH="1" flipV="1">
              <a:off x="5508104" y="6000591"/>
              <a:ext cx="504056" cy="1039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5760132" y="6095245"/>
              <a:ext cx="1832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Host ID</a:t>
              </a:r>
              <a:endPara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" name="Прямая соединительная линия 34"/>
          <p:cNvCxnSpPr/>
          <p:nvPr/>
        </p:nvCxnSpPr>
        <p:spPr>
          <a:xfrm>
            <a:off x="1775520" y="4525316"/>
            <a:ext cx="8568952" cy="21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Скругленный прямоугольник 35"/>
          <p:cNvSpPr/>
          <p:nvPr/>
        </p:nvSpPr>
        <p:spPr>
          <a:xfrm>
            <a:off x="7392145" y="2458362"/>
            <a:ext cx="2181717" cy="592324"/>
          </a:xfrm>
          <a:prstGeom prst="roundRect">
            <a:avLst/>
          </a:prstGeom>
          <a:solidFill>
            <a:srgbClr val="FF0000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8388016" y="3533773"/>
            <a:ext cx="2503466" cy="849770"/>
          </a:xfrm>
          <a:prstGeom prst="roundRect">
            <a:avLst/>
          </a:prstGeom>
          <a:solidFill>
            <a:srgbClr val="FF0000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35497" y="5148882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Ответ: Всем узлам в сеть с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32.0.0.0.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" grpId="0"/>
      <p:bldP spid="10" grpId="0"/>
      <p:bldP spid="11" grpId="0"/>
      <p:bldP spid="19" grpId="0"/>
      <p:bldP spid="20" grpId="0"/>
      <p:bldP spid="24" grpId="0"/>
      <p:bldP spid="25" grpId="0"/>
      <p:bldP spid="26" grpId="0"/>
      <p:bldP spid="36" grpId="0" animBg="1"/>
      <p:bldP spid="37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229045" y="259016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en-US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alt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Куда будет доставлен пакет со следующим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адресом: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.255.255.255/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29045" y="1139452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ru-RU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en-US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536703" y="5148881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ru-RU" alt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.255.255.255/</a:t>
            </a:r>
            <a:r>
              <a:rPr lang="en-US" alt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altLang="ru-RU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631505" y="1712959"/>
            <a:ext cx="8878461" cy="2660806"/>
            <a:chOff x="107504" y="1712958"/>
            <a:chExt cx="8878461" cy="2660806"/>
          </a:xfrm>
        </p:grpSpPr>
        <p:cxnSp>
          <p:nvCxnSpPr>
            <p:cNvPr id="22" name="Прямая со стрелкой 21"/>
            <p:cNvCxnSpPr/>
            <p:nvPr/>
          </p:nvCxnSpPr>
          <p:spPr>
            <a:xfrm flipH="1">
              <a:off x="5673597" y="3043810"/>
              <a:ext cx="1224136" cy="471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/>
            <p:cNvCxnSpPr/>
            <p:nvPr/>
          </p:nvCxnSpPr>
          <p:spPr>
            <a:xfrm>
              <a:off x="7092280" y="3043810"/>
              <a:ext cx="1152128" cy="433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Группа 3"/>
            <p:cNvGrpSpPr/>
            <p:nvPr/>
          </p:nvGrpSpPr>
          <p:grpSpPr>
            <a:xfrm>
              <a:off x="107504" y="1712958"/>
              <a:ext cx="8878461" cy="2660806"/>
              <a:chOff x="107504" y="1712958"/>
              <a:chExt cx="8878461" cy="2660806"/>
            </a:xfrm>
          </p:grpSpPr>
          <p:cxnSp>
            <p:nvCxnSpPr>
              <p:cNvPr id="7" name="Прямая со стрелкой 6"/>
              <p:cNvCxnSpPr/>
              <p:nvPr/>
            </p:nvCxnSpPr>
            <p:spPr>
              <a:xfrm flipH="1">
                <a:off x="2591780" y="2066792"/>
                <a:ext cx="1344176" cy="3616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 стрелкой 7"/>
              <p:cNvCxnSpPr/>
              <p:nvPr/>
            </p:nvCxnSpPr>
            <p:spPr>
              <a:xfrm>
                <a:off x="5032884" y="2071865"/>
                <a:ext cx="1267308" cy="34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403648" y="2401724"/>
                <a:ext cx="18722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Пакет индивидуальный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868144" y="2428438"/>
                <a:ext cx="203876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Пакет широковещательный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" name="Прямая со стрелкой 12"/>
              <p:cNvCxnSpPr/>
              <p:nvPr/>
            </p:nvCxnSpPr>
            <p:spPr>
              <a:xfrm flipH="1">
                <a:off x="1043608" y="3016116"/>
                <a:ext cx="1224136" cy="4712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 стрелкой 14"/>
              <p:cNvCxnSpPr/>
              <p:nvPr/>
            </p:nvCxnSpPr>
            <p:spPr>
              <a:xfrm>
                <a:off x="2483768" y="3016116"/>
                <a:ext cx="1152128" cy="4337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107504" y="3515073"/>
                <a:ext cx="18722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сеть отправителя (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ID 0.0.0.0)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483768" y="3487379"/>
                <a:ext cx="18722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другую сеть с заданным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ID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(не 0.0.0.0)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737493" y="3542767"/>
                <a:ext cx="18722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сеть отправителя (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ID 0.0.0.0)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113757" y="3515073"/>
                <a:ext cx="18722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другую сеть с заданным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ID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(не 0.0.0.0)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>
                <a:off x="3968584" y="1712958"/>
                <a:ext cx="117064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en-US" alt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IP </a:t>
                </a:r>
                <a:r>
                  <a:rPr lang="ru-RU" alt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Mask</a:t>
                </a:r>
                <a:endParaRPr lang="ru-RU" alt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" name="Группа 26"/>
          <p:cNvGrpSpPr/>
          <p:nvPr/>
        </p:nvGrpSpPr>
        <p:grpSpPr>
          <a:xfrm>
            <a:off x="1631504" y="5498771"/>
            <a:ext cx="6696744" cy="1203439"/>
            <a:chOff x="1619672" y="5301208"/>
            <a:chExt cx="6696744" cy="1203439"/>
          </a:xfrm>
        </p:grpSpPr>
        <p:cxnSp>
          <p:nvCxnSpPr>
            <p:cNvPr id="28" name="Прямая со стрелкой 27"/>
            <p:cNvCxnSpPr/>
            <p:nvPr/>
          </p:nvCxnSpPr>
          <p:spPr>
            <a:xfrm flipV="1">
              <a:off x="4499992" y="5301208"/>
              <a:ext cx="0" cy="2992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2699792" y="5600481"/>
              <a:ext cx="5616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  <a:r>
                <a:rPr lang="en-US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ru-RU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11111.11111111.11111111.11111111</a:t>
              </a:r>
              <a:endPara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Прямая со стрелкой 29"/>
            <p:cNvCxnSpPr/>
            <p:nvPr/>
          </p:nvCxnSpPr>
          <p:spPr>
            <a:xfrm flipV="1">
              <a:off x="2411760" y="5960521"/>
              <a:ext cx="360040" cy="1347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619672" y="6104537"/>
              <a:ext cx="1832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 ID</a:t>
              </a:r>
              <a:endPara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Прямая со стрелкой 31"/>
            <p:cNvCxnSpPr>
              <a:endCxn id="29" idx="2"/>
            </p:cNvCxnSpPr>
            <p:nvPr/>
          </p:nvCxnSpPr>
          <p:spPr>
            <a:xfrm flipH="1" flipV="1">
              <a:off x="5508104" y="6000591"/>
              <a:ext cx="504056" cy="1039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5760132" y="6095245"/>
              <a:ext cx="1832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Host ID</a:t>
              </a:r>
              <a:endPara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" name="Прямая соединительная линия 34"/>
          <p:cNvCxnSpPr/>
          <p:nvPr/>
        </p:nvCxnSpPr>
        <p:spPr>
          <a:xfrm>
            <a:off x="1775520" y="4525316"/>
            <a:ext cx="8568952" cy="21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Скругленный прямоугольник 35"/>
          <p:cNvSpPr/>
          <p:nvPr/>
        </p:nvSpPr>
        <p:spPr>
          <a:xfrm>
            <a:off x="2772894" y="2430857"/>
            <a:ext cx="2181717" cy="575967"/>
          </a:xfrm>
          <a:prstGeom prst="roundRect">
            <a:avLst/>
          </a:prstGeom>
          <a:solidFill>
            <a:srgbClr val="FF0000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1559496" y="3517515"/>
            <a:ext cx="1980412" cy="837848"/>
          </a:xfrm>
          <a:prstGeom prst="roundRect">
            <a:avLst/>
          </a:prstGeom>
          <a:solidFill>
            <a:srgbClr val="FF0000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35497" y="5148882"/>
            <a:ext cx="35744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Ответ: Одному узлу с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 31.255.255.255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сети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оправителя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" grpId="0"/>
      <p:bldP spid="36" grpId="0" animBg="1"/>
      <p:bldP spid="37" grpId="0" animBg="1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46397"/>
            <a:ext cx="8229600" cy="777875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Частные </a:t>
            </a:r>
            <a:r>
              <a:rPr lang="en-US" altLang="ru-RU" b="1" i="1" dirty="0"/>
              <a:t>IP-</a:t>
            </a:r>
            <a:r>
              <a:rPr lang="ru-RU" altLang="ru-RU" b="1" i="1" dirty="0"/>
              <a:t>адреса</a:t>
            </a:r>
            <a:endParaRPr lang="ru-RU" altLang="ru-RU" b="1" i="1" dirty="0"/>
          </a:p>
        </p:txBody>
      </p:sp>
      <p:sp>
        <p:nvSpPr>
          <p:cNvPr id="22531" name="Line 5"/>
          <p:cNvSpPr>
            <a:spLocks noChangeShapeType="1"/>
          </p:cNvSpPr>
          <p:nvPr/>
        </p:nvSpPr>
        <p:spPr bwMode="auto">
          <a:xfrm>
            <a:off x="1524000" y="10525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2" name="Прямоугольник 1"/>
          <p:cNvSpPr>
            <a:spLocks noChangeArrowheads="1"/>
          </p:cNvSpPr>
          <p:nvPr/>
        </p:nvSpPr>
        <p:spPr bwMode="auto">
          <a:xfrm>
            <a:off x="1524000" y="1431926"/>
            <a:ext cx="9547121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Служба распределения номеров IANA (</a:t>
            </a:r>
            <a:r>
              <a:rPr lang="ru-RU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зарезервировала для частных сетей три блока адресов: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сеть класса А               10.0.0.0 – 10.255.255.255; </a:t>
            </a:r>
            <a:endParaRPr lang="ru-RU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сетей класса В           172.16.0.0 – 172.31.255.255; </a:t>
            </a:r>
            <a:endParaRPr lang="ru-RU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 сетей класса С         192.168.0.0 – 192.168.255.255.</a:t>
            </a:r>
            <a:endParaRPr lang="ru-RU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3" name="Прямоугольник 2"/>
          <p:cNvSpPr>
            <a:spLocks noChangeArrowheads="1"/>
          </p:cNvSpPr>
          <p:nvPr/>
        </p:nvSpPr>
        <p:spPr bwMode="auto">
          <a:xfrm>
            <a:off x="1524000" y="3798035"/>
            <a:ext cx="954712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Любая организация может использовать IP‑адреса из этих блоков без согласования с I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 или </a:t>
            </a:r>
            <a:r>
              <a:rPr lang="ru-RU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‑регистраторами. В результате эти адреса используются во множестве организаций. Таким образом, уникальность адресов сохраняется только в масштабе одной или нескольких организаций, согласованно использующих общий блок адресов. В такой сети каждая рабочая станция может обмениваться информацией с любой другой рабочей станцией частной сети.</a:t>
            </a:r>
            <a:endParaRPr lang="ru-RU" altLang="en-US" sz="1200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3999" y="5831580"/>
            <a:ext cx="95471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23850" algn="just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частным также относится 1 сеть класса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c Network ID    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169.254.0.0 / 16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используется ОС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автоматического предоставления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адреса при отсутствии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DHCP-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сервера.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23850" algn="just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74638"/>
            <a:ext cx="8229600" cy="777875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Публичные </a:t>
            </a:r>
            <a:r>
              <a:rPr lang="en-US" altLang="ru-RU" b="1" i="1" dirty="0"/>
              <a:t>IP-</a:t>
            </a:r>
            <a:r>
              <a:rPr lang="ru-RU" altLang="ru-RU" b="1" i="1" dirty="0"/>
              <a:t>адреса</a:t>
            </a:r>
            <a:endParaRPr lang="ru-RU" altLang="ru-RU" b="1" i="1" dirty="0"/>
          </a:p>
        </p:txBody>
      </p:sp>
      <p:sp>
        <p:nvSpPr>
          <p:cNvPr id="23555" name="Line 5"/>
          <p:cNvSpPr>
            <a:spLocks noChangeShapeType="1"/>
          </p:cNvSpPr>
          <p:nvPr/>
        </p:nvSpPr>
        <p:spPr bwMode="auto">
          <a:xfrm>
            <a:off x="1524000" y="1052513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6" name="Прямоугольник 2"/>
          <p:cNvSpPr>
            <a:spLocks noChangeArrowheads="1"/>
          </p:cNvSpPr>
          <p:nvPr/>
        </p:nvSpPr>
        <p:spPr bwMode="auto">
          <a:xfrm>
            <a:off x="1524000" y="1314078"/>
            <a:ext cx="9615948" cy="250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23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организации требуются уникальные (публичные) адреса для связи с внешними сетями, такие адреса следует получать обычным путем через регистраторов </a:t>
            </a:r>
            <a:r>
              <a:rPr lang="ru-RU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Такие адреса никогда не будут входить ни в один из указанных выше блоков частных адресов.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доступа к глобальной сети Интернет с частных адресов в сети устанавливается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proxy </a:t>
            </a:r>
            <a:r>
              <a:rPr lang="ru-RU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сервер, которых будет заменять в отправляемом пакете частный адрес на один из приобретенных публичных адресов.</a:t>
            </a:r>
            <a:endParaRPr lang="ru-RU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Стрелка вправо 1"/>
          <p:cNvSpPr/>
          <p:nvPr/>
        </p:nvSpPr>
        <p:spPr>
          <a:xfrm>
            <a:off x="5903994" y="5238902"/>
            <a:ext cx="115212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лако 2"/>
          <p:cNvSpPr/>
          <p:nvPr/>
        </p:nvSpPr>
        <p:spPr>
          <a:xfrm>
            <a:off x="2234095" y="4191743"/>
            <a:ext cx="3096344" cy="255513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network</a:t>
            </a:r>
            <a:endParaRPr lang="en-US" dirty="0"/>
          </a:p>
        </p:txBody>
      </p:sp>
      <p:sp>
        <p:nvSpPr>
          <p:cNvPr id="7" name="Облако 6"/>
          <p:cNvSpPr/>
          <p:nvPr/>
        </p:nvSpPr>
        <p:spPr>
          <a:xfrm>
            <a:off x="7333437" y="4376583"/>
            <a:ext cx="2664296" cy="194421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823385" y="5783720"/>
            <a:ext cx="504056" cy="4945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687481" y="5932157"/>
            <a:ext cx="504056" cy="4945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825301" y="4692381"/>
            <a:ext cx="504056" cy="4945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740570" y="4476357"/>
            <a:ext cx="504056" cy="4945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855291" y="5135647"/>
            <a:ext cx="1013281" cy="4945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Proxy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ctrTitle"/>
          </p:nvPr>
        </p:nvSpPr>
        <p:spPr>
          <a:xfrm>
            <a:off x="2238375" y="2143126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ru-RU" sz="5400" b="1" i="1" u="sng"/>
              <a:t>IP v6</a:t>
            </a:r>
            <a:endParaRPr lang="ru-RU" altLang="ru-RU" sz="5400" b="1" i="1" u="sn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1568246" y="381000"/>
            <a:ext cx="9601200" cy="1485900"/>
          </a:xfrm>
        </p:spPr>
        <p:txBody>
          <a:bodyPr>
            <a:normAutofit/>
          </a:bodyPr>
          <a:lstStyle/>
          <a:p>
            <a:r>
              <a:rPr lang="en-US" altLang="ru-RU" b="1" i="1" dirty="0"/>
              <a:t>IP </a:t>
            </a:r>
            <a:r>
              <a:rPr lang="en-US" altLang="ru-RU" b="1" i="1" dirty="0" smtClean="0"/>
              <a:t>v6. </a:t>
            </a:r>
            <a:r>
              <a:rPr lang="ru-RU" altLang="ru-RU" b="1" i="1" dirty="0" smtClean="0"/>
              <a:t>Аспекты</a:t>
            </a:r>
            <a:endParaRPr lang="ru-RU" altLang="en-US" b="1" i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568247" y="1322389"/>
            <a:ext cx="9827340" cy="5763116"/>
          </a:xfrm>
          <a:prstGeom prst="rect">
            <a:avLst/>
          </a:prstGeom>
        </p:spPr>
        <p:txBody>
          <a:bodyPr wrap="square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масок является временным решением проблемы дефицита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-адресов, так как адресное пространство протокола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увеличивается, а количество хостов в Интернете растет с каждым днем. Для принципиального решения проблемы требуется существенное увеличение количества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-адресов. Для преодоления ограничений IPv4 был разработан </a:t>
            </a:r>
            <a:r>
              <a:rPr lang="ru-RU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6-й версии - IPv6 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RFC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2373, 2460).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следующие 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особенности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ru-RU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длина адреса  128  бит 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такая длина обеспечивает огромное адресное пространство, или примерно 3.4×10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 адресов. Такое количество адресов позволит присваивать в обозримом будущем уникальные IP-адреса любым устройствам;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Symbol" panose="05050102010706020507" pitchFamily="18" charset="2"/>
              <a:buChar char=""/>
            </a:pPr>
            <a:endParaRPr lang="ru-RU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конфигурация 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протокол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предоставляет средства автоматической настройки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-адреса и других сетевых параметров даже при отсутствии таких служб, как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Symbol" panose="05050102010706020507" pitchFamily="18" charset="2"/>
              <a:buChar char=""/>
            </a:pP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встроенная безопасность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для передачи данных является обязательным использование протокола защищенной передачи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IPsec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(протокол IPv4 также может использовать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IPsec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не обязан этого делать).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524000" y="1052513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>
          <a:xfrm>
            <a:off x="1919288" y="333375"/>
            <a:ext cx="8229600" cy="725488"/>
          </a:xfrm>
        </p:spPr>
        <p:txBody>
          <a:bodyPr>
            <a:normAutofit/>
          </a:bodyPr>
          <a:lstStyle/>
          <a:p>
            <a:r>
              <a:rPr lang="ru-RU" altLang="ru-RU" b="1" i="1" dirty="0"/>
              <a:t>Архитектура адресации</a:t>
            </a:r>
            <a:endParaRPr lang="ru-RU" altLang="ru-RU" b="1" i="1" dirty="0"/>
          </a:p>
        </p:txBody>
      </p:sp>
      <p:sp>
        <p:nvSpPr>
          <p:cNvPr id="26627" name="Rectangle 1"/>
          <p:cNvSpPr>
            <a:spLocks noChangeArrowheads="1"/>
          </p:cNvSpPr>
          <p:nvPr/>
        </p:nvSpPr>
        <p:spPr bwMode="auto">
          <a:xfrm>
            <a:off x="1524000" y="1471910"/>
            <a:ext cx="9851922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ru-RU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три типа адресов:</a:t>
            </a:r>
            <a:endParaRPr lang="ru-RU" alt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unicast</a:t>
            </a:r>
            <a:r>
              <a:rPr lang="ru-RU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Идентификатор одиночного интерфейса. Пакет, посланный по </a:t>
            </a:r>
            <a:r>
              <a:rPr lang="ru-R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уникастному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адресу, доставляется интерфейсу, указанному в адресе.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anycast</a:t>
            </a:r>
            <a:r>
              <a:rPr lang="ru-RU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Идентификатор набора интерфейсов (принадлежащих разным узлам). Пакет, посланный по </a:t>
            </a:r>
            <a:r>
              <a:rPr lang="ru-R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эникастному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адресу, доставляется одному из интерфейсов, указанному в адресе (ближайший, в соответствии с мерой, определенной протоколом маршрутизации).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</a:t>
            </a:r>
            <a:r>
              <a:rPr lang="ru-RU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Идентификатор набора интерфейсов (обычно принадлежащих разным узлам). Пакет, посланный по </a:t>
            </a:r>
            <a:r>
              <a:rPr lang="ru-R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мультикастинг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-адресу, доставляется всем интерфейсам, заданным этим адресом.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средство подключения узла к каналу.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524000" y="1052513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>
          <a:xfrm>
            <a:off x="1952625" y="142875"/>
            <a:ext cx="8229600" cy="725488"/>
          </a:xfrm>
        </p:spPr>
        <p:txBody>
          <a:bodyPr>
            <a:normAutofit/>
          </a:bodyPr>
          <a:lstStyle/>
          <a:p>
            <a:r>
              <a:rPr lang="ru-RU" altLang="en-US" b="1" i="1" dirty="0"/>
              <a:t>Модель адресации</a:t>
            </a:r>
            <a:endParaRPr lang="ru-RU" altLang="en-US" b="1" i="1" dirty="0"/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1543665" y="594747"/>
            <a:ext cx="9615948" cy="634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390650" indent="-50355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ru-RU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1200"/>
              </a:spcAft>
              <a:buFont typeface="Calibri" panose="020F0502020204030204" pitchFamily="34" charset="0"/>
              <a:buAutoNum type="arabicPeriod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адреса всех типов ассоциируются с интерфейсами, а не узлами. Так как каждый интерфейс принадлежит только одному узлу,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уникастный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 интерфейса может идентифицировать узел.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уникастный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 соотносится только с одним интерфейсом. Одному интерфейсу могут соответствовать много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адресов различного типа (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уникастные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эникастные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мультикстные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Существует два исключения из этого правила: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Одиночный адрес может приписываться нескольким физическим интерфейсам, если приложение рассматривает эти несколько интерфейсов как единое целое при представлении его на уровне Интернет.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Маршрутизаторы могут иметь ненумерованные интерфейсы (например, интерфейсу не присваивается никакого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адреса) для соединений точка-точка, чтобы исключить необходимость вручную конфигурировать и объявлять эти адреса. 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FontTx/>
              <a:buNone/>
            </a:pPr>
            <a:endParaRPr lang="ru-RU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соответствует модели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где подсеть ассоциируется с каналом. Одному каналу могут соответствовать несколько подсетей.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543665" y="954190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939925" y="404814"/>
            <a:ext cx="9239352" cy="725487"/>
          </a:xfrm>
        </p:spPr>
        <p:txBody>
          <a:bodyPr>
            <a:noAutofit/>
          </a:bodyPr>
          <a:lstStyle/>
          <a:p>
            <a:r>
              <a:rPr lang="ru-RU" altLang="en-US" b="1" i="1" dirty="0"/>
              <a:t>Представление записи </a:t>
            </a:r>
            <a:r>
              <a:rPr lang="en-US" altLang="en-US" b="1" i="1" dirty="0" smtClean="0"/>
              <a:t>IPv6-</a:t>
            </a:r>
            <a:r>
              <a:rPr lang="ru-RU" altLang="en-US" b="1" i="1" dirty="0" smtClean="0"/>
              <a:t>адресов </a:t>
            </a:r>
            <a:r>
              <a:rPr lang="ru-RU" altLang="en-US" b="1" i="1" dirty="0"/>
              <a:t>(текстовое представление адресов)</a:t>
            </a:r>
            <a:endParaRPr lang="ru-RU" altLang="en-US" b="1" i="1" dirty="0"/>
          </a:p>
        </p:txBody>
      </p:sp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1911351" y="1740654"/>
            <a:ext cx="895329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Основная форма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вид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'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шестнадцатеричные 16-битовые числа.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Прямоугольник 1"/>
          <p:cNvSpPr>
            <a:spLocks noChangeArrowheads="1"/>
          </p:cNvSpPr>
          <p:nvPr/>
        </p:nvSpPr>
        <p:spPr bwMode="auto">
          <a:xfrm>
            <a:off x="2711451" y="3068638"/>
            <a:ext cx="71215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fedc:ba98:7654:3210:FEDC:BA98:7654:3210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1080:0:0:0:8:800:200C:417A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7" name="Прямоугольник 2"/>
          <p:cNvSpPr>
            <a:spLocks noChangeArrowheads="1"/>
          </p:cNvSpPr>
          <p:nvPr/>
        </p:nvSpPr>
        <p:spPr bwMode="auto">
          <a:xfrm>
            <a:off x="1911351" y="5013326"/>
            <a:ext cx="89532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Заметьте, что </a:t>
            </a: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ненужно писать начальные нули в каждом из конкретных полей</a:t>
            </a:r>
            <a:r>
              <a:rPr lang="ru-R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в каждом поле должна быть, по крайней мере, одна </a:t>
            </a:r>
            <a:r>
              <a:rPr lang="ru-RU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цифра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641987" y="1829261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ChangeArrowheads="1"/>
          </p:cNvSpPr>
          <p:nvPr/>
        </p:nvSpPr>
        <p:spPr bwMode="auto">
          <a:xfrm>
            <a:off x="1553497" y="3220872"/>
            <a:ext cx="91440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использования </a:t>
            </a:r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записи 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‘::’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нулевых групп: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1080:0:0:0:8:800:200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:417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юникаст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</a:t>
            </a:r>
            <a:endParaRPr lang="ru-RU" altLang="ru-RU" sz="1800" i="1" dirty="0"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01:0:0:0:0:0:0:43			</a:t>
            </a:r>
            <a:r>
              <a:rPr lang="ru-RU" alt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мультикаст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</a:t>
            </a:r>
            <a:endParaRPr lang="ru-RU" altLang="ru-RU" sz="1800" i="1" dirty="0"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0:0:0:0:0:0:0:1			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обратной связи</a:t>
            </a:r>
            <a:endParaRPr lang="ru-RU" altLang="ru-RU" sz="1800" i="1" dirty="0"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0:0:0:0:0:0:0:0			</a:t>
            </a:r>
            <a:r>
              <a:rPr lang="ru-RU" alt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неспецифицированный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</a:t>
            </a:r>
            <a:endParaRPr lang="ru-RU" altLang="ru-RU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1080::8:800:200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:417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юникаст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</a:t>
            </a:r>
            <a:endParaRPr lang="ru-RU" altLang="ru-RU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01::43				</a:t>
            </a:r>
            <a:r>
              <a:rPr lang="ru-RU" alt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мультикаст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</a:t>
            </a:r>
            <a:endParaRPr lang="ru-RU" altLang="ru-RU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::1				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обратной связи</a:t>
            </a:r>
            <a:endParaRPr lang="ru-RU" altLang="ru-RU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::				</a:t>
            </a:r>
            <a:r>
              <a:rPr lang="ru-RU" alt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неспецифицированный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3" name="Стрелка вниз 2"/>
          <p:cNvSpPr/>
          <p:nvPr/>
        </p:nvSpPr>
        <p:spPr>
          <a:xfrm>
            <a:off x="5524500" y="5064126"/>
            <a:ext cx="285750" cy="500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595564" y="5030788"/>
            <a:ext cx="63579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2595564" y="5602288"/>
            <a:ext cx="64293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Прямоугольник 1"/>
          <p:cNvSpPr>
            <a:spLocks noChangeArrowheads="1"/>
          </p:cNvSpPr>
          <p:nvPr/>
        </p:nvSpPr>
        <p:spPr bwMode="auto">
          <a:xfrm>
            <a:off x="1406014" y="320451"/>
            <a:ext cx="994041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eaLnBrk="1" hangingPunct="1"/>
            <a:r>
              <a:rPr lang="ru-RU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Сокращенная форма записи.</a:t>
            </a:r>
            <a:endParaRPr lang="ru-RU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Из-за метода записи некоторых типов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адресов, они часто содержат длинные последовательности нулевых бит. Для того чтобы сделать запись адресов, содержащих нулевые биты, более удобной, имеется специальный синтаксис для удаления лишних нулей.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 eaLnBrk="1" hangingPunct="1"/>
            <a:r>
              <a:rPr lang="ru-RU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записи "::" указывает на наличие групп из 16 нулевых бит. Комбинация "::" может появляться только при записи адреса. Последовательность "::" может также использоваться для удаления из записи начальных или завершающих нулей в </a:t>
            </a:r>
            <a:r>
              <a:rPr lang="ru-RU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адресе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ChangeArrowheads="1"/>
          </p:cNvSpPr>
          <p:nvPr/>
        </p:nvSpPr>
        <p:spPr bwMode="auto">
          <a:xfrm>
            <a:off x="1805501" y="770835"/>
            <a:ext cx="9422938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Альтернативная форма записи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более удобна при работе с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 и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6, является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типа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где '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' шестнадцатеричные 16-битовые коды адреса, а '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' десятичные 8-битовые, составляющие младшую часть адреса (стандартное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IPv</a:t>
            </a:r>
            <a:r>
              <a:rPr lang="ru-RU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 представление)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	0:0:0:0:0:0:13.1.68.3</a:t>
            </a:r>
            <a:endParaRPr lang="ru-RU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	0:0:0:0:0: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FFFF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:129.144.52.38</a:t>
            </a:r>
            <a:endParaRPr lang="ru-RU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	 ::13.1.68.3</a:t>
            </a:r>
            <a:endParaRPr lang="ru-RU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	::</a:t>
            </a:r>
            <a:r>
              <a:rPr lang="en-US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FFFF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:129.144.52.38</a:t>
            </a:r>
            <a:endParaRPr lang="ru-RU" alt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ru-RU" altLang="ru-RU" sz="2000">
              <a:latin typeface="Arial" panose="020B0604020202020204" pitchFamily="34" charset="0"/>
            </a:endParaRPr>
          </a:p>
        </p:txBody>
      </p:sp>
      <p:sp>
        <p:nvSpPr>
          <p:cNvPr id="3" name="Стрелка вниз 2"/>
          <p:cNvSpPr/>
          <p:nvPr/>
        </p:nvSpPr>
        <p:spPr>
          <a:xfrm>
            <a:off x="5337687" y="3532957"/>
            <a:ext cx="339974" cy="500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 sz="240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408751" y="3499619"/>
            <a:ext cx="75644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2408751" y="4071119"/>
            <a:ext cx="7649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ru-RU" b="1" i="1" u="sng" smtClean="0"/>
              <a:t>Имена в TCP/IP</a:t>
            </a:r>
            <a:r>
              <a:rPr lang="ru-RU" altLang="ru-RU" smtClean="0"/>
              <a:t> </a:t>
            </a:r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29" y="1792712"/>
            <a:ext cx="7794515" cy="4012552"/>
          </a:xfrm>
          <a:prstGeom prst="rect">
            <a:avLst/>
          </a:prstGeom>
          <a:noFill/>
          <a:ln>
            <a:noFill/>
          </a:ln>
          <a:effectLst>
            <a:softEdge rad="152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386349" y="1161527"/>
            <a:ext cx="100682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31800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Система DNS основана  на  иерархической  древовидной  структуре, называемой пространством доменных имен. Доменом является каждый узел и  лист  этой  структуры. 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86350" y="5942916"/>
            <a:ext cx="100682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31800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Непосредственные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его потомки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поддомены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–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домены первого уровня TLD (</a:t>
            </a:r>
            <a:r>
              <a:rPr lang="ru-RU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Top-Level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Domain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домены верхнего уровня)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386349" y="353522"/>
            <a:ext cx="6220870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Пространство имен </a:t>
            </a:r>
            <a:r>
              <a:rPr lang="en-US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044444" y="3162229"/>
            <a:ext cx="25072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Самый  верхний  домен  называется 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корневым (</a:t>
            </a:r>
            <a:r>
              <a:rPr lang="ru-RU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root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domain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Корневой домен как реальный узел не существует, он исполняет роль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вершины дерева. 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33833" y="1684898"/>
            <a:ext cx="992074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Домены верхнего уровня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можно разделить на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три группы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arpa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особый  домен,  используемый  для  преобразования IP-адресов  в  доменные  имена (обратное  преобразование). Содержит единственный дочерний домен –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in-addr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домены  организаций – 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com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(коммерческие  организации),  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org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(некоммерческие  организации),  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edu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(образовательные учреждения) и т.д.;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домены  стран (географические  домены) – 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ru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(Россия),  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fr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(Франция), .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(Германия) и т. д.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938630" y="375168"/>
            <a:ext cx="6220870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Пространство имен </a:t>
            </a:r>
            <a:r>
              <a:rPr lang="en-US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15845" y="1268761"/>
            <a:ext cx="9960077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318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Домены  первого  уровня  включают  только  домены  второго  уровня, записи  об  отдельных  хостах  могут  содержаться  в  доменах,  начиная  со второго уровня.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defTabSz="431800"/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defTabSz="4318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Созданием  и  управлением  доменами  первого  уровня 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1998 года занимается  международная  некоммерческая  организация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ICANN (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Internet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Corporation for Assigned Names and Numbers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Корпорация  Интернет  по присвоению  имен  и  адресов,  www.icann.org)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defTabSz="431800"/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defTabSz="4318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Домены  второго  уровня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находящиеся  в  географических  доменах,  распределяются 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специальными национальными  организациями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 которым ICANN передало  полномочия  в этом  вопросе. 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defTabSz="431800"/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defTabSz="4318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Управлением 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доменами  третьего  и  следующего  уровней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занимаются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владельцы соответствующих доменов второго уровня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15845" y="355504"/>
            <a:ext cx="6220870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Пространство имен </a:t>
            </a:r>
            <a:r>
              <a:rPr lang="en-US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1533833" y="4885797"/>
            <a:ext cx="1027365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200" b="1" dirty="0">
                <a:latin typeface="Times New Roman" panose="02020603050405020304" pitchFamily="18" charset="0"/>
                <a:hlinkClick r:id="rId1"/>
              </a:rPr>
              <a:t>www.vshu.kirov.ru</a:t>
            </a:r>
            <a:r>
              <a:rPr lang="ru-RU" altLang="ru-RU" sz="2200" b="1" dirty="0">
                <a:latin typeface="Times New Roman" panose="02020603050405020304" pitchFamily="18" charset="0"/>
              </a:rPr>
              <a:t>.</a:t>
            </a:r>
            <a:endParaRPr lang="ru-RU" altLang="ru-RU" sz="2200" b="1" dirty="0">
              <a:latin typeface="Times New Roman" panose="02020603050405020304" pitchFamily="18" charset="0"/>
            </a:endParaRPr>
          </a:p>
          <a:p>
            <a:pPr algn="ctr" eaLnBrk="1" hangingPunct="1"/>
            <a:endParaRPr lang="ru-RU" altLang="ru-RU" sz="2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ru-RU" altLang="ru-RU" sz="2200" dirty="0">
                <a:latin typeface="Times New Roman" panose="02020603050405020304" pitchFamily="18" charset="0"/>
              </a:rPr>
              <a:t>В этой записи </a:t>
            </a:r>
            <a:r>
              <a:rPr lang="ru-RU" altLang="ru-RU" sz="2200" dirty="0" err="1">
                <a:latin typeface="Times New Roman" panose="02020603050405020304" pitchFamily="18" charset="0"/>
              </a:rPr>
              <a:t>www</a:t>
            </a:r>
            <a:r>
              <a:rPr lang="ru-RU" altLang="ru-RU" sz="2200" dirty="0">
                <a:latin typeface="Times New Roman" panose="02020603050405020304" pitchFamily="18" charset="0"/>
              </a:rPr>
              <a:t> – имя хоста, vshu.kirov.ru. – DNS-суффикс. </a:t>
            </a:r>
            <a:r>
              <a:rPr lang="ru-RU" altLang="ru-RU" sz="2200" b="1" dirty="0">
                <a:latin typeface="Times New Roman" panose="02020603050405020304" pitchFamily="18" charset="0"/>
              </a:rPr>
              <a:t>Точку в конце FQDN обычно можно опускать. </a:t>
            </a:r>
            <a:endParaRPr lang="ru-RU" altLang="ru-RU" sz="2200" b="1" dirty="0">
              <a:latin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33833" y="1454002"/>
            <a:ext cx="991091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Полностью 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определенное 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доменное  имя FQDN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записывается следующим  образом.  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Сначала  идет  имя  хоста (лист  в  дереве  пространства имен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Затем  через  точку  следует  DNS-суффикс – последовательность доменных имен всех уровней до первого включительно.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Запись завершается точкой, после которой подразумевается корневой домен.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FQDN для хоста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www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домена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vshu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63327" y="385001"/>
            <a:ext cx="6220870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Пространство имен </a:t>
            </a:r>
            <a:r>
              <a:rPr lang="en-US" alt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33833" y="980728"/>
            <a:ext cx="961594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Пользователь  работает  с  доменными  именами,  компьютеры пересылают  пакеты,  пользуясь IP-адресами.  Для  согласования  двух  систем адресаций  необходима  специальная  служба,  которая  занимается  переводом доменного  имени  в IP-адрес  и  обратно.  Такая  служба  в TCP/IP называется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Domain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Name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Service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служба доменных имен (аббревиатура DNS совпадает с  аббревиатурой  системы  доменных  имен). 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 преобразования доменного имени в IP-адрес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называется разрешением доменного имени.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533821" y="4293096"/>
            <a:ext cx="961618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Служба  доменных  имен  поддерживает  распределенную  базу  данных, которая  хранится  на  специальных  компьютерах – DNS-серверах.  Термин «распределенная» означает, что вся информация не хранится в одном месте, её  части  распределены  по  отдельным DNS-серверам.  Например,  за  домены первого  уровня  отвечают 13 корневых  серверов,  имеющих  имена  от A.ROOT-SERVERS.NET  до M.ROOT-SERVERS.NET, расположенных  по всему миру (большинство в США). Такие  части  пространства  имен  называются  зонами (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zone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84455" y="324324"/>
            <a:ext cx="3124573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Служба 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33833" y="1308824"/>
            <a:ext cx="961594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Пространство имен делится на зоны исходя из удобства администрирования. Одна  зона  может  содержать  несколько  доменов,  так  же  как  информация  о домене  может  быть  рассредоточена  по  нескольким  зонам.  На DNS-сервере могут  храниться  несколько  зон. 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В  целях  повышения  надежности  и производительности  зона  может  быть  размещена  одновременно  на нескольких  серверах,  в  этом  случае  один  из  серверов  является  главным  и хранит  основную  копию  зоны (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primary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zone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остальные  серверы  являются дополнительными,  на  них  содержатся  вспомогательные  копии  зоны (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secondary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zone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56635" y="392945"/>
            <a:ext cx="3124573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Служба 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ChangeArrowheads="1"/>
          </p:cNvSpPr>
          <p:nvPr/>
        </p:nvSpPr>
        <p:spPr bwMode="auto">
          <a:xfrm>
            <a:off x="-941388" y="1267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3795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"/>
          <a:stretch>
            <a:fillRect/>
          </a:stretch>
        </p:blipFill>
        <p:spPr bwMode="auto">
          <a:xfrm>
            <a:off x="7314422" y="1339961"/>
            <a:ext cx="4030888" cy="4542364"/>
          </a:xfrm>
          <a:prstGeom prst="rect">
            <a:avLst/>
          </a:prstGeom>
          <a:noFill/>
          <a:ln>
            <a:noFill/>
          </a:ln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1533833" y="5750004"/>
            <a:ext cx="1002890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/>
            <a:r>
              <a:rPr lang="ru-RU" altLang="ru-RU" sz="2200" dirty="0">
                <a:cs typeface="Times New Roman" panose="02020603050405020304" pitchFamily="18" charset="0"/>
              </a:rPr>
              <a:t> </a:t>
            </a:r>
            <a:r>
              <a:rPr lang="ru-RU" alt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Следуя  </a:t>
            </a:r>
            <a:r>
              <a:rPr lang="ru-RU" alt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правилам  формирования DNS-имен,  зона  обратного преобразования,  соответствующая  подсети 156.98.10.0, будет  называться 10.98.156.in-addr.arpa. </a:t>
            </a:r>
            <a:endParaRPr lang="ru-RU" alt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533833" y="1378192"/>
            <a:ext cx="572237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 преобразования IP-адресов  в  доменные  имена  существуют  зоны обратного  преобразования (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reverse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lookup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zone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На  верхнем  уровне пространства имен Интернета этим зонам соответствует домен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in-addr.arpa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Поддомены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этого  домена  формируются  из </a:t>
            </a:r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IP-адресов.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895965" y="407663"/>
            <a:ext cx="3124573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Служба DNS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1524001" y="1036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524001" y="1530859"/>
            <a:ext cx="96257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Служба DNS построена  по  модели «клиент-сервер»,  т. е.  в  процессе разрешения  имен  участвуют DNS-клиент  и DNS-серверы.  Системный компонент DNS-клиента,  называемый  DNS-распознавателем,  отправляет запросы на DNS-серверы. Запросы бывают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двух видов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algn="just"/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 итеративные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DNS-клиент обращается к DNS-серверу с просьбой разрешить имя без обращения к другим DNS-серверам; 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algn="just"/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 рекурсивные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 DNS-клиент  перекладывает  всю  работу  по разрешению  имени  на DNS-сервер.  Если  запрашиваемое  имя отсутствует  в  базе  данных  и  в  кэше  сервера,  он  отправляет итеративные запросы на другие DNS-серверы.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В основном DNS-клиентами используются рекурсивные запросы. На следующем рисунке проиллюстрирован процесс разрешения доменного имени с помощью рекурсивного запроса. 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48461" y="447537"/>
            <a:ext cx="8141972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Процесс разрешения </a:t>
            </a:r>
            <a:r>
              <a:rPr lang="en-US" sz="4400" b="1" i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DNS</a:t>
            </a:r>
            <a:r>
              <a:rPr 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-</a:t>
            </a:r>
            <a:r>
              <a:rPr lang="ru-RU" sz="4400" b="1" i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имен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1524001" y="1036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27" y="1484671"/>
            <a:ext cx="7694878" cy="5373329"/>
          </a:xfrm>
          <a:prstGeom prst="rect">
            <a:avLst/>
          </a:prstGeom>
          <a:noFill/>
          <a:ln>
            <a:noFill/>
          </a:ln>
          <a:effectLst>
            <a:softEdge rad="1016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1418764" y="107919"/>
            <a:ext cx="10163636" cy="129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alt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Процесс обработки рекурсивного </a:t>
            </a:r>
            <a:endParaRPr lang="ru-RU" altLang="ru-RU" sz="4400" b="1" i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89000"/>
              </a:lnSpc>
              <a:spcBef>
                <a:spcPct val="0"/>
              </a:spcBef>
            </a:pPr>
            <a:r>
              <a:rPr lang="ru-RU" altLang="ru-RU" sz="4400" b="1" i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DNS-запроса</a:t>
            </a:r>
            <a:endParaRPr lang="ru-RU" alt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24001" y="1387110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1524001" y="1036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533833" y="1188063"/>
            <a:ext cx="9694605" cy="2716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/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Имена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NetBIOS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 образуют никакой иерархии в своем пространстве, это простой линейный список имен компьютеров, точнее работающих на компьютере служб. Имена компьютеров состоят из 15 видимых символов плюс 16-й служебный символ. Если видимых символов меньше 15, то оставшиеся символы заполняются нулями (не символ нуля, а байт, состоящий из двоичных нулей). 16-й символ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соответствует службе, работающей на компьютере с данным именем.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42900" algn="just"/>
            <a:endParaRPr lang="en-US" sz="7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42900" algn="just"/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Просмотреть список имен пространства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NetBIOS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которые имеются на данном компьютере, можно с помощью команды «</a:t>
            </a:r>
            <a:r>
              <a:rPr lang="en-US" sz="20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nbtstat</a:t>
            </a:r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/>
          <a:srcRect r="10108"/>
          <a:stretch>
            <a:fillRect/>
          </a:stretch>
        </p:blipFill>
        <p:spPr>
          <a:xfrm>
            <a:off x="2376881" y="3814730"/>
            <a:ext cx="5123030" cy="30213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778212" y="5531904"/>
            <a:ext cx="34502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угловых скобках указан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шестнадцатиричный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код 16-го служебного символа какого-либо имени.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08732" y="406076"/>
            <a:ext cx="7509556" cy="694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2900"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Пространство имен </a:t>
            </a:r>
            <a:r>
              <a:rPr 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NetBIOS</a:t>
            </a:r>
            <a:endParaRPr lang="ru-RU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533833" y="116152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1524001" y="1036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524001" y="1523438"/>
            <a:ext cx="961594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/>
            <a:r>
              <a:rPr lang="ru-RU" sz="2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Когда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один компьютер пытается использовать ресурсы, предоставляемые другим компьютером через интерфейс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NetBIOS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поверх протокола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TCP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то первый компьютер, называемый клиентом, вначале должен определить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-адрес второго компьютера, называемого сервером, по имени этого компьютера. Это может быть сделано одним из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трех</a:t>
            </a: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способов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42900" algn="just"/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широковещательный запрос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обращение к локальной базе данных </a:t>
            </a:r>
            <a:r>
              <a:rPr lang="ru-RU" sz="22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NetBIOS</a:t>
            </a: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-имен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хранящейся в файле LMHOSTS (этот файл хранится в той же папке, что и файл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hosts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отображающий FQDN-имена);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обращение к централизованной БД имен </a:t>
            </a: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NetBIOS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хранящейся на сервере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WINS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(Windows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Internet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Naming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Service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(служба имен в Интернете для Windows)).</a:t>
            </a:r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08733" y="217436"/>
            <a:ext cx="8438157" cy="1188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9000"/>
              </a:lnSpc>
              <a:spcBef>
                <a:spcPct val="0"/>
              </a:spcBef>
            </a:pPr>
            <a:r>
              <a:rPr lang="ru-RU" sz="4000" b="1" i="1" dirty="0">
                <a:solidFill>
                  <a:schemeClr val="tx2"/>
                </a:solidFill>
              </a:rPr>
              <a:t>Процесс разрешения имен в пространстве </a:t>
            </a:r>
            <a:r>
              <a:rPr lang="en-US" sz="4000" b="1" i="1" dirty="0">
                <a:solidFill>
                  <a:schemeClr val="tx2"/>
                </a:solidFill>
              </a:rPr>
              <a:t>NetBIOS</a:t>
            </a:r>
            <a:endParaRPr lang="en-US" sz="4000" b="1" i="1" dirty="0">
              <a:solidFill>
                <a:schemeClr val="tx2"/>
              </a:solidFill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24001" y="141660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1524001" y="1036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524001" y="1811781"/>
            <a:ext cx="1006048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зависимости от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узла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NetBIOS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разрешение имен осуществляется с помощью различных комбинаций перечисленных способов: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342900" algn="just"/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broadcast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node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широковещательный 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— разрешает имена в IP-адреса посредством широковещательных сообщений (компьютер, которому нужно разрешить имя, рассылает по локальной сети широковещательное сообщение с запросом IP-адреса по имени компьютера);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</a:tabLs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peer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node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узел «точка — точка»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— разрешает имена в IP-адреса с помощью WINS-сервера (когда клиенту нужно разрешить имя компьютера в IP-адрес, клиент отправляет серверу имя, а тот в ответ посылает адрес);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</a:tabLst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4001" y="223159"/>
            <a:ext cx="9055509" cy="1297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Процесс разрешения имен в пространстве </a:t>
            </a:r>
            <a:r>
              <a:rPr 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NetBIOS</a:t>
            </a:r>
            <a:endParaRPr lang="en-US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24001" y="141660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1524001" y="1036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1524001" y="1811781"/>
            <a:ext cx="1006048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mixed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node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смешанный 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— комбинирует запросы b- и р-узла (WINS-клиент смешанного типа сначала пытается применить широковещательный запрос, а в случае неудачи обращается к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WlNS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-серверу; поскольку разрешение имени начинается с широковещательного запроса, m-узел загружает сеть широковещательным трафиком в той же степени, что и b-узел);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</a:tabLst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hybrid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node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гибридный узел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— также комбинирует запросы b-узла и р-узла, но при этом сначала используется запрос к WINS-серверу и лишь в случае неудачи начинается рассылка широковещательного сообщения, поэтому в большинстве сетей h-узлы работают быстрее и меньше засоряют сеть широковещательными пакетами.</a:t>
            </a:r>
            <a:endParaRPr lang="ru-RU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</a:tabLst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4001" y="223159"/>
            <a:ext cx="9055509" cy="1297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9000"/>
              </a:lnSpc>
              <a:spcBef>
                <a:spcPct val="0"/>
              </a:spcBef>
            </a:pPr>
            <a:r>
              <a:rPr lang="ru-RU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Процесс разрешения имен в пространстве </a:t>
            </a:r>
            <a:r>
              <a:rPr lang="en-US" sz="4400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NetBIOS</a:t>
            </a:r>
            <a:endParaRPr lang="en-US" sz="4400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524001" y="1416607"/>
            <a:ext cx="96159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27213</Words>
  <Application>WPS Presentation</Application>
  <PresentationFormat>Широкоэкранный</PresentationFormat>
  <Paragraphs>664</Paragraphs>
  <Slides>57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9" baseType="lpstr">
      <vt:lpstr>Arial</vt:lpstr>
      <vt:lpstr>SimSun</vt:lpstr>
      <vt:lpstr>Wingdings</vt:lpstr>
      <vt:lpstr>Franklin Gothic Book</vt:lpstr>
      <vt:lpstr>Times New Roman</vt:lpstr>
      <vt:lpstr>Calibri</vt:lpstr>
      <vt:lpstr>Microsoft YaHei</vt:lpstr>
      <vt:lpstr>Arial Unicode MS</vt:lpstr>
      <vt:lpstr>Symbol</vt:lpstr>
      <vt:lpstr>Verdana</vt:lpstr>
      <vt:lpstr>Crop</vt:lpstr>
      <vt:lpstr>Word.Document.8</vt:lpstr>
      <vt:lpstr>Адресация в компьютерных сетях</vt:lpstr>
      <vt:lpstr>Типы адресов</vt:lpstr>
      <vt:lpstr>Mac-адрес</vt:lpstr>
      <vt:lpstr>Физический адрес (MAC-адрес)</vt:lpstr>
      <vt:lpstr>Физический адрес (MAC-адрес)</vt:lpstr>
      <vt:lpstr>Физический адрес (MAC-адрес)</vt:lpstr>
      <vt:lpstr>Физический адрес (MAC-адрес)</vt:lpstr>
      <vt:lpstr>Физический адрес (MAC-адрес)</vt:lpstr>
      <vt:lpstr>Физический адрес (MAC-адрес)</vt:lpstr>
      <vt:lpstr>Физический адрес (MAC-адрес)</vt:lpstr>
      <vt:lpstr>IP v4</vt:lpstr>
      <vt:lpstr>Представление IP-адреса</vt:lpstr>
      <vt:lpstr>Представление IP-адреса</vt:lpstr>
      <vt:lpstr>Представление IP-адреса</vt:lpstr>
      <vt:lpstr>Классы IP-адресов (сетей)</vt:lpstr>
      <vt:lpstr>Характеристики IP-адресов разных классов</vt:lpstr>
      <vt:lpstr>Проблема классов IP-адресов</vt:lpstr>
      <vt:lpstr>Использование масок </vt:lpstr>
      <vt:lpstr>Формы записи маски </vt:lpstr>
      <vt:lpstr>Проверка корректности маски </vt:lpstr>
      <vt:lpstr>Проверка корректности маски </vt:lpstr>
      <vt:lpstr>Проверка корректности маски </vt:lpstr>
      <vt:lpstr>   Пример 1</vt:lpstr>
      <vt:lpstr>Пример 2</vt:lpstr>
      <vt:lpstr>Структурирование сети с помощью масок</vt:lpstr>
      <vt:lpstr>Структурирование сети с помощью масок</vt:lpstr>
      <vt:lpstr> Пример 4</vt:lpstr>
      <vt:lpstr>Пример 5</vt:lpstr>
      <vt:lpstr>Особые IP-адреса</vt:lpstr>
      <vt:lpstr>Особые IP-адреса</vt:lpstr>
      <vt:lpstr>Особые IP-адреса</vt:lpstr>
      <vt:lpstr>Особые IP-адреса</vt:lpstr>
      <vt:lpstr>PowerPoint 演示文稿</vt:lpstr>
      <vt:lpstr>PowerPoint 演示文稿</vt:lpstr>
      <vt:lpstr>Частные IP-адреса</vt:lpstr>
      <vt:lpstr>Публичные IP-адреса</vt:lpstr>
      <vt:lpstr>IP v6</vt:lpstr>
      <vt:lpstr>IP v6. Аспекты</vt:lpstr>
      <vt:lpstr>Архитектура адресации</vt:lpstr>
      <vt:lpstr>Модель адресации</vt:lpstr>
      <vt:lpstr>Представление записи IPv6-адресов (текстовое представление адресов)</vt:lpstr>
      <vt:lpstr>PowerPoint 演示文稿</vt:lpstr>
      <vt:lpstr>PowerPoint 演示文稿</vt:lpstr>
      <vt:lpstr>Имена в TCP/IP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Адресация в компьютерных сетях</dc:title>
  <dc:creator>Dmitri Romanenko</dc:creator>
  <cp:lastModifiedBy>USER</cp:lastModifiedBy>
  <cp:revision>26</cp:revision>
  <dcterms:created xsi:type="dcterms:W3CDTF">2021-10-16T20:40:00Z</dcterms:created>
  <dcterms:modified xsi:type="dcterms:W3CDTF">2024-12-21T09:07:06Z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8E332C92B12B42139F35D7E912468B0D_12</vt:lpwstr>
  </property>
  <property fmtid="{D5CDD505-2E9C-101B-9397-08002B2CF9AE}" pid="3" name="KSOProductBuildVer">
    <vt:lpwstr>1033-12.2.0.19307</vt:lpwstr>
  </property>
</Properties>
</file>
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310" r:id="rId8"/>
    <p:sldId id="296" r:id="rId9"/>
    <p:sldId id="324" r:id="rId10"/>
    <p:sldId id="297" r:id="rId11"/>
    <p:sldId id="261" r:id="rId12"/>
    <p:sldId id="312" r:id="rId13"/>
    <p:sldId id="311" r:id="rId14"/>
    <p:sldId id="262" r:id="rId15"/>
    <p:sldId id="313" r:id="rId16"/>
    <p:sldId id="263" r:id="rId17"/>
    <p:sldId id="295" r:id="rId18"/>
    <p:sldId id="314" r:id="rId19"/>
    <p:sldId id="264" r:id="rId20"/>
    <p:sldId id="315" r:id="rId21"/>
    <p:sldId id="299" r:id="rId22"/>
    <p:sldId id="316" r:id="rId23"/>
    <p:sldId id="269" r:id="rId24"/>
    <p:sldId id="307" r:id="rId25"/>
    <p:sldId id="271" r:id="rId26"/>
    <p:sldId id="270" r:id="rId27"/>
    <p:sldId id="317" r:id="rId28"/>
    <p:sldId id="272" r:id="rId29"/>
    <p:sldId id="300" r:id="rId30"/>
    <p:sldId id="301" r:id="rId31"/>
    <p:sldId id="302" r:id="rId32"/>
    <p:sldId id="265" r:id="rId33"/>
    <p:sldId id="318" r:id="rId34"/>
    <p:sldId id="266" r:id="rId35"/>
    <p:sldId id="319" r:id="rId36"/>
    <p:sldId id="298" r:id="rId37"/>
    <p:sldId id="267" r:id="rId38"/>
    <p:sldId id="303" r:id="rId39"/>
    <p:sldId id="320" r:id="rId40"/>
    <p:sldId id="304" r:id="rId41"/>
    <p:sldId id="309" r:id="rId42"/>
    <p:sldId id="305" r:id="rId43"/>
    <p:sldId id="308" r:id="rId44"/>
    <p:sldId id="306" r:id="rId45"/>
    <p:sldId id="321" r:id="rId46"/>
    <p:sldId id="294" r:id="rId47"/>
    <p:sldId id="292" r:id="rId48"/>
    <p:sldId id="268" r:id="rId49"/>
    <p:sldId id="278" r:id="rId50"/>
    <p:sldId id="323" r:id="rId51"/>
    <p:sldId id="279" r:id="rId52"/>
    <p:sldId id="280" r:id="rId53"/>
    <p:sldId id="281" r:id="rId54"/>
    <p:sldId id="282" r:id="rId55"/>
    <p:sldId id="322" r:id="rId56"/>
    <p:sldId id="283" r:id="rId57"/>
    <p:sldId id="284" r:id="rId58"/>
    <p:sldId id="285" r:id="rId59"/>
    <p:sldId id="291" r:id="rId60"/>
    <p:sldId id="286" r:id="rId61"/>
    <p:sldId id="290" r:id="rId62"/>
    <p:sldId id="287" r:id="rId63"/>
    <p:sldId id="289" r:id="rId64"/>
    <p:sldId id="288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202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F00B308-DE9C-48EC-8428-B0A656651223}" type="slidenum">
              <a:rPr lang="ru-RU" smtClean="0"/>
            </a:fld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00B308-DE9C-48EC-8428-B0A656651223}" type="slidenum">
              <a:rPr lang="ru-RU" smtClean="0"/>
            </a:fld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00B308-DE9C-48EC-8428-B0A656651223}" type="slidenum">
              <a:rPr lang="ru-RU" smtClean="0"/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00B308-DE9C-48EC-8428-B0A656651223}" type="slidenum">
              <a:rPr lang="ru-RU" smtClean="0"/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B308-DE9C-48EC-8428-B0A656651223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72CC6E0D-71F6-4AD2-B145-CA2357A16B5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DF00B308-DE9C-48EC-8428-B0A656651223}" type="slidenum">
              <a:rPr lang="ru-RU" smtClean="0"/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GIF"/><Relationship Id="rId2" Type="http://schemas.openxmlformats.org/officeDocument/2006/relationships/image" Target="NULL" TargetMode="External"/><Relationship Id="rId1" Type="http://schemas.openxmlformats.org/officeDocument/2006/relationships/image" Target="../media/image3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6539" y="908720"/>
            <a:ext cx="6270922" cy="4690514"/>
          </a:xfrm>
        </p:spPr>
        <p:txBody>
          <a:bodyPr>
            <a:no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КОМПЬЮТЕРНЫХ СЕТЕЙ. ФИЗИЧЕСКАЯ СРЕДА ПЕРЕДАЧИ ДАННЫХ. КАБЕЛИ И КАБЕЛЬНЫЕ СИСТЕМЫ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72046"/>
            <a:ext cx="7992888" cy="784682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2349073"/>
            <a:ext cx="7704856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Аппаратные компоненты</a:t>
            </a:r>
            <a:endParaRPr lang="ru-RU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Абонентские системы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компьютеры (рабочие станции или клиенты и серверы);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принтеры;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сканеры и др.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Сетевое оборудование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сетевые адаптеры;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концентраторы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мосты;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Коммуникационные каналы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кабели;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разъемы;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устройства передачи и приема данных в беспроводных технологиях.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052736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Компьютерная сеть состоит из трех основных аппаратных компонент и двух программных, которые должны работать согласованно. Для корректной работы устройств в сети их нужно правильно инсталлировать и установить рабочие параметры.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1315046"/>
            <a:ext cx="75724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компоненты сети</a:t>
            </a:r>
            <a:endParaRPr lang="ru-RU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операционные системы</a:t>
            </a:r>
            <a:endParaRPr lang="ru-RU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-подобные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NetWare;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т.д.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Сетевое программное обеспечение (Сетевые службы)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сети;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сетевая карта;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18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служба удаленного доступа.</a:t>
            </a:r>
            <a:endParaRPr lang="ru-RU" sz="2000" dirty="0"/>
          </a:p>
        </p:txBody>
      </p:sp>
      <p:sp>
        <p:nvSpPr>
          <p:cNvPr id="3" name="Заголовок 1"/>
          <p:cNvSpPr txBox="1"/>
          <p:nvPr/>
        </p:nvSpPr>
        <p:spPr>
          <a:xfrm>
            <a:off x="827584" y="172046"/>
            <a:ext cx="7848872" cy="8086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4620" y="206925"/>
            <a:ext cx="8136904" cy="14859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Типы кабелей и структурированные кабельные системы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772816"/>
            <a:ext cx="774437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Физическая среда является основой, на которой строятся физические средства соединения. Сопряжение с физическими средствами соединения посредством физической среды обеспечивает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физический уровень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300"/>
              </a:spcBef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физической среды широко используются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эфир, металлы, оптическое стекло и кварц.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Среда передачи данных может </a:t>
            </a:r>
            <a:r>
              <a:rPr lang="ru-RU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включать как кабельные, так и беспроводные технологии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Хотя физические кабели являются наиболее распространенными носителями для сетевых коммуникаций, беспроводные технологии все более внедряются благодаря их способности связывать глобальные сети.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Механические и электрические (оптические) свойства среды передачи включают: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кабелей и разъемов;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разводку контактов в разъемах;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схему кодирования сигналов для значений 0 и 1.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7783" y="188640"/>
            <a:ext cx="8048615" cy="1143000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Типы кабелей и структурированные кабельные системы</a:t>
            </a:r>
            <a:endParaRPr lang="ru-RU" sz="3600" dirty="0"/>
          </a:p>
        </p:txBody>
      </p:sp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944441" y="1595408"/>
            <a:ext cx="7635356" cy="19389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качестве среды передачи данных используются различные виды кабелей: 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коаксиальный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на основе экранированной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неэкранированной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витой пары;</a:t>
            </a:r>
            <a:endParaRPr kumimoji="0" lang="ru-RU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оптоволоконный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47783" y="4293096"/>
            <a:ext cx="78286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популярным видом среды передачи данных на небольшие расстояния (до 100 м) является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неэкранированная витая пара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которая включена практически во все современные стандарты и технологии локальных сетей и обеспечивает пропускную способность до 100 Мбит/с (на кабелях категории 5) и выше. </a:t>
            </a:r>
            <a:endParaRPr lang="en-US" alt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88640"/>
            <a:ext cx="7690048" cy="1143000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Типы кабелей и структурированные кабельные системы</a:t>
            </a:r>
            <a:endParaRPr lang="ru-RU" sz="3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21158" y="3645024"/>
            <a:ext cx="77832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В качестве среды передачи данных в компьютерных сетях используются также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электромагнитные волны различных частот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КВ (короткие волны), УКВ (ультракороткие волны), СВЧ (сверхвысокие частоты). Однако пока в локальных сетях радиосвязь используется только в тех случаях, когда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оказывается невозможной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нецелесообразной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прокладка кабеля. Это объясняется недостаточной надежностью и, прежде всего, безопасностью сетевых технологий, построенных на использовании электромагнитного излучения.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21158" y="1556792"/>
            <a:ext cx="77832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23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отметим, что оптоволоконный кабель применяется как для построения локальных связей, так и для образования магистралей глобальных сетей. Оптоволоконный кабель может обеспечить очень высокую пропускную способность канала (до нескольких десятков Гб/с) и передачу на значительные расстояния (до нескольких десятков километров без промежуточного усиления сигнала).</a:t>
            </a:r>
            <a:endParaRPr lang="ru-RU" alt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1256" y="508655"/>
            <a:ext cx="7869915" cy="69158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Кабельные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980976" y="2780928"/>
            <a:ext cx="7651360" cy="26776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Структурированная кабельная система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Cabling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SCS) – это набор коммутационных элементов (кабелей, разъемов, </a:t>
            </a:r>
            <a:r>
              <a:rPr kumimoji="0" 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коннекторов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кроссовых панелей и шкафов), а также методика их совместного использования, которая позволяет создавать регулярные, легко расширяемые структуры связей в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компьютерных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сетях.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61256" y="1573244"/>
            <a:ext cx="75147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Фундаментом сети является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кабельная система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869915" cy="69158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Кабельные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40692" y="1561221"/>
            <a:ext cx="8062616" cy="43627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9920" algn="l"/>
              </a:tabLst>
            </a:pPr>
            <a:r>
              <a:rPr kumimoji="0" lang="ru-RU" sz="2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структурированной кабельной системы</a:t>
            </a:r>
            <a:endParaRPr kumimoji="0" lang="ru-RU" sz="20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Универсальность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Структурированная кабельная система при продуманной организации может стать единой средой для передачи любых компьютерных данных в компьютерной сети.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Увеличение срока службы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старения хорошо структурированной кабельной системы может составлять 8–10 лет или даже более.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Уменьшение стоимости добавления новых пользователей и изменения их мест размещения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кабельной системы в основном определяется не стоимостью кабеля, а стоимостью работ по его прокладке.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1847" y="166618"/>
            <a:ext cx="8229600" cy="69158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Кабельные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3568" y="1058253"/>
            <a:ext cx="7854760" cy="5078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9920" algn="l"/>
              </a:tabLst>
            </a:pPr>
            <a:r>
              <a:rPr kumimoji="0" lang="ru-RU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структурированной кабельной системы</a:t>
            </a:r>
            <a:endParaRPr kumimoji="0" lang="ru-RU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29920" algn="l"/>
              </a:tabLst>
            </a:pPr>
            <a:endParaRPr kumimoji="0" lang="ru-RU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Возможность легкого расширения сети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Структурированная кабельная система является модульной, поэтому ее легко наращивать, позволяя легко и ценой малых затрат переходить на более совершенное оборудование, удовлетворяющее растущим требованиям к системам коммуникаций.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Обеспечение более эффективного обслуживания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Структурированная кабельная система облегчает обслуживание и поиск неисправностей.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629920" algn="l"/>
              </a:tabLst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629920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Структурированная кабельная система имеет повышенную надежность, поскольку обычно производство всех ее компонентов и техническое сопровождение осуществляется одной фирмой-производителем.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120539" y="476672"/>
            <a:ext cx="7299833" cy="681752"/>
          </a:xfrm>
        </p:spPr>
        <p:txBody>
          <a:bodyPr>
            <a:no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20539" y="1484784"/>
            <a:ext cx="742727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Кабель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это достаточно сложное изделие, состоящее из проводников, слоев экрана и изоляции.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Обычно кабели присоединяются к оборудованию с помощью разъемов. Кроме этого, для обеспечения быстрой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перекоммутации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кабелей и оборудования используются различные электромеханические устройства, называемые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кроссовыми секциями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кроссовыми коробками,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шкафами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133363" y="288904"/>
            <a:ext cx="7299833" cy="681752"/>
          </a:xfrm>
        </p:spPr>
        <p:txBody>
          <a:bodyPr>
            <a:no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844950" y="3140968"/>
            <a:ext cx="6588246" cy="28392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539750" algn="l"/>
              </a:tabLst>
            </a:pP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Американский стандарт EIA/TIA-568A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который был разработан совместными усилиями нескольких организаций: ANSI, EIA/TIA и лабораторией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Underwriters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(UL). Стандарт EIA/TIA-568 разработан на основе предыдущей версии стандарта EIA/TIA-568 и дополнений к этому стандарту TSB-36 и TSB-40A).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539750" algn="l"/>
              </a:tabLst>
            </a:pPr>
            <a:endParaRPr kumimoji="0" lang="ru-RU" sz="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539750" algn="l"/>
              </a:tabLst>
            </a:pP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Международный стандарт ISO/IEC 11801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539750" algn="l"/>
              </a:tabLst>
            </a:pP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539750" algn="l"/>
              </a:tabLst>
            </a:pP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Европейский стандарт EN50173.</a:t>
            </a:r>
            <a:endParaRPr kumimoji="0" lang="ru-RU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005924" y="1240204"/>
            <a:ext cx="74272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компьютерных сетях применяются кабели, удовлетворяющие определенным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стандартам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что позволяет строить кабельную систему сети из кабелей и соединительных устройств разных производителей. Сегодня наиболее употребительными в мировой практике являются следующие стандарты.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59632" y="260648"/>
            <a:ext cx="7200800" cy="792088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62588" y="1340768"/>
            <a:ext cx="7272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  <a:tabLst>
                <a:tab pos="630555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Эти стандарты близки между собой и по многим позициям предъявляют к кабелям идентичные требования. Однако есть и различия между этими стандартами, например, в международный стандарт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ISO/IEC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11801 и европейский EN50173 вошли некоторые типы кабелей, которые отсутствуют в стандарте EIA/TAI-568A.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644620" y="2271357"/>
            <a:ext cx="7887820" cy="4401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ru-RU" sz="2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важные характеристики кабелей:</a:t>
            </a:r>
            <a:endParaRPr kumimoji="0" lang="ru-RU" sz="20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endParaRPr kumimoji="0" lang="ru-RU" sz="20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539750" algn="l"/>
              </a:tabLst>
            </a:pPr>
            <a:r>
              <a:rPr kumimoji="0" lang="ru-RU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Затухание 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Attenuation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Затухание измеряется в децибелах на метр для определенной частоты или диапазона частот сигнала.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</a:pPr>
            <a:r>
              <a:rPr kumimoji="0" lang="ru-RU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Перекрестные наводки на ближнем конце</a:t>
            </a: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Talk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NEСT). Измеряются в децибелах для определенной частоты сигнала.</a:t>
            </a:r>
            <a:endParaRPr kumimoji="0" lang="ru-RU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</a:pPr>
            <a:r>
              <a:rPr kumimoji="0" lang="ru-RU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Импеданс</a:t>
            </a: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impedance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волновое сопротивление) – это полное (активное и реактивное) сопротивление в электрической цепи. 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algn="just">
              <a:buFont typeface="Wingdings" panose="05000000000000000000" pitchFamily="2" charset="2"/>
              <a:buChar char="Ø"/>
            </a:pP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сопротивление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это сопротивление постоянному току в электрической цепи. В отличие от импеданса активное сопротивление не зависит от частоты и возрастает с увеличением длины кабеля.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99592" y="1017602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стандартах кабелей оговаривается достаточно много характеристик, из которых наиболее важные перечислены ниже.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Заголовок 2"/>
          <p:cNvSpPr txBox="1"/>
          <p:nvPr/>
        </p:nvSpPr>
        <p:spPr>
          <a:xfrm>
            <a:off x="1259632" y="260648"/>
            <a:ext cx="7200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899592" y="1272817"/>
            <a:ext cx="7776864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ru-RU" sz="2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важные характеристики кабелей:</a:t>
            </a:r>
            <a:endParaRPr kumimoji="0" lang="ru-RU" sz="20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endParaRPr kumimoji="0" lang="ru-RU" sz="20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algn="just">
              <a:buFont typeface="Wingdings" panose="05000000000000000000" pitchFamily="2" charset="2"/>
              <a:buChar char="Ø"/>
            </a:pP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Емкость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это свойство металлических проводников накапливать энергию.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algn="just"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algn="just">
              <a:buFont typeface="Wingdings" panose="05000000000000000000" pitchFamily="2" charset="2"/>
              <a:buChar char="Ø"/>
            </a:pP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внешнего электромагнитного излучения, 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электрический шум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Электрический шум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это нежелательное переменное напряжение в проводнике. Электрический шум бывает двух типов: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фоновый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algn="just"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0" algn="just">
              <a:buFont typeface="Wingdings" panose="05000000000000000000" pitchFamily="2" charset="2"/>
              <a:buChar char="Ø"/>
            </a:pP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Диаметр,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площадь сечения проводника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медных проводников достаточно употребительной является американская система AWG (American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вводит некоторые условные типы проводников, например 22 AWG, 24 AWG, 26 AWG. Чем больше номер типа проводника, тем меньше его диаметр.</a:t>
            </a:r>
            <a:endParaRPr lang="ru-RU" sz="2000" dirty="0">
              <a:latin typeface="Arial" panose="020B0604020202020204" pitchFamily="34" charset="0"/>
            </a:endParaRPr>
          </a:p>
        </p:txBody>
      </p:sp>
      <p:sp>
        <p:nvSpPr>
          <p:cNvPr id="4" name="Заголовок 2"/>
          <p:cNvSpPr txBox="1"/>
          <p:nvPr/>
        </p:nvSpPr>
        <p:spPr>
          <a:xfrm>
            <a:off x="1187624" y="251931"/>
            <a:ext cx="7200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charRg st="4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4426" y="219960"/>
            <a:ext cx="7200900" cy="840110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4426" y="1268760"/>
            <a:ext cx="76009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Витой парой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twisted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называется кабель, в котором изолированная пара проводников скручена с небольшим числом витков на единицу длины.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20481" name="Picture 1" descr="ch7-5"/>
          <p:cNvPicPr>
            <a:picLocks noChangeAspect="1" noChangeArrowheads="1"/>
          </p:cNvPicPr>
          <p:nvPr/>
        </p:nvPicPr>
        <p:blipFill rotWithShape="1">
          <a:blip r:embed="rId1"/>
          <a:srcRect t="6227" b="3931"/>
          <a:stretch>
            <a:fillRect/>
          </a:stretch>
        </p:blipFill>
        <p:spPr bwMode="auto">
          <a:xfrm>
            <a:off x="2123728" y="2123781"/>
            <a:ext cx="4737467" cy="2952329"/>
          </a:xfrm>
          <a:prstGeom prst="rect">
            <a:avLst/>
          </a:prstGeom>
          <a:noFill/>
        </p:spPr>
      </p:pic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114426" y="5301208"/>
            <a:ext cx="7743854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Скручивание проводов уменьшает электрические помехи извне при распространении сигналов по кабелю, а экранированные витые пары еще более увеличивают степень помехозащищенности сигналов.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используется во многих сетевых технологиях, включая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ARCNet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IBM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899592" y="5286388"/>
            <a:ext cx="79586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/>
          <p:cNvSpPr/>
          <p:nvPr/>
        </p:nvSpPr>
        <p:spPr>
          <a:xfrm>
            <a:off x="2661674" y="1489422"/>
            <a:ext cx="2808312" cy="648072"/>
          </a:xfrm>
          <a:prstGeom prst="roundRect">
            <a:avLst/>
          </a:prstGeom>
          <a:solidFill>
            <a:srgbClr val="FFF0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витая пара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 стрелкой 10"/>
          <p:cNvCxnSpPr>
            <a:endCxn id="12" idx="0"/>
          </p:cNvCxnSpPr>
          <p:nvPr/>
        </p:nvCxnSpPr>
        <p:spPr>
          <a:xfrm flipH="1">
            <a:off x="2229626" y="2137494"/>
            <a:ext cx="1152128" cy="276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825470" y="2413670"/>
            <a:ext cx="2808312" cy="648072"/>
          </a:xfrm>
          <a:prstGeom prst="roundRect">
            <a:avLst/>
          </a:prstGeom>
          <a:solidFill>
            <a:srgbClr val="FFF0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неэкранированные (UTP)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медные кабели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/>
          <p:cNvCxnSpPr>
            <a:endCxn id="17" idx="0"/>
          </p:cNvCxnSpPr>
          <p:nvPr/>
        </p:nvCxnSpPr>
        <p:spPr>
          <a:xfrm>
            <a:off x="4605890" y="2125638"/>
            <a:ext cx="126014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4461874" y="2413670"/>
            <a:ext cx="2808312" cy="648072"/>
          </a:xfrm>
          <a:prstGeom prst="roundRect">
            <a:avLst/>
          </a:prstGeom>
          <a:solidFill>
            <a:srgbClr val="FFF0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экранированные медные кабели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Прямая со стрелкой 18"/>
          <p:cNvCxnSpPr>
            <a:endCxn id="29" idx="0"/>
          </p:cNvCxnSpPr>
          <p:nvPr/>
        </p:nvCxnSpPr>
        <p:spPr>
          <a:xfrm flipH="1">
            <a:off x="4461874" y="3067703"/>
            <a:ext cx="943921" cy="42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endCxn id="30" idx="0"/>
          </p:cNvCxnSpPr>
          <p:nvPr/>
        </p:nvCxnSpPr>
        <p:spPr>
          <a:xfrm>
            <a:off x="6457728" y="3058202"/>
            <a:ext cx="976844" cy="44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Скругленный прямоугольник 28"/>
          <p:cNvSpPr/>
          <p:nvPr/>
        </p:nvSpPr>
        <p:spPr>
          <a:xfrm>
            <a:off x="3057718" y="3490797"/>
            <a:ext cx="2808312" cy="648072"/>
          </a:xfrm>
          <a:prstGeom prst="roundRect">
            <a:avLst/>
          </a:prstGeom>
          <a:solidFill>
            <a:srgbClr val="FFF0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STP – 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Shielded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6030416" y="3501008"/>
            <a:ext cx="2808312" cy="648072"/>
          </a:xfrm>
          <a:prstGeom prst="roundRect">
            <a:avLst/>
          </a:prstGeom>
          <a:solidFill>
            <a:srgbClr val="FFF0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 – 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Foiled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Twisted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Заголовок 1"/>
          <p:cNvSpPr txBox="1"/>
          <p:nvPr/>
        </p:nvSpPr>
        <p:spPr>
          <a:xfrm>
            <a:off x="1114426" y="219960"/>
            <a:ext cx="7200900" cy="8401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7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1600" y="2104036"/>
          <a:ext cx="7920880" cy="3845243"/>
        </p:xfrm>
        <a:graphic>
          <a:graphicData uri="http://schemas.openxmlformats.org/drawingml/2006/table">
            <a:tbl>
              <a:tblPr/>
              <a:tblGrid>
                <a:gridCol w="2874052"/>
                <a:gridCol w="5046828"/>
              </a:tblGrid>
              <a:tr h="385379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Обозначение 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экранирования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</a:tr>
              <a:tr h="727941">
                <a:tc>
                  <a:txBody>
                    <a:bodyPr/>
                    <a:lstStyle/>
                    <a:p>
                      <a:pPr marL="71755"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UTP </a:t>
                      </a:r>
                      <a:endParaRPr lang="ru-RU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1755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Unshielded</a:t>
                      </a:r>
                      <a:r>
                        <a:rPr kumimoji="0" lang="ru-R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Twisted</a:t>
                      </a:r>
                      <a:r>
                        <a:rPr kumimoji="0" lang="ru-R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Pair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Экранирования нет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727941">
                <a:tc>
                  <a:txBody>
                    <a:bodyPr/>
                    <a:lstStyle/>
                    <a:p>
                      <a:pPr marL="71755"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FTP </a:t>
                      </a:r>
                      <a:endParaRPr lang="ru-RU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1755" algn="just"/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Foiled</a:t>
                      </a:r>
                      <a:r>
                        <a:rPr kumimoji="0" lang="ru-RU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Twisted</a:t>
                      </a:r>
                      <a:r>
                        <a:rPr kumimoji="0" lang="ru-RU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Pair</a:t>
                      </a: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витые пары кабеля экранированы общим внешним экраном из фольги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1001991">
                <a:tc>
                  <a:txBody>
                    <a:bodyPr/>
                    <a:lstStyle/>
                    <a:p>
                      <a:pPr marL="71755"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STP </a:t>
                      </a:r>
                      <a:endParaRPr lang="ru-RU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1755" algn="just"/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Shielded</a:t>
                      </a:r>
                      <a:r>
                        <a:rPr kumimoji="0" lang="ru-RU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Twisted</a:t>
                      </a:r>
                      <a:r>
                        <a:rPr kumimoji="0" lang="ru-RU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2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Pair</a:t>
                      </a:r>
                      <a:r>
                        <a:rPr kumimoji="0" lang="en-US" sz="2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2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витые пары кабеля экранированы общим внешним экраном из фольги и каждая витая пара дополнительно экранирована фольгой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1001991">
                <a:tc>
                  <a:txBody>
                    <a:bodyPr/>
                    <a:lstStyle/>
                    <a:p>
                      <a:pPr marL="71755"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S/FTP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витые пары кабеля экранированы общим внешним экраном из медной оплетки и каждая витая пара дополнительно экранирована фольгой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</a:tbl>
          </a:graphicData>
        </a:graphic>
      </p:graphicFrame>
      <p:sp>
        <p:nvSpPr>
          <p:cNvPr id="13" name="Заголовок 1"/>
          <p:cNvSpPr txBox="1"/>
          <p:nvPr/>
        </p:nvSpPr>
        <p:spPr>
          <a:xfrm>
            <a:off x="1114426" y="219960"/>
            <a:ext cx="7200900" cy="8401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14426" y="1700808"/>
            <a:ext cx="734600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318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мере совершенствования технологических возможностей количество категорий увеличивалось, и в настоящее время достигло семи. Главным критерием для отнесения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кабеля к одной из категорий является его скоростные возможности по передаче информационных данных. Скорость измеряется, в Мбит/сек. Чем число больше, тем больший объем информации способен пропустить кабель витых пар в единицу времени.</a:t>
            </a:r>
            <a:endParaRPr lang="ru-RU" sz="14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/>
          <p:nvPr/>
        </p:nvSpPr>
        <p:spPr>
          <a:xfrm>
            <a:off x="1114426" y="332656"/>
            <a:ext cx="7200900" cy="8401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899592" y="980728"/>
          <a:ext cx="7910863" cy="5687426"/>
        </p:xfrm>
        <a:graphic>
          <a:graphicData uri="http://schemas.openxmlformats.org/drawingml/2006/table">
            <a:tbl>
              <a:tblPr/>
              <a:tblGrid>
                <a:gridCol w="947904"/>
                <a:gridCol w="1139700"/>
                <a:gridCol w="2346442"/>
                <a:gridCol w="3476817"/>
              </a:tblGrid>
              <a:tr h="338873">
                <a:tc>
                  <a:txBody>
                    <a:bodyPr/>
                    <a:lstStyle/>
                    <a:p>
                      <a:pPr algn="ctr"/>
                      <a:r>
                        <a:rPr lang="ru-RU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 кабеля</a:t>
                      </a:r>
                      <a:endParaRPr lang="ru-RU" sz="15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Полоса частот до, МГц</a:t>
                      </a:r>
                      <a:endParaRPr lang="ru-RU" sz="15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 передачи данных до, Мбит/сек</a:t>
                      </a:r>
                      <a:endParaRPr lang="ru-RU" sz="15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и конструкция</a:t>
                      </a:r>
                      <a:endParaRPr lang="ru-RU" sz="15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</a:tr>
              <a:tr h="4422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речевого сигнала, телефонная «лапша» ТРП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4422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пары проводников, сейчас не применяется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54564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парный кабель для телефонных и локальных сетей протяженностью до 100 метров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33887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парный кабель, сейчас не применяется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Применялся в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token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ring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сетях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56959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 при использовании 2 пар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 при использовании 4 пар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парный кабель для телефонных и локальных сетей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33887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5e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при использовании 2 пар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(10000) при</a:t>
                      </a:r>
                      <a:r>
                        <a:rPr lang="ru-RU" sz="15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использовании 4 пар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UTP 4 парный кабель для компьютерных сетей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Представляет собой доработанный кабель 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5. Обеспечивает аналогичную скорость при меньших габаритах.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Обеспечивает</a:t>
                      </a:r>
                      <a:r>
                        <a:rPr lang="ru-RU" sz="150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до 10 Гбит/с на расстоянии 55м.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</a:tbl>
          </a:graphicData>
        </a:graphic>
      </p:graphicFrame>
      <p:sp>
        <p:nvSpPr>
          <p:cNvPr id="4" name="Заголовок 1"/>
          <p:cNvSpPr txBox="1"/>
          <p:nvPr/>
        </p:nvSpPr>
        <p:spPr>
          <a:xfrm>
            <a:off x="755576" y="140618"/>
            <a:ext cx="7200900" cy="7681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899592" y="1412776"/>
          <a:ext cx="7939691" cy="4580192"/>
        </p:xfrm>
        <a:graphic>
          <a:graphicData uri="http://schemas.openxmlformats.org/drawingml/2006/table">
            <a:tbl>
              <a:tblPr/>
              <a:tblGrid>
                <a:gridCol w="1143854"/>
                <a:gridCol w="1345710"/>
                <a:gridCol w="2489564"/>
                <a:gridCol w="2960563"/>
              </a:tblGrid>
              <a:tr h="338873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 кабеля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Полоса частот до, МГц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 передачи данных до, Мбит/сек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и конструкция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B5"/>
                    </a:solidFill>
                  </a:tcPr>
                </a:tc>
              </a:tr>
              <a:tr h="54564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CAT6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1 000 Мбит/с при использовании 4 пар, 10 000 Мбит/с на расстоянии до 50 метров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UTP 4 парный кабель для компьютерных сетей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54564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Обеспечивает</a:t>
                      </a:r>
                      <a:r>
                        <a:rPr lang="ru-RU" sz="160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до 10 Гбит/с на расстоянии 100м.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UTP 4 парный кабель высокоскоростных линий Интернет.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54564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Обеспечивает</a:t>
                      </a:r>
                      <a:r>
                        <a:rPr lang="ru-RU" sz="160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до 10 Гбит/с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S/FTP 4 парный кабель высокоскоростных линий Интернет.</a:t>
                      </a:r>
                      <a:r>
                        <a:rPr lang="ru-RU" sz="16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  <a:tr h="54564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Обеспечивает</a:t>
                      </a:r>
                      <a:r>
                        <a:rPr lang="ru-RU" sz="16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передачу на скоростях до 40 Гбит/с на расстоянии до 50 метров и до 100Гбит/с на расстоянии до 15 м.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S/FTP 4 парный кабель высокоскоростных линий Интернет.</a:t>
                      </a:r>
                      <a:r>
                        <a:rPr lang="ru-RU" sz="16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59" marR="14359" marT="14359" marB="14359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5"/>
                    </a:solidFill>
                  </a:tcPr>
                </a:tc>
              </a:tr>
            </a:tbl>
          </a:graphicData>
        </a:graphic>
      </p:graphicFrame>
      <p:sp>
        <p:nvSpPr>
          <p:cNvPr id="4" name="Заголовок 1"/>
          <p:cNvSpPr txBox="1"/>
          <p:nvPr/>
        </p:nvSpPr>
        <p:spPr>
          <a:xfrm>
            <a:off x="755576" y="260648"/>
            <a:ext cx="7200900" cy="7681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3" y="1666049"/>
            <a:ext cx="75608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Отметим, что пары проводов в кабеле витая пара шестой категории CAT6 (6а) свиты с более частым шагом и по центру кабеля имеется, в отличие от кабеля CAT5, дополнительная изоляция между парами. Такая конструкция позволяет снизить перекрестные помехи и тем самым увеличить скорость передачи информационных данных. Кабель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использует технологии экранирования.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/>
          <p:nvPr/>
        </p:nvSpPr>
        <p:spPr>
          <a:xfrm>
            <a:off x="899593" y="332656"/>
            <a:ext cx="7200900" cy="7681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 типа «витая пара»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776864" cy="1152128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Кабельные системы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экранированной витой пары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7713" y="1373561"/>
            <a:ext cx="7776864" cy="545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ts val="2200"/>
              </a:lnSpc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Экранированная витая пара STP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хорошо защищает передаваемые сигналы от внешних помех, а также меньше излучает электромагнитных колебаний вовне, что защищает, в свою очередь, пользователей сетей от вредного для здоровья излучения. Наличие заземляемого экрана удорожает кабель и усложняет его прокладку, так как требует выполнения качественного заземления. Экранированный кабель применяется только для передачи данных, а голос по нему не передают.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lnSpc>
                <a:spcPts val="2200"/>
              </a:lnSpc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lnSpc>
                <a:spcPts val="22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Основным стандартом, определяющим параметры экранированной витой пары, является фирменный стандарт IBM. В этом стандарте кабели делятся не на категории, а на типы: 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Туре 1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Туре 2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..., 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Туре 9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lnSpc>
                <a:spcPts val="2200"/>
              </a:lnSpc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lnSpc>
                <a:spcPts val="22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Электрические параметры кабеля Туре 1 примерно соответствуют параметрам кабеля UTP категории 5. Некоторые стандарты поддерживают кабель STP Туре 1 –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 100VG-AnyLAN, а также Fast Ethernet (хотя основным типом кабеля для Fast Ethernet является UTP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CAT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5).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332656"/>
            <a:ext cx="7848922" cy="119339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Кабельные системы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неэкранированной витой пары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971550" y="1458272"/>
            <a:ext cx="7600928" cy="29392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Характеристики неэкранированной витой пары</a:t>
            </a:r>
            <a:r>
              <a:rPr kumimoji="0" lang="ru-RU" sz="20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sz="20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диаметр проводников 0.4–0.6 мм (22~26 AWG), 4 скрученных пары (8 проводников, из которых для 10Base-T, 100Base-TX 1000Base-TX используются одну, две или четыре пары (кабель должен иметь категорию 3, 5 или 6 и качество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выше);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максимальная длина сегмента 100 м;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разъемы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восьмиконтактные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RJ-45. 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6" name="Рисунок 23" descr="rj-4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647280" y="4806988"/>
            <a:ext cx="1849440" cy="1432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402629"/>
            <a:ext cx="7200900" cy="122390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разводки кабеля типа «Витая пара»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4" name="Picture 2" descr="mhtml:file://J:\Пособие%20по%20сетям\Разводка%20кабеля%20типа%20'витая%20пара'.mht!pic/t568a.gif"/>
          <p:cNvPicPr>
            <a:picLocks noChangeAspect="1" noChangeArrowheads="1"/>
          </p:cNvPicPr>
          <p:nvPr/>
        </p:nvPicPr>
        <p:blipFill>
          <a:blip r:embed="rId1" r:link="rId2"/>
          <a:srcRect/>
          <a:stretch>
            <a:fillRect/>
          </a:stretch>
        </p:blipFill>
        <p:spPr bwMode="auto">
          <a:xfrm>
            <a:off x="880163" y="2575125"/>
            <a:ext cx="1215647" cy="2061313"/>
          </a:xfrm>
          <a:prstGeom prst="rect">
            <a:avLst/>
          </a:prstGeom>
          <a:noFill/>
        </p:spPr>
      </p:pic>
      <p:pic>
        <p:nvPicPr>
          <p:cNvPr id="28673" name="Picture 1" descr="mhtml:file://J:\Пособие%20по%20сетям\Разводка%20кабеля%20типа%20'витая%20пара'.mht!pic/t568b.gif"/>
          <p:cNvPicPr>
            <a:picLocks noChangeAspect="1" noChangeArrowheads="1"/>
          </p:cNvPicPr>
          <p:nvPr/>
        </p:nvPicPr>
        <p:blipFill>
          <a:blip r:embed="rId3" r:link="rId2"/>
          <a:srcRect/>
          <a:stretch>
            <a:fillRect/>
          </a:stretch>
        </p:blipFill>
        <p:spPr bwMode="auto">
          <a:xfrm>
            <a:off x="2172045" y="2594299"/>
            <a:ext cx="1214446" cy="2059277"/>
          </a:xfrm>
          <a:prstGeom prst="rect">
            <a:avLst/>
          </a:prstGeom>
          <a:noFill/>
        </p:spPr>
      </p:pic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323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360680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467543" y="4954469"/>
            <a:ext cx="315708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Схемы разводки витой пары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678" name="Picture 6" descr="mhtml:file://J:\Пособие%20по%20сетям\Разводка%20кабеля%20типа%20'витая%20пара'.mht!pic/usoc4.gif"/>
          <p:cNvPicPr>
            <a:picLocks noChangeAspect="1" noChangeArrowheads="1"/>
          </p:cNvPicPr>
          <p:nvPr/>
        </p:nvPicPr>
        <p:blipFill>
          <a:blip r:embed="rId4" r:link="rId2"/>
          <a:srcRect/>
          <a:stretch>
            <a:fillRect/>
          </a:stretch>
        </p:blipFill>
        <p:spPr bwMode="auto">
          <a:xfrm>
            <a:off x="4246670" y="2169113"/>
            <a:ext cx="1185741" cy="2788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43699" y="2575125"/>
            <a:ext cx="1520148" cy="232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6324216" y="5000635"/>
            <a:ext cx="235224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Схема </a:t>
            </a:r>
            <a:r>
              <a:rPr kumimoji="0" 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восьмипинового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разъема для сетей </a:t>
            </a:r>
            <a:r>
              <a:rPr kumimoji="0" 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Token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Ring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3705026" y="4983559"/>
            <a:ext cx="228598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Двупарная конфигурация системы USOC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rot="5400000">
            <a:off x="1646647" y="3964785"/>
            <a:ext cx="37862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>
            <a:off x="4107653" y="4036223"/>
            <a:ext cx="392909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03519" y="1412776"/>
          <a:ext cx="7600929" cy="4619884"/>
        </p:xfrm>
        <a:graphic>
          <a:graphicData uri="http://schemas.openxmlformats.org/drawingml/2006/table">
            <a:tbl>
              <a:tblPr/>
              <a:tblGrid>
                <a:gridCol w="943259"/>
                <a:gridCol w="2477158"/>
                <a:gridCol w="977511"/>
                <a:gridCol w="2339709"/>
                <a:gridCol w="863292"/>
              </a:tblGrid>
              <a:tr h="1121820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Контакт разъема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Расположение проводников по таблице Т568А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сигнала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Расположение проводников по таблице Т568В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сигнала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Бело-зеленый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Бело-оранжевый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Rx-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Зеленый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Оранжевый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Rx+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Бело-оранжевый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Rx+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Бело-зеленый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Tx+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Бело-синий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Бело-синий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Оранжевый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Rx-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Зеленый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Бело-коричневый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Бело-коричневый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25518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Коричневый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Коричневый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6709" marR="96709" marT="96709" marB="9670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7367" marR="77367" marT="38683" marB="38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1599" y="136300"/>
            <a:ext cx="76009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разводки кабеля типа «Витая пара»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79712" y="2366298"/>
            <a:ext cx="66648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0419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передаче сигнала со скоростью 1Гбит/с задействованы все 4 пары проводников.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мегабитного соединения необходимы только 2 пары — зеленая и оранжевая.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этом случае для передачи сигнала используются контакты 1 и 2 коннектора, а для приема — 3 и 6. Синяя и коричневая пары остаются свободными.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2886" y="476672"/>
            <a:ext cx="76009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разводки кабеля типа «Витая пара»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9592" y="2438306"/>
            <a:ext cx="9361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0854" y="188640"/>
            <a:ext cx="7200900" cy="1368152"/>
          </a:xfrm>
        </p:spPr>
        <p:txBody>
          <a:bodyPr>
            <a:noAutofit/>
          </a:bodyPr>
          <a:lstStyle/>
          <a:p>
            <a:r>
              <a:rPr lang="ru-RU" sz="3200" b="1" dirty="0"/>
              <a:t>Кросс-разводка кабеля типа </a:t>
            </a:r>
            <a:br>
              <a:rPr lang="ru-RU" sz="3200" b="1" dirty="0"/>
            </a:br>
            <a:r>
              <a:rPr lang="ru-RU" sz="3200" b="1" dirty="0"/>
              <a:t>«витая пара»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80854" y="1478794"/>
            <a:ext cx="77059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две разновидности коммутационных шнуров в зависимости от типа соединяемых устройств: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патч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-корд, который используется для соединения сетевой карты с коммутационным оборудованием.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Перекрестный (кроссовый)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патч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-корд для соединения однотипных устройств, например двух компьютеров.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56347" y="3573016"/>
            <a:ext cx="33843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обжим витой пары по стандарту EIA/TIA-568A</a:t>
            </a:r>
            <a:endParaRPr 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EIA-568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683" y="3573015"/>
            <a:ext cx="3568911" cy="32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683568" y="3501008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414219"/>
            <a:ext cx="7200900" cy="1485900"/>
          </a:xfrm>
        </p:spPr>
        <p:txBody>
          <a:bodyPr>
            <a:normAutofit/>
          </a:bodyPr>
          <a:lstStyle/>
          <a:p>
            <a:r>
              <a:rPr lang="ru-RU" b="1" dirty="0"/>
              <a:t>Кросс-разводка кабеля типа </a:t>
            </a:r>
            <a:br>
              <a:rPr lang="ru-RU" b="1" dirty="0"/>
            </a:br>
            <a:r>
              <a:rPr lang="ru-RU" b="1" dirty="0"/>
              <a:t>«витая пара»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97306" y="2721233"/>
            <a:ext cx="33843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обжим витой пары по стандарту EIA/TIA-568B</a:t>
            </a:r>
            <a:endParaRPr 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EIA-568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134" y="3212604"/>
            <a:ext cx="38100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2216" y="286916"/>
            <a:ext cx="7200900" cy="1359742"/>
          </a:xfrm>
        </p:spPr>
        <p:txBody>
          <a:bodyPr>
            <a:noAutofit/>
          </a:bodyPr>
          <a:lstStyle/>
          <a:p>
            <a:r>
              <a:rPr lang="ru-RU" sz="3200" b="1" dirty="0"/>
              <a:t>Кросс-разводка кабеля типа </a:t>
            </a:r>
            <a:br>
              <a:rPr lang="ru-RU" sz="3200" b="1" dirty="0"/>
            </a:br>
            <a:r>
              <a:rPr lang="ru-RU" sz="3200" b="1" dirty="0"/>
              <a:t>«витая пара»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75656" y="1796970"/>
            <a:ext cx="30963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Перекрестный обжим витой пары</a:t>
            </a:r>
            <a:endParaRPr 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rossover Fast Etherne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784" y="1772816"/>
            <a:ext cx="38100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773197" y="5235496"/>
            <a:ext cx="79312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0419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 перекрестном соединении один конец кабеля обжимается по схеме Т568А, а второй — Т568В.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50419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Так как все сетевые устройства, поддерживающие технологию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Gigabit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могут автоматически подстраиваться под соответствующий тип соединения, необходимость в кроссовом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-корде отпадает.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971550" y="260648"/>
            <a:ext cx="7200900" cy="1296144"/>
          </a:xfrm>
        </p:spPr>
        <p:txBody>
          <a:bodyPr/>
          <a:lstStyle/>
          <a:p>
            <a:r>
              <a:rPr lang="ru-RU" b="1" dirty="0"/>
              <a:t>Кросс-разводка кабеля типа </a:t>
            </a:r>
            <a:br>
              <a:rPr lang="ru-RU" b="1" dirty="0"/>
            </a:br>
            <a:r>
              <a:rPr lang="ru-RU" b="1" dirty="0"/>
              <a:t>«витая пара»</a:t>
            </a:r>
            <a:endParaRPr lang="ru-RU" dirty="0"/>
          </a:p>
        </p:txBody>
      </p:sp>
      <p:pic>
        <p:nvPicPr>
          <p:cNvPr id="5122" name="Picture 2" descr="Изготовление патч-корд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2762885"/>
            <a:ext cx="6146800" cy="4095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5305" y="201842"/>
            <a:ext cx="7835148" cy="763959"/>
          </a:xfrm>
        </p:spPr>
        <p:txBody>
          <a:bodyPr/>
          <a:lstStyle/>
          <a:p>
            <a:r>
              <a:rPr lang="ru-RU" b="1" dirty="0"/>
              <a:t>Коаксиальные кабели  </a:t>
            </a:r>
            <a:endParaRPr lang="ru-RU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 rotWithShape="1">
          <a:blip r:embed="rId1"/>
          <a:srcRect l="3239" r="2230"/>
          <a:stretch>
            <a:fillRect/>
          </a:stretch>
        </p:blipFill>
        <p:spPr bwMode="auto">
          <a:xfrm>
            <a:off x="959700" y="4073759"/>
            <a:ext cx="4252973" cy="2254748"/>
          </a:xfrm>
          <a:prstGeom prst="rect">
            <a:avLst/>
          </a:prstGeom>
          <a:noFill/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5576" y="1278039"/>
            <a:ext cx="783514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23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Коаксиальные кабели используются в радио- и телевизионной аппаратуре.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Коаксиальные кабели могут передавать данные со скоростью 10 Мбит/с на максимальное расстояние от 185 до 500 метров. Они разделяются на толстые и тонкие в зависимости от толщины.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MiсroCoaxial+Cu (01-2602), Кабель коаксиальный d-4мм, 75 Ом черный  (OBSOLETE) | купить в розницу и оптом"/>
          <p:cNvSpPr>
            <a:spLocks noChangeAspect="1" noChangeArrowheads="1"/>
          </p:cNvSpPr>
          <p:nvPr/>
        </p:nvSpPr>
        <p:spPr bwMode="auto">
          <a:xfrm>
            <a:off x="5508104" y="332776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pic>
        <p:nvPicPr>
          <p:cNvPr id="6148" name="Picture 4" descr="MiсroCoaxial+Cu (01-2602), Кабель коаксиальный d-4мм, 75 Ом черный  (OBSOLETE) | купить в розницу и опто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052489"/>
            <a:ext cx="2992986" cy="22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5305" y="201842"/>
            <a:ext cx="7835148" cy="763959"/>
          </a:xfrm>
        </p:spPr>
        <p:txBody>
          <a:bodyPr/>
          <a:lstStyle/>
          <a:p>
            <a:r>
              <a:rPr lang="ru-RU" b="1" dirty="0"/>
              <a:t>Коаксиальные кабели. Типы  </a:t>
            </a:r>
            <a:endParaRPr lang="ru-RU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785786" y="4930188"/>
            <a:ext cx="7715304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                                              </a:t>
            </a:r>
            <a:endParaRPr kumimoji="0" 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825306" y="1782695"/>
          <a:ext cx="7835148" cy="3352800"/>
        </p:xfrm>
        <a:graphic>
          <a:graphicData uri="http://schemas.openxmlformats.org/drawingml/2006/table">
            <a:tbl>
              <a:tblPr/>
              <a:tblGrid>
                <a:gridCol w="1683585"/>
                <a:gridCol w="6151563"/>
              </a:tblGrid>
              <a:tr h="0">
                <a:tc>
                  <a:txBody>
                    <a:bodyPr/>
                    <a:lstStyle/>
                    <a:p>
                      <a:pPr indent="450215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 panose="02020603050405020304"/>
                          <a:ea typeface="Times New Roman" panose="02020603050405020304"/>
                        </a:rPr>
                        <a:t>       Тип</a:t>
                      </a:r>
                      <a:endParaRPr lang="ru-RU" sz="20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b="1">
                          <a:latin typeface="Times New Roman" panose="02020603050405020304"/>
                          <a:ea typeface="Times New Roman" panose="02020603050405020304"/>
                        </a:rPr>
                        <a:t>Название, значение сопротивления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RG-8 и RG-11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Thicknet, 50 Ом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RG-58/U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 panose="02020603050405020304"/>
                          <a:ea typeface="Times New Roman" panose="02020603050405020304"/>
                        </a:rPr>
                        <a:t>Thinnet</a:t>
                      </a:r>
                      <a:r>
                        <a:rPr lang="ru-RU" sz="2000" dirty="0">
                          <a:latin typeface="Times New Roman" panose="02020603050405020304"/>
                          <a:ea typeface="Times New Roman" panose="02020603050405020304"/>
                        </a:rPr>
                        <a:t>, 50 Ом, сплошной центральный медный проводник</a:t>
                      </a:r>
                      <a:endParaRPr lang="ru-RU" sz="20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 panose="02020603050405020304"/>
                          <a:ea typeface="Times New Roman" panose="02020603050405020304"/>
                        </a:rPr>
                        <a:t>RG-58 А/U</a:t>
                      </a:r>
                      <a:endParaRPr lang="ru-RU" sz="20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Thinnet, 50 Ом, центральный многожильный проводник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RG-59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Broadband/Cable television (широковещательное и кабельное телевидение), 75 Ом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RG-59 /U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 panose="02020603050405020304"/>
                          <a:ea typeface="Times New Roman" panose="02020603050405020304"/>
                        </a:rPr>
                        <a:t>Broadband/Cable television (широковещательное и кабельное телевидение), 50 Ом</a:t>
                      </a:r>
                      <a:endParaRPr lang="ru-RU" sz="2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 panose="02020603050405020304"/>
                          <a:ea typeface="Times New Roman" panose="02020603050405020304"/>
                        </a:rPr>
                        <a:t>RG-62</a:t>
                      </a:r>
                      <a:endParaRPr lang="ru-RU" sz="20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 panose="02020603050405020304"/>
                          <a:ea typeface="Times New Roman" panose="02020603050405020304"/>
                        </a:rPr>
                        <a:t>ARCNet</a:t>
                      </a:r>
                      <a:r>
                        <a:rPr lang="ru-RU" sz="2000" dirty="0">
                          <a:latin typeface="Times New Roman" panose="02020603050405020304"/>
                          <a:ea typeface="Times New Roman" panose="02020603050405020304"/>
                        </a:rPr>
                        <a:t>, 93 Ом</a:t>
                      </a:r>
                      <a:endParaRPr lang="ru-RU" sz="20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AutoShape 2" descr="MiсroCoaxial+Cu (01-2602), Кабель коаксиальный d-4мм, 75 Ом черный  (OBSOLETE) | купить в розницу и оптом"/>
          <p:cNvSpPr>
            <a:spLocks noChangeAspect="1" noChangeArrowheads="1"/>
          </p:cNvSpPr>
          <p:nvPr/>
        </p:nvSpPr>
        <p:spPr bwMode="auto">
          <a:xfrm>
            <a:off x="5508104" y="332776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1556792"/>
            <a:ext cx="7776864" cy="3775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Bef>
                <a:spcPts val="1400"/>
              </a:spcBef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Кабель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Thinnet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известный как кабель RG-58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является наиболее широко используемым физическим носителем данных в коаксиальных сетях. Сети при этом не требуют дополнительного оборудования и являются простыми и недорогими.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1400"/>
              </a:spcBef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Тонкий коаксиальный кабель 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Ethernet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позволяет осуществлять передачу на меньшее расстояние, чем толстый.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1400"/>
              </a:spcBef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Используется в технологии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Ethernet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10Base2.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Заголовок 1"/>
          <p:cNvSpPr txBox="1"/>
          <p:nvPr/>
        </p:nvSpPr>
        <p:spPr>
          <a:xfrm>
            <a:off x="1060377" y="260648"/>
            <a:ext cx="7835148" cy="76395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Коаксиальные кабели. Типы  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60377" y="1556792"/>
            <a:ext cx="74720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Толстый коаксиальный кабель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Thick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Ethernet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имеет большую степень помехозащищенности, большую механическую прочность, но требует специального приспособления для прокалывания кабеля, чтобы создать ответвления для подключения к ЛВС.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Он более дорогой и менее гибкий, чем тонкий.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Используется в технологии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Ethernet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10Base5. Сети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ARCNet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 передачей маркера обычно используют кабель RG-62 А/U.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/>
          <p:nvPr/>
        </p:nvSpPr>
        <p:spPr>
          <a:xfrm>
            <a:off x="1060377" y="260648"/>
            <a:ext cx="7835148" cy="76395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Коаксиальные кабели. Типы  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755576" y="1700808"/>
            <a:ext cx="7779909" cy="50167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Характеристики спецификации 10Base2: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тонкий коаксиальный кабель;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характеристики кабеля: диаметр 0.2 дюйма, RG-58A/U 50 Ом;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приемлемые разъемы – BNC;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максимальная длина сегмента – 185 м;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минимальное расстояние между узлами – 0.5 м;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максимальное число узлов в сегменте – 30.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323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Характеристики спецификации 10Base5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толстый коаксиальный кабель;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волновое сопротивление – 50 Ом;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максимальная длина сегмента – 500 метров;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минимальное расстояние между узлами – 2.5 м;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3238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максимальное число узлов в сегменте – 100.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/>
          <p:cNvSpPr txBox="1"/>
          <p:nvPr/>
        </p:nvSpPr>
        <p:spPr>
          <a:xfrm>
            <a:off x="1060377" y="260648"/>
            <a:ext cx="7835148" cy="122413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/>
              <a:t>Коаксиальные кабели. Параметры  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656" y="288008"/>
            <a:ext cx="7769776" cy="764728"/>
          </a:xfrm>
        </p:spPr>
        <p:txBody>
          <a:bodyPr/>
          <a:lstStyle/>
          <a:p>
            <a:r>
              <a:rPr lang="ru-RU" b="1" dirty="0"/>
              <a:t>Оптоволоконный кабель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95656" y="1268030"/>
            <a:ext cx="7769776" cy="2593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sz="2000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Волоконно-оптические линии связи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это вид связи, при котором информация передается по оптическим диэлектрическим волноводам, известным под названием «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оптическое волокно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Оптическое волокно в настоящее время считается самой совершенной физической средой для передачи информации, а также самой перспективной средой для передачи больших потоков информации на значительные расстояния. Основания так считать вытекают из ряда особенностей, присущих оптическим волноводам.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2" descr="ÐÐ°ÑÑÐ¸Ð½ÐºÐ¸ Ð¿Ð¾ Ð·Ð°Ð¿ÑÐ¾ÑÑ Ð¾Ð¿ÑÐ¾Ð²Ð¾Ð»Ð¾ÐºÐ½Ð¾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19" y="3904630"/>
            <a:ext cx="5462633" cy="280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72808" cy="764728"/>
          </a:xfrm>
        </p:spPr>
        <p:txBody>
          <a:bodyPr/>
          <a:lstStyle/>
          <a:p>
            <a:r>
              <a:rPr lang="ru-RU" b="1" dirty="0"/>
              <a:t>Оптоволоконный кабель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1556792"/>
            <a:ext cx="7272808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Волоконно-оптический кабель состоит из тонких (5-60 микрон) волокон, по которым распространяются световые сигналы. Это наиболее качественный тип кабеля – он обеспечивает передачу данных с очень высокой скоростью и к тому же лучше других типов передающей среды обеспечивает защиту данных от внешних помех.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300382"/>
            <a:ext cx="7715200" cy="1112393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Оптоволоконный кабель. Структура</a:t>
            </a:r>
            <a:endParaRPr lang="ru-RU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43808" y="3476308"/>
            <a:ext cx="4071966" cy="3274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827584" y="1556792"/>
            <a:ext cx="7787208" cy="193899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323850" algn="just">
              <a:spcBef>
                <a:spcPts val="300"/>
              </a:spcBef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Волоконно-оптические кабели состоят из центрального проводника света (сердцевины) – стеклянного волокна, окруженного другим слоем стекла – оболочкой, обладающей меньшим показателем преломления, чем сердцевина. Распространяясь по сердцевине, лучи света не выходят за ее пределы, отражаясь от покрывающего слоя оболочки.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7166" y="188640"/>
            <a:ext cx="7690048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Физические особенности.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556792"/>
            <a:ext cx="7690048" cy="523220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Высокую пропускную способность за счёт высокой несущей частоты. Потенциальная возможность одного оптического волокна – несколько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терабит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информации за 1 секунду. Говоря другими словами, по одному волокну можно передать одновременно десятки миллионов телефонных разговоров и миллион видеосигналов.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buFont typeface="Wingdings" panose="05000000000000000000" pitchFamily="2" charset="2"/>
              <a:buChar char="ü"/>
            </a:pP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Волоконно-оптический кабель отличается низким уровнем шума, что положительно сказывается на его пропускной способности и возможности передавать сигналы различной модуляции.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buFont typeface="Wingdings" panose="05000000000000000000" pitchFamily="2" charset="2"/>
              <a:buChar char="ü"/>
            </a:pP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Скорость передачи данных может быть увеличена за счет передачи информации сразу в двух направлениях, так как световые волны могут распространяться в одном волокне независимо друг от друга. На сегодняшний день предел по плотности передаваемой информации по оптическому волокну не достигнут.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1937" y="332656"/>
            <a:ext cx="759486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Физические особенности.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1763688"/>
            <a:ext cx="7571184" cy="46012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323850" algn="just">
              <a:spcBef>
                <a:spcPts val="300"/>
              </a:spcBef>
              <a:spcAft>
                <a:spcPts val="0"/>
              </a:spcAft>
            </a:pPr>
            <a:endParaRPr lang="ru-RU" sz="16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Очень малое (по сравнению с другими средами) затухание светового сигнала в волокне. Лучшие образцы российского волокна имеют затухание 0.22 дБ/км на длине волны 1.55 мкм, что позволяет строить линии связи на сотни километров без 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регенерации сигналов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(промежуточного усиления). Для сравнения, лучшее волокно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Sumitomo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 длине волны 1.55 мкм имеет затухание 0.154 дБ/км. В лабораториях разрабатываются еще более «прозрачные», так называемые </a:t>
            </a:r>
            <a:r>
              <a:rPr lang="ru-RU" sz="20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фторцирконатные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волокна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 теоретическим пределом порядка 0,02 дБ/км на длине волны 2.5 мкм. Лабораторные исследования показали, что на основе таких волокон могут быть созданы линии связи с регенерационными участками через 4600 км при скорости передачи порядка 1 Гбит/с.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8208912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Технические особенности. Достоинства</a:t>
            </a:r>
            <a:r>
              <a:rPr lang="ru-RU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1534428"/>
            <a:ext cx="7776864" cy="50680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Волокно изготовлено из кварца, основу которого составляет двуокись кремния, широко распространенного, а потому недорогого материала, в отличие от меди. Другим популярным исходным материалом выступают продуктов органического синтеза (полимеры).</a:t>
            </a:r>
            <a:endParaRPr lang="ru-RU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Оптические волокна имеют диаметр около десятков микрометром, то есть очень компактны и легки, что делает их перспективными для использования в авиации, приборостроении, в кабельной технике.</a:t>
            </a:r>
            <a:endParaRPr lang="ru-RU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связи на основе оптических волокон устойчивы к электромагнитным помехам, а передаваемая по </a:t>
            </a:r>
            <a:r>
              <a:rPr lang="ru-RU" sz="19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световодам</a:t>
            </a:r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информация защищена от несанкционированного доступа. </a:t>
            </a:r>
            <a:endParaRPr lang="ru-RU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Волоконно-оптические линии связи нельзя подслушать неразрушающим способом. Всякие воздействия на волокно могут быть зарегистрированы методом мониторинга (непрерывного контроля) целостности линии. В случае попыток прослушивания встроенная система контроля может отключить канал и предупредить о подозреваемом взломе.</a:t>
            </a:r>
            <a:endParaRPr lang="ru-RU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240420"/>
            <a:ext cx="7787208" cy="1604403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Технические особенности. Достоинства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55816" y="2276872"/>
            <a:ext cx="7632848" cy="39395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lvl="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Пожарная безопасность (</a:t>
            </a:r>
            <a:r>
              <a:rPr lang="ru-RU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пожароустойчивость</a:t>
            </a: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). В отличие от других систем связи, ВОЛС может использоваться безо всяких ограничений на предприятиях повышенной опасности, в частности на нефтехимических производствах, благодаря отсутствию искрообразования.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Важное свойство оптического волокна – долговечность. Время жизни волокна, то есть сохранение им своих свойств в определенных пределах, превышает 25 лет, что позволяет проложить оптико-волоконный кабель один раз и, по мере необходимости, наращивать пропускную способность канала путем замены приемников и передатчиков на более быстродействующие.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70559"/>
            <a:ext cx="7931224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Технические особенности. Недостатки</a:t>
            </a:r>
            <a:r>
              <a:rPr lang="ru-RU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71600" y="1691680"/>
            <a:ext cx="7787208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 создании линии связи требуются высоконадежные активные элементы, преобразующие электрические сигналы в свет и свет в электрические сигналы. Необходимы также оптические коннекторы (соединители) с малыми оптическими потерями и большим ресурсом на подключение-отключение.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Точность изготовления таких элементов линии связи должна соответствовать длине волны излучения, то есть погрешности должны быть порядка доли микрона. Поэтому производство таких компонентов оптических линий связи очень дорогостоящее.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монтажа оптических волокон требуется прецизионное (высокоточное), а потому дорогое, технологическое оборудование. Как следствие, при аварии (обрыве) оптического кабеля затраты на восстановление выше, чем при работе с медными кабелями.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386934"/>
            <a:ext cx="7643191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Технические особенности. Недостатки</a:t>
            </a:r>
            <a:r>
              <a:rPr lang="ru-RU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91680" y="2060848"/>
            <a:ext cx="67070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Преимущества от применения волоконно-оптических линий связи настолько значительны, что, несмотря на перечисленные недостатки оптического волокна, эти линии связи все шире используются для передачи информации.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99592" y="1706905"/>
            <a:ext cx="9361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353081"/>
            <a:ext cx="7715200" cy="120371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оптоволокна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2060848"/>
            <a:ext cx="7742832" cy="381642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84642"/>
            <a:ext cx="7185992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Коннекторы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ÐÐ°ÑÑÐ¸Ð½ÐºÐ¸ Ð¿Ð¾ Ð·Ð°Ð¿ÑÐ¾ÑÑ Ð¾Ð¿ÑÐ¾Ð²Ð¾Ð»Ð¾ÐºÐ½Ð¾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60"/>
          <a:stretch>
            <a:fillRect/>
          </a:stretch>
        </p:blipFill>
        <p:spPr bwMode="auto">
          <a:xfrm>
            <a:off x="1907704" y="1484784"/>
            <a:ext cx="5616624" cy="511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74435" y="1844824"/>
            <a:ext cx="770202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64352" y="278651"/>
            <a:ext cx="76121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Разновидности</a:t>
            </a:r>
            <a:endParaRPr lang="ru-RU" sz="3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1100845" y="1916827"/>
            <a:ext cx="7359587" cy="38164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выделить следующие основные виды оптоволоконных кабелей для передачи данных исходя из области применения: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323850" algn="just" fontAlgn="base">
              <a:spcBef>
                <a:spcPct val="0"/>
              </a:spcBef>
              <a:spcAft>
                <a:spcPct val="0"/>
              </a:spcAft>
            </a:pP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прокладки внутри зданий;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кабельной канализации небронированный;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кабельной канализации бронированный;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укладки в грунт;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подвесной самонесущий;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тросом;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подводный.</a:t>
            </a:r>
            <a:endParaRPr kumimoji="0" 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4352" y="278651"/>
            <a:ext cx="76121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кабель. Разновидности</a:t>
            </a:r>
            <a:endParaRPr lang="ru-RU" sz="3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9" y="404664"/>
            <a:ext cx="65763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прокладки внутри зданий</a:t>
            </a:r>
            <a:endParaRPr lang="ru-RU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habrastorage.org/files/59a/a79/f1d/59aa79f1dfab42969a60133942330e3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19" y="1916518"/>
            <a:ext cx="4921804" cy="12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43609" y="3717032"/>
            <a:ext cx="74168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Конструкция оптоволоконных кабелей для прокладки в зданиях включает в себя оптическое волокно, защитное покрытие и центральный силовой элемент, например, пучок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арамидных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нитей. К оптике, прокладываемой в помещениях, есть особые требования по противопожарной безопасности, такие как нераспространение горения и низкое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дымовыделение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поэтому в качестве оболочки для них используется не полиэтилен, а полиуретан. Другие требования — это низкая масса кабеля, гибкость и небольшой размер. 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1" y="332656"/>
            <a:ext cx="70567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Небронированный </a:t>
            </a:r>
            <a:endParaRPr lang="ru-RU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канализационный кабель</a:t>
            </a:r>
            <a:endParaRPr lang="ru-RU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50884" y="3654153"/>
            <a:ext cx="784887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Небронированная оптика используется для укладки в канализации, при условии, что на нее не будет внешних механических воздействий. Также подобный кабель прокладывается в тоннелях, коллекторах и зданиях.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Характерной особенностью данного типа оптоволоконного кабеля можно назвать наличие гидрофобного наполнителя (компаунда), который гарантирует возможность эксплуатации в условиях канализации и дает некоторую защиту от влаги.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habrastorage.org/files/4d9/251/696/4d92516967f04c25aea4fc0b35d2d3e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64422"/>
            <a:ext cx="468623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9" y="196421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Бронированный </a:t>
            </a:r>
            <a:endParaRPr lang="ru-RU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канализационный кабель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87624" y="3215514"/>
            <a:ext cx="756084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Бронированные оптоволоконные кабели используются при наличии больших внешних нагрузок, в особенности, на растяжение. Бронирование может быть различным, ленточным или проволочным.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Кабели с ленточным бронированием используются в менее агрессивных условиях, например, при прокладке в кабельной канализации, трубах, тоннелях, на мостах. Ленточное бронирование представляет собой стальную гладкую или гофрированную трубку толщиной в 0,15-0,25 мм. При более суровых условиях эксплуатации, например, при закладке в грунт или на дно рек используются кабели с проволочной броней.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s://habrastorage.org/files/52d/653/362/52d65336202b424380f0410eda42145e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772816"/>
            <a:ext cx="5209985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34971" y="258691"/>
            <a:ext cx="6070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для укладки в грунт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59633" y="3395711"/>
            <a:ext cx="74888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прокладки в грунт используют оптические кабели с проволочной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одноповивной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двухповивиной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броней. Также применяются и усиленные кабели с ленточным бронированием, но значительно реже.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условиях влажного грунта используется модель кабеля, оптоволоконная часть которого заключена в герметичную металлическую трубку, а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бронеповивы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проволоки пропитаны специальным водоотталкивающим компаундом.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ttps://habrastorage.org/files/87e/b2e/eb4/87eb2eeb4ad1439bb70463c178df23e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556792"/>
            <a:ext cx="487540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334397"/>
            <a:ext cx="6887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Подвесной самонесущий кабель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3429000"/>
            <a:ext cx="76812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Подвесные самонесущие кабели монтируются на уже существующих опорах воздушных линий связи и высоковольтных ЛЭП. В конструкции самонесущих подвесных оптических кабелей обязательно присутствует ЦСЭ — центральный силовой элемент, изготовленный из стеклопластика или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арамидных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нитей.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https://habrastorage.org/files/20b/685/a8b/20b685a8b56346b69fc2e92d371bdfa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12776"/>
            <a:ext cx="5633502" cy="160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334397"/>
            <a:ext cx="6887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Подвесной самонесущий кабель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1412776"/>
            <a:ext cx="768122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зависимости от строения сердечника различают несколько типов подвесного кабеля: </a:t>
            </a:r>
            <a:endParaRPr lang="ru-RU" sz="2000" u="sng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с профилированным сердечником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содержит оптические волокна или модули с этими волокнами – кабель устойчив к растяжению и сдавливанию;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со скрученными модулями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содержит оптические волокна, свободно уложенные, кабель устойчив к растяжениям;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Кабель с одним оптическим модулем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сердечник данного типа кабеля не имеет силовых элементов, поскольку они находятся в оболочке. Такие кабели обладают недостатком, связанным с неудобством идентификации волокон. Тем не менее, они обладают меньшим диаметром и более доступной ценой.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260648"/>
            <a:ext cx="6210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Оптический кабель с тросом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3124903"/>
            <a:ext cx="79449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Оптические кабеля с тросом — это разновидность самонесущих кабелей, которые также используются для воздушной прокладки. В таком изделии трос может быть несущим и навивным. Еще существуют модели, в которых оптика встроена в грозозащитный трос.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habrastorage.org/files/37a/881/75f/37a88175fc6b4a1080bc1d0ad718b7b6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2776"/>
            <a:ext cx="4464496" cy="145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01081" y="131234"/>
            <a:ext cx="74210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Подводный оптический кабель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43609" y="2996952"/>
            <a:ext cx="770485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Данный тип оптических кабелей стоит в сторонке от всех остальных, так как прокладывается в принципиально иных условиях. Почти все типы подводных кабелей, так или иначе, бронированы, а степень бронирования уже зависит от рельефа дна и глубины залегания.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Различают следующие основные типы подводных кабелей (по типу бронирования): </a:t>
            </a:r>
            <a:endParaRPr lang="ru-RU" sz="2000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 бронирован;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Одинарное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одноповивное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бронирование;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Усиленное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одноповивное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бронирование;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Усиленное скальное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двухповивное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бронирование.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habrastorage.org/getpro/habr/post_images/3ea/aa0/99d/3eaaa099d6075b3fb9f84b75feb99e7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196752"/>
            <a:ext cx="4464496" cy="144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ÐÐ°ÑÑÐ¸Ð½ÐºÐ¸ Ð¿Ð¾ Ð·Ð°Ð¿ÑÐ¾ÑÑ Ð¾Ð¿ÑÐ¾Ð²Ð¾Ð»Ð¾ÐºÐ½Ð¾ Ð¿Ð¾Ð´Ð²Ð¾Ð´Ð½Ð¾Ðµ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32856"/>
            <a:ext cx="841959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07704" y="332656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ÐÐ°ÑÑÐ¸Ð½ÐºÐ¸ Ð¿Ð¾ Ð·Ð°Ð¿ÑÐ¾ÑÑ Ð¾Ð¿ÑÐ¾Ð²Ð¾Ð»Ð¾ÐºÐ½Ð¾ Ð½Ð° Ð´Ð½Ðµ Ð¾ÐºÐµÐ°Ð½Ð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68760"/>
            <a:ext cx="8062864" cy="537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71600" y="163927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ÐÐ¾ÑÐ¾Ð¶ÐµÐµ Ð¸Ð·Ð¾Ð±ÑÐ°Ð¶ÐµÐ½Ð¸Ðµ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7"/>
          <a:stretch>
            <a:fillRect/>
          </a:stretch>
        </p:blipFill>
        <p:spPr bwMode="auto">
          <a:xfrm>
            <a:off x="1907704" y="836712"/>
            <a:ext cx="6191595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59632" y="0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ÐÐ°ÑÑÐ¸Ð½ÐºÐ¸ Ð¿Ð¾ Ð·Ð°Ð¿ÑÐ¾ÑÑ Ð¾Ð¿ÑÐ¾Ð²Ð¾Ð»Ð¾ÐºÐ½Ð¾ Ð¿Ð¾Ð´Ð²Ð¾Ð´Ð½Ð¾Ðµ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80728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116632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ÐÐ¾ÑÐ¾Ð¶ÐµÐµ Ð¸Ð·Ð¾Ð±ÑÐ°Ð¶ÐµÐ½Ð¸Ðµ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"/>
          <a:stretch>
            <a:fillRect/>
          </a:stretch>
        </p:blipFill>
        <p:spPr bwMode="auto">
          <a:xfrm>
            <a:off x="774314" y="1196752"/>
            <a:ext cx="8090499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332656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8371635" cy="491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332656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96752"/>
            <a:ext cx="7964829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260648"/>
            <a:ext cx="624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Оптоволоконный кабель </a:t>
            </a:r>
            <a:endParaRPr lang="ru-RU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0</TotalTime>
  <Words>25495</Words>
  <Application>WPS Presentation</Application>
  <PresentationFormat>Экран (4:3)</PresentationFormat>
  <Paragraphs>622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3" baseType="lpstr">
      <vt:lpstr>Arial</vt:lpstr>
      <vt:lpstr>SimSun</vt:lpstr>
      <vt:lpstr>Wingdings</vt:lpstr>
      <vt:lpstr>Franklin Gothic Book</vt:lpstr>
      <vt:lpstr>Times New Roman</vt:lpstr>
      <vt:lpstr>Microsoft YaHei</vt:lpstr>
      <vt:lpstr>Arial Unicode MS</vt:lpstr>
      <vt:lpstr>Calibri</vt:lpstr>
      <vt:lpstr>Times New Roman</vt:lpstr>
      <vt:lpstr>Уголки</vt:lpstr>
      <vt:lpstr>КОМПОНЕНТЫ КОМПЬЮТЕРНЫХ СЕТЕЙ. ФИЗИЧЕСКАЯ СРЕДА ПЕРЕДАЧИ ДАННЫХ. КАБЕЛИ И КАБЕЛЬНЫЕ СИСТЕМЫ</vt:lpstr>
      <vt:lpstr>Основные компоненты сетей</vt:lpstr>
      <vt:lpstr>PowerPoint 演示文稿</vt:lpstr>
      <vt:lpstr>Типы кабелей и структурированные кабельные системы</vt:lpstr>
      <vt:lpstr>Типы кабелей и структурированные кабельные системы</vt:lpstr>
      <vt:lpstr>Типы кабелей и структурированные кабельные системы</vt:lpstr>
      <vt:lpstr>Кабельные системы</vt:lpstr>
      <vt:lpstr>Кабельные системы</vt:lpstr>
      <vt:lpstr>Кабельные системы</vt:lpstr>
      <vt:lpstr>Стандарты кабелей</vt:lpstr>
      <vt:lpstr>Стандарты кабелей</vt:lpstr>
      <vt:lpstr>Стандарты кабелей</vt:lpstr>
      <vt:lpstr>PowerPoint 演示文稿</vt:lpstr>
      <vt:lpstr>PowerPoint 演示文稿</vt:lpstr>
      <vt:lpstr>Кабель типа «витая пара»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Кабельные системы Ethernet на основе экранированной витой пары</vt:lpstr>
      <vt:lpstr>Кабельные системы Ethernet на основе неэкранированной витой пары</vt:lpstr>
      <vt:lpstr>Стандартные разводки кабеля типа «Витая пара»</vt:lpstr>
      <vt:lpstr>PowerPoint 演示文稿</vt:lpstr>
      <vt:lpstr>PowerPoint 演示文稿</vt:lpstr>
      <vt:lpstr>Кросс-разводка кабеля типа  «витая пара»</vt:lpstr>
      <vt:lpstr>Кросс-разводка кабеля типа  «витая пара»</vt:lpstr>
      <vt:lpstr>Кросс-разводка кабеля типа  «витая пара»</vt:lpstr>
      <vt:lpstr>Кросс-разводка кабеля типа  «витая пара»</vt:lpstr>
      <vt:lpstr>Коаксиальные кабели  </vt:lpstr>
      <vt:lpstr>Коаксиальные кабели. Типы  </vt:lpstr>
      <vt:lpstr>PowerPoint 演示文稿</vt:lpstr>
      <vt:lpstr>PowerPoint 演示文稿</vt:lpstr>
      <vt:lpstr>PowerPoint 演示文稿</vt:lpstr>
      <vt:lpstr>Оптоволоконный кабель</vt:lpstr>
      <vt:lpstr>Оптоволоконный кабель</vt:lpstr>
      <vt:lpstr>Оптоволоконный кабель. Структура</vt:lpstr>
      <vt:lpstr>Оптоволоконный кабель. Физические особенности.  </vt:lpstr>
      <vt:lpstr>Оптоволоконный кабель. Физические особенности.  </vt:lpstr>
      <vt:lpstr>Оптоволоконный кабель. Технические особенности. Достоинства  </vt:lpstr>
      <vt:lpstr>Оптоволоконный кабель. Технические особенности. Достоинства  </vt:lpstr>
      <vt:lpstr>Оптоволоконный кабель. Технические особенности. Недостатки  </vt:lpstr>
      <vt:lpstr>Оптоволоконный кабель. Технические особенности. Недостатки  </vt:lpstr>
      <vt:lpstr>Оптоволоконный кабель. Структура оптоволокна  </vt:lpstr>
      <vt:lpstr>Оптоволоконный кабель. Коннекторы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Физическая среда передачи данных</dc:title>
  <dc:creator>DmitriM</dc:creator>
  <cp:lastModifiedBy>USER</cp:lastModifiedBy>
  <cp:revision>52</cp:revision>
  <dcterms:created xsi:type="dcterms:W3CDTF">2010-11-27T08:30:00Z</dcterms:created>
  <dcterms:modified xsi:type="dcterms:W3CDTF">2024-12-20T09:18:31Z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931F3E4B0640487F9442C3F7793E87CE_12</vt:lpwstr>
  </property>
  <property fmtid="{D5CDD505-2E9C-101B-9397-08002B2CF9AE}" pid="3" name="KSOProductBuildVer">
    <vt:lpwstr>1033-12.2.0.19307</vt:lpwstr>
  </property>
</Properties>
</file>
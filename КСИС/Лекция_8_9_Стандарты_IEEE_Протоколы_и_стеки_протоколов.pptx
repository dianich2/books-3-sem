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57" r:id="rId13"/>
    <p:sldId id="273" r:id="rId14"/>
    <p:sldId id="258" r:id="rId15"/>
    <p:sldId id="259" r:id="rId16"/>
    <p:sldId id="260" r:id="rId17"/>
    <p:sldId id="261" r:id="rId18"/>
    <p:sldId id="262" r:id="rId19"/>
    <p:sldId id="274" r:id="rId20"/>
    <p:sldId id="263" r:id="rId21"/>
    <p:sldId id="275" r:id="rId22"/>
    <p:sldId id="277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1152" y="4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2879CCB-A0D3-47FC-AB4A-05531E35FE6A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21DF914-0E7E-4047-B917-6A1DD36A5922}" type="slidenum">
              <a:rPr lang="ru-RU" altLang="ru-RU" smtClean="0"/>
            </a:fld>
            <a:endParaRPr lang="ru-RU" altLang="ru-RU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52F186-0524-4014-9103-839149EC4DBB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F862D-6C5D-4333-9C2E-2A6183959C18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577778F-6EC9-45BC-9654-7E1562A8139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FA4F778-EA7A-4ADD-9C5F-4064A7BF4C71}" type="slidenum">
              <a:rPr lang="ru-RU" altLang="ru-RU" smtClean="0"/>
            </a:fld>
            <a:endParaRPr lang="ru-RU" altLang="ru-RU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6396CD-631D-41B4-BB84-A227166E4FDD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2D1037-5E97-4110-808C-1D362418F8E4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3ECC4E-7573-4737-AEBA-0E810A8E8AC5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747ACC-5F83-420D-B201-DA6ABCB4050F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69F591-4E98-4D45-88C9-8404215BD961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8EB39-FC5E-493E-9401-4EE08EB4C9C4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0A6EA8-4108-4026-B7C3-9F366E35C8AD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800698-DEC3-4834-B50F-A6E7D935C983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B2A82C3-5555-4F26-A3FF-B037E0D6E96C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A8B2873-1905-4827-8631-F237DE084BB2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85AB148-B052-44FF-B08A-8F9A29FB23D0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8A8ABDA-8168-4277-8D09-06A793BA5D26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7B3E95-7E48-49E7-BBC5-A1ED507AEA6D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C6BB20-ADEB-4FF0-AD4A-5F1232903E40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7ED9F-4FAA-4970-9357-5F81E3CDD69F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AD0DC5-1EBD-464C-9041-07F073586A44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254DD0B-9F9B-455D-95E0-5B809D61DC2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7A3705F-B4C2-466F-8A6A-71B55CBE3AFE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ctrTitle"/>
          </p:nvPr>
        </p:nvSpPr>
        <p:spPr>
          <a:xfrm>
            <a:off x="1373430" y="2901720"/>
            <a:ext cx="6270922" cy="2098226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Протоколы и стеки протоколов</a:t>
            </a:r>
            <a:br>
              <a:rPr lang="ru-RU" altLang="ru-RU" b="1" dirty="0" smtClean="0"/>
            </a:br>
            <a:endParaRPr lang="ru-RU" altLang="ru-RU" dirty="0" smtClean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95736" y="4293096"/>
            <a:ext cx="5123755" cy="1086237"/>
          </a:xfrm>
        </p:spPr>
        <p:txBody>
          <a:bodyPr rtlCol="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endParaRPr lang="ru-RU" dirty="0" smtClean="0"/>
          </a:p>
          <a:p>
            <a:pPr algn="r" eaLnBrk="1" fontAlgn="auto" hangingPunct="1">
              <a:spcAft>
                <a:spcPts val="0"/>
              </a:spcAft>
              <a:defRPr/>
            </a:pPr>
            <a:r>
              <a:rPr lang="ru-RU" dirty="0" smtClean="0"/>
              <a:t>Лекция </a:t>
            </a:r>
            <a:r>
              <a:rPr lang="ru-RU" dirty="0" smtClean="0"/>
              <a:t>8-9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5616" y="1556792"/>
            <a:ext cx="73448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Спецификации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 802 (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Institute of Electrical and Electronics Engineers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определяют стандарты для физических компонентов сети. Эти компоненты – </a:t>
            </a: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сетевая карта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Network Interface Card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NIC) и </a:t>
            </a: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сетевой носитель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network media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которые относятся к физическому и канальному уровням модели OSI. </a:t>
            </a:r>
            <a:endParaRPr lang="ru-RU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Спецификации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IEEE802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определяют механизм доступа адаптера к каналу связи и механизм передачи данных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4149080"/>
            <a:ext cx="7344816" cy="206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Стандарты IEEE 802 подразделяют канальный уровень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два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подуровня: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2185" indent="-4572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Logical Link Control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(LLC) – 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подуровень управления логической связью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2185" indent="-4572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 Access Control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(MAC) – 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подуровень управления доступом к устройствам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5616" y="1412776"/>
            <a:ext cx="7200900" cy="405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Существует </a:t>
            </a:r>
            <a:r>
              <a:rPr lang="ru-RU" sz="20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более двадцати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спецификаций IEEE 802.</a:t>
            </a:r>
            <a:endParaRPr lang="en-US" sz="16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07704" y="1989858"/>
            <a:ext cx="6480720" cy="471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 IEEE 802.1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Internetworking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 сетей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задает механизмы управления сетью на MAC-уровне. 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802.2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Logical Link Control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управление логической связью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определяет функционирование подуровня LLC на канальном уровне модели OSI. LLC обеспечивает интерфейс между методами доступа к среде и сетевым уровнем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802.3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Ethernet Carrier Sense Multiple Access with Collision Detection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CSMA/CD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LANs Ethernet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множественный доступ к сетям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 проверкой несущей и обнаружением конфликтов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описывает физический уровень и подуровень MAC для сетей, использующих шинную топологию и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множественный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доступ с прослушиванием несущей и обнаружением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коллизий.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59632" y="1628800"/>
            <a:ext cx="6984776" cy="513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 IEEE 802.4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Token Bus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LAN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локальные сети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Token Bus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определяет метод доступа к шине с передачей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маркера. Прототипом сети является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ArcNet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802.5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 Ring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LAN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локальные сети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 Ring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описывает метод доступа к кольцу с передачей маркера, прототип –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 Ring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802.6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Metropolitan Area Network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городские или муниципальные сети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описывает рекомендации для региональных сетей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802.7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Broadband Technical Advisory Group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техническая консультационная группа по широковещательной передаче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описывает рекомендации по широкополосным сетевым технологиям, носителям, интерфейсу и оборудованию.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31640" y="1628800"/>
            <a:ext cx="6912768" cy="4156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802.8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Fiber Technical Advisory Group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техническая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консультационная группа по оптоволоконным сетям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содержит обсуждение использования оптических кабелей в сетях со стандартом 802.3 – 802.6, а также рекомендации по оптоволоконным сетевым технологиям, носителям, интерфейсу и оборудованию, прототип – сеть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FDDI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Fiber Distributed Data Interface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802.9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Integrated Voice and Data Network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интегрированные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сети передачи голоса и данных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задает архитектуру и интерфейсы устройств одновременной передачи данных и голоса по одной линии, а также содержит рекомендации по гибридным сетям, в которых объединяют голосовой трафик и трафик данных в одной и той же сетевой среде.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31640" y="1628800"/>
            <a:ext cx="6912768" cy="4340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стандарте IEEE 802.10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Security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сетевая безопасность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рассмотрены вопросы обмена данными,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шифрования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(на основе криптографического преобразования информации), управления сетями и безопасности в сетевых архитектурах, совместимых с моделью OSI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802.11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Wireless Network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беспроводные сети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описывает рекомендации по использованию беспроводных сетей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802.12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описывает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рекомендации по использованию сетей 100VG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AnyLAN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 скоростью100 Мб/с и методом доступа по очереди запросов и по приоритету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Demand Priority Queuing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DPQ,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Demand Priority Access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DPA).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31640" y="1628800"/>
            <a:ext cx="6912768" cy="5459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802.14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определяет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функционирование кабельных модемов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802.15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 Area Network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персональные сети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рассматривает вопросы организации персональных сетей. В настоящее время уже существует несколько спецификаций данного стандарта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802.16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предназначен для реализации широкополосных каналов в городских сетях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В отличии от 802.11 он ориентирован для соединения стационарных, а не мобильных объектов. Его задачей является обеспечения сетевого уровня между локальными сетями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802.11) и региональными сетями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где планируется применение разрабатываемого стандарта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802.20. Эти стандарты совместно со стандартом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802.15 и 802.17 образуют взаимосогласованную иерархию протоколов беспроводной связи.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31640" y="1628800"/>
            <a:ext cx="6912768" cy="4570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 802.17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называется RPR (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Resilient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адаптивное кольцо для пакетов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и в отличие от FDDI (а также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или DQDB)  пакеты удаляются из кольца узлом-адресатом, что позволяет осуществлять несколько обменов одновременно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802.18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представляет собой требования и рекомендации технической консультативной группы по радиочастотному регулированию – RTAG 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Advisory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802.19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представляет собой  требования и рекомендации технической консультативной группы по сосуществованию – CTAG 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Coexistence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Advisory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31640" y="1628800"/>
            <a:ext cx="6912768" cy="5078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/>
            <a:r>
              <a:rPr lang="ru-RU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</a:t>
            </a:r>
            <a:r>
              <a:rPr lang="ru-RU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ru-RU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802.20</a:t>
            </a: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описывает правила беспроводного мобильного широкополосного доступа MBWA (</a:t>
            </a:r>
            <a:r>
              <a:rPr lang="ru-RU" i="1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ru-RU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Broadband</a:t>
            </a:r>
            <a:r>
              <a:rPr lang="ru-RU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Wireless</a:t>
            </a:r>
            <a:r>
              <a:rPr lang="ru-RU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для пакетного интерфейса в беспроводных городских сетях WMAN. Этот стандарт должен поддерживать услуги по передаче данных с IP в качестве транспортного протокола и дополнять стандарт IEEE 802.16 в масштабе </a:t>
            </a:r>
            <a:r>
              <a:rPr lang="ru-RU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WiMAX</a:t>
            </a: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indent="457200" algn="just"/>
            <a:endParaRPr lang="en-US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802.21 –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стандарт независимой от среды эстафетной передаче соединений – MIHS 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Handover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802.22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определяет функционирование беспроводных региональных сетей WRAN 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Wireless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Regional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использующих для передачи данных телевизионные частотные диапазоны.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457200" algn="just"/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/>
          <a:lstStyle/>
          <a:p>
            <a:r>
              <a:rPr lang="en-US" dirty="0" smtClean="0"/>
              <a:t>Стандарты </a:t>
            </a:r>
            <a:r>
              <a:rPr lang="en-US" dirty="0" smtClean="0"/>
              <a:t>IEEE 802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31640" y="1628800"/>
            <a:ext cx="6912768" cy="5675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802.23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тот стандарт определяет независимую от среды структуру в рамках IEEE 802 для обеспечения согласованного доступа к данным. Сюда входит интерфейс уровня канала передачи данных для согласованного просмотра сетей IEEE 802 с помощью возможностей служб экстренной помощи на основе протокола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IEEE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802.24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ехнологии IEEE 802 применяются для поддержки вертикальных приложений. В данном контексте стандарт IEEE 802.24 определяет, что делают горизонтальные технологии в поддержке приложений. Примерами потенциальных категорий вертикальных приложений могут выступать: умные сети, интеллектуальные транспортные системы (ITS), умные дома, умные города, электронное здравоохранение и т.д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Стандарт 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802.25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(пока не ратифицирован) –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затаргивает вопросы организации Omni-Range Area Network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457200" algn="just"/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Прямоугольник 3"/>
          <p:cNvSpPr>
            <a:spLocks noChangeArrowheads="1"/>
          </p:cNvSpPr>
          <p:nvPr/>
        </p:nvSpPr>
        <p:spPr bwMode="auto">
          <a:xfrm>
            <a:off x="899592" y="1408872"/>
            <a:ext cx="7815783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Согласованный 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 протоколов разных уровней, достаточный для организации межсетевого взаимодействия, называется </a:t>
            </a:r>
            <a:r>
              <a:rPr lang="ru-RU" altLang="ru-RU" sz="2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стеком протоколов</a:t>
            </a:r>
            <a:r>
              <a:rPr lang="ru-RU" alt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ru-RU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уровня определяется набор функций–запросов для взаимодействия с выше лежащим уровнем, который называется </a:t>
            </a:r>
            <a:r>
              <a:rPr lang="ru-RU" altLang="ru-RU" sz="22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интерфейсом</a:t>
            </a:r>
            <a:r>
              <a:rPr lang="ru-RU" altLang="ru-RU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ru-RU" sz="22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 двух машин могут быть описаны в виде набора процедур для каждого из уровней, которые называются </a:t>
            </a:r>
            <a:r>
              <a:rPr lang="ru-RU" altLang="ru-RU" sz="2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протоколами</a:t>
            </a:r>
            <a:r>
              <a:rPr lang="ru-RU" alt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altLang="ru-RU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Прямоугольник 4"/>
          <p:cNvSpPr>
            <a:spLocks noChangeArrowheads="1"/>
          </p:cNvSpPr>
          <p:nvPr/>
        </p:nvSpPr>
        <p:spPr bwMode="auto">
          <a:xfrm>
            <a:off x="971029" y="5733256"/>
            <a:ext cx="7744346" cy="76944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Примерами популярных стеков протоколов могут служить стек I</a:t>
            </a:r>
            <a:r>
              <a:rPr lang="ru-RU" altLang="ru-RU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PX/SPX </a:t>
            </a:r>
            <a:r>
              <a:rPr lang="ru-RU" alt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фирмы </a:t>
            </a:r>
            <a:r>
              <a:rPr lang="en-US" alt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Novell</a:t>
            </a:r>
            <a:r>
              <a:rPr lang="ru-RU" alt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стек </a:t>
            </a:r>
            <a:r>
              <a:rPr lang="ru-RU" altLang="ru-RU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</a:t>
            </a:r>
            <a:r>
              <a:rPr lang="en-US" altLang="ru-RU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>
            <a:normAutofit fontScale="90000"/>
          </a:bodyPr>
          <a:lstStyle/>
          <a:p>
            <a:pPr lvl="0"/>
            <a:r>
              <a:rPr lang="ru-RU" b="1" dirty="0"/>
              <a:t>Протоколы и стеки протоколов</a:t>
            </a:r>
            <a:endParaRPr lang="en-US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/>
          <p:cNvCxnSpPr/>
          <p:nvPr/>
        </p:nvCxnSpPr>
        <p:spPr>
          <a:xfrm flipV="1">
            <a:off x="971029" y="5443274"/>
            <a:ext cx="7744346" cy="1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Прямоугольник 5"/>
          <p:cNvSpPr>
            <a:spLocks noChangeArrowheads="1"/>
          </p:cNvSpPr>
          <p:nvPr/>
        </p:nvSpPr>
        <p:spPr bwMode="auto">
          <a:xfrm>
            <a:off x="1259632" y="1772817"/>
            <a:ext cx="7200800" cy="3232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общем случае можно выделить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три укрупненных уровня протоколов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характерных в той или иной степени для любых стеков: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lvl="0" indent="-34290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сетевые;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lvl="0" indent="-34290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транспортные; 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lvl="0" indent="-34290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прикладные.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008112"/>
          </a:xfrm>
        </p:spPr>
        <p:txBody>
          <a:bodyPr>
            <a:normAutofit fontScale="90000"/>
          </a:bodyPr>
          <a:lstStyle/>
          <a:p>
            <a:pPr lvl="0"/>
            <a:r>
              <a:rPr lang="ru-RU" b="1" dirty="0"/>
              <a:t>Протоколы и стеки протоколов</a:t>
            </a:r>
            <a:endParaRPr lang="en-US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971550" y="309786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Сетевые протоколы</a:t>
            </a:r>
            <a:endParaRPr lang="ru-RU" altLang="ru-RU" dirty="0" smtClean="0"/>
          </a:p>
        </p:txBody>
      </p:sp>
      <p:sp>
        <p:nvSpPr>
          <p:cNvPr id="6147" name="Прямоугольник 3"/>
          <p:cNvSpPr>
            <a:spLocks noChangeArrowheads="1"/>
          </p:cNvSpPr>
          <p:nvPr/>
        </p:nvSpPr>
        <p:spPr bwMode="auto">
          <a:xfrm>
            <a:off x="1763687" y="2568629"/>
            <a:ext cx="6788211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DDP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 Delivery Protocol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Протокол доставки дейтаграмм).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передачи данных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используемый 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Talk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(Internet Protocol 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Internet).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стека TCP/IP, обеспечивающий адресную информацию и информацию о маршрутизации. 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Internetwork Packet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Межсетевой обмен пакетами) в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NWLink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NetWare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используемый для маршрутизации и направления пакетов.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NetBEUI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NetBIOS Extended User Interface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расширенный пользовательский интерфейс базовой сетевой системы ввода вывода)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совместно IBM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этот протокол обеспечивает транспортные услуги для </a:t>
            </a:r>
            <a:r>
              <a:rPr lang="ru-RU" alt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NetBIOS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096155" y="1169457"/>
            <a:ext cx="745574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Сетевые протоколы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предоставляют следующие услуги: адресацию и маршрутизацию информации, проверку на наличие ошибок, запрос повторной передачи и установление правил взаимодействия в конкретной сетевой среде.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971550" y="300038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Транспортные протоколы</a:t>
            </a:r>
            <a:endParaRPr lang="ru-RU" altLang="ru-RU" dirty="0" smtClean="0"/>
          </a:p>
        </p:txBody>
      </p:sp>
      <p:sp>
        <p:nvSpPr>
          <p:cNvPr id="7171" name="Прямоугольник 3"/>
          <p:cNvSpPr>
            <a:spLocks noChangeArrowheads="1"/>
          </p:cNvSpPr>
          <p:nvPr/>
        </p:nvSpPr>
        <p:spPr bwMode="auto">
          <a:xfrm>
            <a:off x="1558504" y="2492896"/>
            <a:ext cx="7239149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ATP 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 Talk Protocol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Транзакционный протокол 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 Talk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NBP 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Binding Protocol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Протокол связывания имен). Сеансовый и транспортный протоколы 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 Talk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NetBIOS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Базовая сетевая система ввода вывода).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NetBIOS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Устанавливает соединение между компьютерами, а </a:t>
            </a:r>
            <a:r>
              <a:rPr lang="ru-RU" altLang="ru-RU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NetBEUI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услуги передачи данных для этого соединения.</a:t>
            </a:r>
            <a:endParaRPr lang="en-US" alt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SPX 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Sequenced Packet </a:t>
            </a:r>
            <a:r>
              <a:rPr lang="en-US" alt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Последовательный обмен пакетами) в </a:t>
            </a:r>
            <a:r>
              <a:rPr lang="ru-RU" alt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NWLink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Novel NetWare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используемый для обеспечения доставки данных.</a:t>
            </a:r>
            <a:endParaRPr lang="en-US" alt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Control Protocol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Протокол управления передачей).</a:t>
            </a:r>
            <a:r>
              <a:rPr lang="ru-RU" alt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стека TCP/IP, отвечающий за надежную доставку данных.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996255" y="1343770"/>
            <a:ext cx="780139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Транспортные протоколы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предоставляют услуги надежной транспортировки данных между 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узлами</a:t>
            </a:r>
            <a:r>
              <a:rPr lang="en-US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компьютерами</a:t>
            </a:r>
            <a:r>
              <a:rPr lang="en-US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332656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Прикладные протоколы</a:t>
            </a:r>
            <a:br>
              <a:rPr lang="ru-RU" b="1" dirty="0" smtClean="0"/>
            </a:br>
            <a:endParaRPr lang="ru-RU" dirty="0" smtClean="0"/>
          </a:p>
        </p:txBody>
      </p:sp>
      <p:sp>
        <p:nvSpPr>
          <p:cNvPr id="8195" name="Прямоугольник 3"/>
          <p:cNvSpPr>
            <a:spLocks noChangeArrowheads="1"/>
          </p:cNvSpPr>
          <p:nvPr/>
        </p:nvSpPr>
        <p:spPr bwMode="auto">
          <a:xfrm>
            <a:off x="1619672" y="2204864"/>
            <a:ext cx="6984776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AFP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(Apple Talk File Protocol 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Файловый протокол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Apple Talk).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удаленного управления файлами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Macintosh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FTP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 Transfer Protocol 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передачи файлов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стека TCP/IP,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используемый для обеспечения услуг по передачи файлов.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NCP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(NetWare Core Protocol 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Базовый протокол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NetWare).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Оболочка и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редиректоры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клиента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NetWare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SNMP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Network Management Protocol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Простой протокол управления сетью).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стека TCP/IP, используемый для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и наблюдения за сетевыми устройствами.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 Text Transfer Protocol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протокол передачи гипертекста и другие протоколы.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827584" y="1196752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015670" y="1414518"/>
            <a:ext cx="758877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Прикладные протоколы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отвечают за взаимодействие приложений.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007269" y="361951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dirty="0" smtClean="0"/>
              <a:t>Стек OSI</a:t>
            </a:r>
            <a:endParaRPr lang="ru-RU" altLang="ru-RU" dirty="0" smtClean="0"/>
          </a:p>
        </p:txBody>
      </p:sp>
      <p:sp>
        <p:nvSpPr>
          <p:cNvPr id="9219" name="Прямоугольник 3"/>
          <p:cNvSpPr>
            <a:spLocks noChangeArrowheads="1"/>
          </p:cNvSpPr>
          <p:nvPr/>
        </p:nvSpPr>
        <p:spPr bwMode="auto">
          <a:xfrm>
            <a:off x="928688" y="1412776"/>
            <a:ext cx="7715250" cy="10156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OSI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это набор вполне конкретных спецификаций протоколов, образующих согласованный стек протоколов. Этот стек протоколов поддерживает правительство США в своей программе GOSIP.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27584" y="1196752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2593727"/>
            <a:ext cx="6246719" cy="4255371"/>
          </a:xfrm>
          <a:prstGeom prst="rect">
            <a:avLst/>
          </a:prstGeom>
          <a:effectLst>
            <a:softEdge rad="1651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116632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000" b="1" dirty="0" smtClean="0"/>
              <a:t>Архитектура стека протоколов </a:t>
            </a:r>
            <a:r>
              <a:rPr lang="en-US" sz="3000" b="1" dirty="0" smtClean="0"/>
              <a:t>Microsoft TCP</a:t>
            </a:r>
            <a:r>
              <a:rPr lang="ru-RU" sz="3000" b="1" dirty="0" smtClean="0"/>
              <a:t>/IP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99592" y="1484784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971550" y="1556792"/>
            <a:ext cx="77049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Стек TCP/IP позволяет обмениваться данными по сети приложениям и службам, работающим практически на любой платформе, включая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Macintosh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другие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1"/>
          <a:stretch>
            <a:fillRect/>
          </a:stretch>
        </p:blipFill>
        <p:spPr>
          <a:xfrm>
            <a:off x="2411760" y="2380727"/>
            <a:ext cx="5400600" cy="3496545"/>
          </a:xfrm>
          <a:prstGeom prst="rect">
            <a:avLst/>
          </a:prstGeom>
          <a:effectLst>
            <a:softEdge rad="139700"/>
          </a:effectLst>
        </p:spPr>
      </p:pic>
      <p:sp>
        <p:nvSpPr>
          <p:cNvPr id="4" name="Прямоугольник 3"/>
          <p:cNvSpPr/>
          <p:nvPr/>
        </p:nvSpPr>
        <p:spPr>
          <a:xfrm>
            <a:off x="975224" y="5832840"/>
            <a:ext cx="77049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Отметим, что в целом с позиции логики организации взаимодействия модель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соответствует модели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однако некоторые функции перераспределены, либо сгруппированы.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116632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000" b="1" dirty="0" smtClean="0"/>
              <a:t>Архитектура стека протоколов </a:t>
            </a:r>
            <a:r>
              <a:rPr lang="en-US" sz="3000" b="1" dirty="0" smtClean="0"/>
              <a:t>Microsoft TCP</a:t>
            </a:r>
            <a:r>
              <a:rPr lang="ru-RU" sz="3000" b="1" dirty="0" smtClean="0"/>
              <a:t>/IP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99592" y="1484784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971550" y="1556792"/>
            <a:ext cx="7704906" cy="512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итоге, модель TCP/IP включает большее число функций на один уровень, что приводит к уменьшению числа уровней. В модели используются следующие уровни: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</a:t>
            </a:r>
            <a:r>
              <a:rPr lang="ru-RU" sz="2000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приложения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модели TCP/IP соответствует </a:t>
            </a:r>
            <a:r>
              <a:rPr lang="ru-RU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прикладному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редставительскому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сеансовому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уровням модели OSI;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транспортный </a:t>
            </a: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модели TCP/IP соответствует аналогичному уровню модели OSI;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межсетевой</a:t>
            </a:r>
            <a:r>
              <a:rPr lang="ru-RU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модели TCP/IP выполняет те же функции, что и </a:t>
            </a:r>
            <a:r>
              <a:rPr lang="ru-RU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сетевой 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модели OSI;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90" algn="just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сетевого </a:t>
            </a: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модели TCP/IP соответствует </a:t>
            </a:r>
            <a:r>
              <a:rPr lang="ru-RU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канальному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физическому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уровням модели OSI.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99592" y="1484784"/>
          <a:ext cx="7848872" cy="5280721"/>
        </p:xfrm>
        <a:graphic>
          <a:graphicData uri="http://schemas.openxmlformats.org/drawingml/2006/table">
            <a:tbl>
              <a:tblPr/>
              <a:tblGrid>
                <a:gridCol w="1296144"/>
                <a:gridCol w="6552728"/>
              </a:tblGrid>
              <a:tr h="377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протокола</a:t>
                      </a:r>
                      <a:endParaRPr kumimoji="0" lang="ru-R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протокола</a:t>
                      </a:r>
                      <a:endParaRPr kumimoji="0" lang="ru-R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0399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WinSock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Сетевой программный интерфейс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6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NetBIOS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Связь с приложениями ОС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1751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TDI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Интерфейс транспортного драйвера (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 Driver Interface</a:t>
                      </a: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позволяет создавать компоненты сеансового уровня.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управления передачей (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Transmission Control Protocol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пользовательских дейтаграмм (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Datagram Protocol</a:t>
                      </a: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разрешения адресов (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Resolution Protocol</a:t>
                      </a: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обратного разрешения адресов (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 Address Resolution Protocol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Internet(Internet Protocol)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ICMP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управляющих сообщений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Internet (Internet Control Message Protocol)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IGMP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управления группами Интернета (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Group Management Protocol</a:t>
                      </a: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NDIS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Интерфейс взаимодействия между драйверами транспортных протоколов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FTP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пересылки файлов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(File Transfer Protocol)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673">
                <a:tc>
                  <a:txBody>
                    <a:bodyPr/>
                    <a:lstStyle/>
                    <a:p>
                      <a:pPr marL="215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TFTP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Простой протокол пересылки файлов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(Trivial File Transfer Protocol)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701" marR="49701" marT="0" marB="0" horzOverflow="overflow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Заголовок 1"/>
          <p:cNvSpPr txBox="1"/>
          <p:nvPr/>
        </p:nvSpPr>
        <p:spPr>
          <a:xfrm>
            <a:off x="971550" y="44624"/>
            <a:ext cx="7200900" cy="14859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ru-RU" sz="3000" b="1" dirty="0" smtClean="0"/>
              <a:t>Архитектура стека протоколов </a:t>
            </a:r>
            <a:r>
              <a:rPr lang="en-US" sz="3000" b="1" dirty="0" smtClean="0"/>
              <a:t>Microsoft TCP</a:t>
            </a:r>
            <a:r>
              <a:rPr lang="ru-RU" sz="3000" b="1" dirty="0" smtClean="0"/>
              <a:t>/IP</a:t>
            </a:r>
            <a:endParaRPr lang="ru-RU" sz="3000" b="1" dirty="0" smtClean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899592" y="1340768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430932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</a:t>
            </a:r>
            <a:r>
              <a:rPr lang="ru-RU" sz="3000" b="1" dirty="0"/>
              <a:t>Уровень </a:t>
            </a:r>
            <a:r>
              <a:rPr lang="ru-RU" sz="3000" b="1" dirty="0" smtClean="0"/>
              <a:t>приложения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99592" y="1196752"/>
            <a:ext cx="7776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971550" y="1556792"/>
            <a:ext cx="7704906" cy="204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Через уровень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модели TCP/IP приложения и службы получают доступ к сети. Доступ к протоколам TCP/IP осуществляется посредством двух программных интерфейсов API: </a:t>
            </a:r>
            <a:r>
              <a:rPr lang="ru-RU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сокеты </a:t>
            </a: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NetBIOS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86000" y="3933056"/>
            <a:ext cx="6390456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 сокетов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или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 называемый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WinSock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является сетевым программным интерфейсом, предназначенным для облегчения взаимодействия между различными TCP/IP – приложениями и семействами протоколов.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</a:t>
            </a:r>
            <a:r>
              <a:rPr lang="ru-RU" sz="3000" b="1" dirty="0"/>
              <a:t>Уровень </a:t>
            </a:r>
            <a:r>
              <a:rPr lang="ru-RU" sz="3000" b="1" dirty="0" smtClean="0"/>
              <a:t>приложения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92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971550" y="1268760"/>
            <a:ext cx="7704906" cy="5378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NetBIOS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протокол для работы в локальных сетях на персональных компьютеров типа IBM/PC, разработан в виде 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интерфейса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который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зависит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фирмы-производителя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В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стеке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TCP/IP</a:t>
            </a:r>
            <a:r>
              <a:rPr lang="ru-RU" sz="2400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используется для связи между процессами (IPC –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Interposes Communications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служб и приложений ОС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целом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NetBIOS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обеспечивает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7745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</a:pP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регистрацию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проверку сетевых имен;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7745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установление и разрыв соединений;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7745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связь с подтверждением доставки информации;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7745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связь без подтверждения доставки информации;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7745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поддержку управления и мониторинга драйвера и сетевой карты.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br>
              <a:rPr lang="ru-RU" sz="4000" b="1" dirty="0" smtClean="0"/>
            </a:br>
            <a:r>
              <a:rPr lang="ru-RU" sz="4000" b="1" dirty="0" smtClean="0"/>
              <a:t>Транспортный уровень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4784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971550" y="1915675"/>
            <a:ext cx="7549586" cy="4428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Транспортный уровень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отвечает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установление и поддержание соединения между двумя 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узлами,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 также 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обеспечение, при необходимости, надежности передачи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функции уровня: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получения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информации и обеспечение надежности передачи;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управление потоком данных;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упорядочение и ретрансляция пакетов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br>
              <a:rPr lang="ru-RU" sz="4000" b="1" dirty="0" smtClean="0"/>
            </a:br>
            <a:r>
              <a:rPr lang="ru-RU" sz="4000" b="1" dirty="0" smtClean="0"/>
              <a:t>Транспортный уровень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4784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971550" y="1777981"/>
            <a:ext cx="7549586" cy="229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зависимости от типа службы могут быть использованы два протокола:</a:t>
            </a: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299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Transmission Control Protocol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sz="2000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управления передачей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299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Datagram Protocol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sz="2000" i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пользовательский протокол дейтаграмм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1550" y="4509120"/>
            <a:ext cx="75495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TCP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обычно используют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тех случаях, когда приложению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требуется передать большой объем информации и убедиться, что данные получены адресатом в неизменном виде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Приложения и службы,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отправляющие небольшие объемы данных и не нуждающиеся в получении подтверждения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используют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 </a:t>
            </a:r>
            <a:r>
              <a:rPr lang="en-US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UDP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является протоколом без установления соединения.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3335" b="1" dirty="0" smtClean="0"/>
              <a:t>Стек </a:t>
            </a:r>
            <a:r>
              <a:rPr lang="en-US" sz="3335" b="1" dirty="0" smtClean="0"/>
              <a:t>TCP</a:t>
            </a:r>
            <a:r>
              <a:rPr lang="ru-RU" sz="3335" b="1" dirty="0" smtClean="0"/>
              <a:t>/IP. </a:t>
            </a:r>
            <a:br>
              <a:rPr lang="ru-RU" sz="3335" b="1" dirty="0" smtClean="0"/>
            </a:br>
            <a:r>
              <a:rPr lang="ru-RU" sz="3335" b="1" dirty="0" smtClean="0"/>
              <a:t>Транспортный уровень. Протокол </a:t>
            </a:r>
            <a:r>
              <a:rPr lang="en-US" sz="3335" b="1" dirty="0" smtClean="0"/>
              <a:t>TCP</a:t>
            </a:r>
            <a:endParaRPr lang="ru-RU" sz="3335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4784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827584" y="1746548"/>
            <a:ext cx="7632898" cy="2660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управления передачей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отвечает за надежную передачу данных от одного узла сети к другому. Он создает сеанс с установлением соединения, иначе говоря, виртуальный канал между машинами.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3600" u="sng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u="sng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Установление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соединения происходит в три шага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835696" y="4476578"/>
            <a:ext cx="6624786" cy="204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1.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Клиент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запрашивающий соединение, отправляет серверу пакет, указывающий номер порта, который клиент желает использовать, а также код (определенное число)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 Sequence number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3335" b="1" dirty="0" smtClean="0"/>
              <a:t>Стек </a:t>
            </a:r>
            <a:r>
              <a:rPr lang="en-US" sz="3335" b="1" dirty="0" smtClean="0"/>
              <a:t>TCP</a:t>
            </a:r>
            <a:r>
              <a:rPr lang="ru-RU" sz="3335" b="1" dirty="0" smtClean="0"/>
              <a:t>/IP. </a:t>
            </a:r>
            <a:br>
              <a:rPr lang="ru-RU" sz="3335" b="1" dirty="0" smtClean="0"/>
            </a:br>
            <a:r>
              <a:rPr lang="ru-RU" sz="3335" b="1" dirty="0" smtClean="0"/>
              <a:t>Транспортный уровень. Протокол </a:t>
            </a:r>
            <a:r>
              <a:rPr lang="en-US" sz="3335" b="1" dirty="0" smtClean="0"/>
              <a:t>TCP</a:t>
            </a:r>
            <a:endParaRPr lang="ru-RU" sz="3335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4784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360379" y="1723100"/>
            <a:ext cx="7353139" cy="1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2.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отвечает пакетом, содержащим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сервера, а также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клиента, увеличенный на 1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3.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Клиент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должен подтвердить установление соединения, вернув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сервера, увеличенный на 1.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88508" y="3692485"/>
            <a:ext cx="7825010" cy="816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Трехступенчатое открытие соединения устанавливает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номер порта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 также </a:t>
            </a: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ISN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клиента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сервера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858683" y="4884581"/>
          <a:ext cx="7854836" cy="21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300"/>
                <a:gridCol w="7134536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4700"/>
                        </a:lnSpc>
                      </a:pPr>
                      <a:r>
                        <a:rPr lang="en-US" sz="13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Каждый, отправляемый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-пакет содержит номера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-портов отправителя и получателя, номер фрагмента для сообщений, разбитых на меньшие части, а также контрольную сумму, позволяющую убедиться, что при передаче ошибок не произошло.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3335" b="1" dirty="0" smtClean="0"/>
              <a:t>Стек </a:t>
            </a:r>
            <a:r>
              <a:rPr lang="en-US" sz="3335" b="1" dirty="0" smtClean="0"/>
              <a:t>TCP</a:t>
            </a:r>
            <a:r>
              <a:rPr lang="ru-RU" sz="3335" b="1" dirty="0" smtClean="0"/>
              <a:t>/IP. </a:t>
            </a:r>
            <a:br>
              <a:rPr lang="ru-RU" sz="3335" b="1" dirty="0" smtClean="0"/>
            </a:br>
            <a:r>
              <a:rPr lang="ru-RU" sz="3335" b="1" dirty="0" smtClean="0"/>
              <a:t>Транспортный уровень. Протокол </a:t>
            </a:r>
            <a:r>
              <a:rPr lang="en-US" sz="3335" b="1" dirty="0" smtClean="0"/>
              <a:t>UDP</a:t>
            </a:r>
            <a:endParaRPr lang="ru-RU" sz="3335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4784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0" y="1844824"/>
            <a:ext cx="7560889" cy="4367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ользовательский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дейтаграмм</a:t>
            </a:r>
            <a:r>
              <a:rPr lang="ru-RU" sz="22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не устанавливает соединения. </a:t>
            </a:r>
            <a:endParaRPr lang="ru-RU" sz="22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предназначен для отправки пакетов (например, служебных) без установки соединения и используется приложениями, которые не нуждаются в подтверждении адресатом их получения. </a:t>
            </a:r>
            <a:endParaRPr lang="ru-RU" sz="22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также использует номера портов для определения конкретного процесса по указанному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-адресу. Однако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-порты отличаются от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-портов и, следовательно, могут использовать те же номера портов, что и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без конфликта между службами.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3335" b="1" dirty="0" smtClean="0"/>
              <a:t>Стек </a:t>
            </a:r>
            <a:r>
              <a:rPr lang="en-US" sz="3335" b="1" dirty="0" smtClean="0"/>
              <a:t>TCP</a:t>
            </a:r>
            <a:r>
              <a:rPr lang="ru-RU" sz="3335" b="1" dirty="0" smtClean="0"/>
              <a:t>/IP. Транспортный уровень. Различие между </a:t>
            </a:r>
            <a:r>
              <a:rPr lang="en-US" sz="3335" b="1" dirty="0" smtClean="0"/>
              <a:t>TCP </a:t>
            </a:r>
            <a:r>
              <a:rPr lang="ru-RU" sz="3335" b="1" dirty="0" smtClean="0"/>
              <a:t>и </a:t>
            </a:r>
            <a:r>
              <a:rPr lang="en-US" sz="3335" b="1" dirty="0" smtClean="0"/>
              <a:t>UDP</a:t>
            </a:r>
            <a:endParaRPr lang="ru-RU" sz="3335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755576" y="1759743"/>
            <a:ext cx="7994885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протокол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отличается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  <a:r>
              <a:rPr 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следующим ключевым моментам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0" indent="-4572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устанавливает соединение с получателем, 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нет.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0" indent="-4572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 подтверждение передачи, 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нет.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0" indent="-4572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обеспечения целостности передаваемых данных использует средства коррекции ошибок, 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нет.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0" indent="-4572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принципиально по-разному работают с очередями пакетов. Так,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 буферы для корректного хранения и обработки все пришедших пакетов, 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хранить в очереди только один пакет и поэтому следующий пришедший пакет приведет к сбросу уже имеющегося в очереди на обработку пакета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052736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4340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Межсетевой уровень отвечает за маршрутизацию данных внутри сети и между различными сетями, решая при этом функции сетевого и частично канального уровней модели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На этом уровне работают маршрутизаторы, которые зависят от используемого протокола и используются для отправки пакетов из одной сети (или ее сегмента) в другую (или другой сегмент сети).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стеке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этом уровне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используется протоколы </a:t>
            </a:r>
            <a:r>
              <a:rPr lang="en-US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ARP, RARP, ICMP, IGMP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IP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4439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Интернета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обеспечивает обмен дейтаграммами между узлами сети и является протоколом,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 устанавливающим </a:t>
            </a:r>
            <a:r>
              <a:rPr lang="ru-RU" sz="2400" u="sng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соединения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использующим дейтаграммы для отправки данных из одной сети в другую.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Данный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не ожидает получение подтверждения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отправленных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пакетов от узла адресата. Подтверждения, а также повторные отправки пакетов осуществляются протоколами и процессами, работающими на верхних уровнях модели.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IP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4419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функциям протокола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относится: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Фрагментация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дейтаграмм и межсетевая адресация. Протокол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предоставляет управляющую информацию для сборки фрагментированных дейтаграмм.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AutoNum type="arabicPeriod"/>
            </a:pP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Межсетевая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глобальная адресация. В зависимости от размера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сети применяется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одна из трех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применяемых на практике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схем адресации (физическая, сетевая, символьная).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IP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4439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действует на сетевом уровне модели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OSI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поэтому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-адреса называются сетевыми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Они предназначены для передачи сообщений в составных сетях, связывающих подсети, построенные на различных локальных или глобальных сетевых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технологиях.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непосредственной передачи сообщения в рамках одной подсети вместо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-адреса нужно использовать локальный адрес технологии канального уровня – обычно это МАС-адрес.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ARP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27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формировании кадра канального уровня возникает проблема: каким образом по известному IP-адресу определить соответствующий МАС-адрес. Указанная проблема решается при помощи протокола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 Resolution Protocol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протокол разрешения адресов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ARP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483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сопоставления адреса ARP определяет МАС-адреса следующим образом. </a:t>
            </a:r>
            <a:endParaRPr lang="ru-RU" sz="2400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1. </a:t>
            </a:r>
            <a:r>
              <a:rPr lang="ru-RU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Осуществляется </a:t>
            </a: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рассылка всем узлам сети специального кадра, который называется ARP-запрос (ARP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ru-RU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кадре содержится IP-адрес компьютера, у которого требуется узнать МАС-адрес</a:t>
            </a:r>
            <a:r>
              <a:rPr lang="ru-RU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2.</a:t>
            </a:r>
            <a:r>
              <a:rPr lang="ru-RU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Каждый узел сети принимает ARP-запрос и сравнивает IP-адрес из запроса со своим IP-адресом. Если адреса совпадают, узел высылает ARP-ответ (ARP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Reply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содержащий требуемый МАС-адрес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ARP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71551" y="1759743"/>
            <a:ext cx="7632898" cy="156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 своей работы протокол ARP сохраняет в специальной таблице, хранящейся в 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оперативной памяти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которая называется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ARP-кэш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1475656" y="3429000"/>
            <a:ext cx="0" cy="1224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475656" y="5013176"/>
            <a:ext cx="0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1547664" y="3229091"/>
            <a:ext cx="7030071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необходимости разрешения IP-адреса,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ARP сначала ищет IP-адрес в ARP-кэше и только в случае отсутствия нужной записи производит рассылку ARP-запроса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47664" y="4825820"/>
            <a:ext cx="7030071" cy="172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Записи в ARP-кэше могут быть двух типов: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статические и динамические.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Статические записи заносятся в кэш администратором при помощи утилиты </a:t>
            </a:r>
            <a:r>
              <a:rPr lang="en-US" sz="20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 ключом /s. Динамические записи помещаются в кэш после полученного ARP-ответа и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истечении двух минут удаляются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</a:t>
            </a:r>
            <a:r>
              <a:rPr lang="en-US" sz="4000" b="1" dirty="0" smtClean="0"/>
              <a:t>ARP </a:t>
            </a:r>
            <a:r>
              <a:rPr lang="ru-RU" sz="4000" b="1" dirty="0" smtClean="0"/>
              <a:t>таблица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971550" y="2564904"/>
          <a:ext cx="7546325" cy="168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7659"/>
                <a:gridCol w="3023940"/>
                <a:gridCol w="2424726"/>
              </a:tblGrid>
              <a:tr h="42198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-адрес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-адрес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записи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</a:tr>
              <a:tr h="42198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03-E8-48-A1-57-7B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статический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</a:tr>
              <a:tr h="42198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03-E8-48-A1-43-88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динамический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</a:tr>
              <a:tr h="42198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192.168.1.3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03-E8-48-A1-F8-D9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динамический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0" marB="0"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971549" y="4797152"/>
            <a:ext cx="7546325" cy="863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 получения по известному IP-адресу МАС-адреса называется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разрешением IP-адреса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 </a:t>
            </a:r>
            <a:r>
              <a:rPr lang="en-US" sz="4000" b="1" dirty="0" smtClean="0"/>
              <a:t>RARP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115616" y="2345563"/>
            <a:ext cx="7416824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требуется по известному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МАС-адресу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найти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IP-адрес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(например, при начале работы компьютеров без жесткого диска, у которых есть МАС-адрес сетевого адаптера и им нужно определить свой IP-адрес). В этом случае используется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реверсивный протокол RARP (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Reverse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ARP).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ICMP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79612" y="1844824"/>
            <a:ext cx="7416824" cy="483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управления сообщениями Интернета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Internet Control Message Protocol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ICMP) используется IP и другими протоколами высокого уровня для отправки и получения отчетов о состоянии переданной информации.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также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используется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контроля скорости передачи информации между двумя системами. Если маршрутизатор, соединяющий две системы, перегружен трафиком, он может отправить специальное сообщение ICMP – ошибку для уменьшения скорости отправления сообщений.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Протокол </a:t>
            </a:r>
            <a:r>
              <a:rPr lang="en-US" sz="3000" b="1" dirty="0" smtClean="0"/>
              <a:t>IGMP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48366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79612" y="1844824"/>
            <a:ext cx="7416824" cy="4340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Узлы локальной сети используют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 управления группами Интернета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Internet Group Management Protocol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IGMP), чтобы зарегистрировать себя в группе. Информация о группах содержится на маршрутизаторах локальной сети. Маршрутизаторы используют эту информацию для передачи групповых сообщений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Групповое сообщение, как и широковещательное, используется для отправки данных сразу нескольким узлам.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3335" b="1" dirty="0" smtClean="0"/>
              <a:t>Стек </a:t>
            </a:r>
            <a:r>
              <a:rPr lang="en-US" sz="3335" b="1" dirty="0" smtClean="0"/>
              <a:t>TCP</a:t>
            </a:r>
            <a:r>
              <a:rPr lang="ru-RU" sz="3335" b="1" dirty="0" smtClean="0"/>
              <a:t>/IP. Межсетевой уровень. Протокол</a:t>
            </a:r>
            <a:r>
              <a:rPr lang="en-US" sz="3335" b="1" dirty="0" smtClean="0"/>
              <a:t>ы </a:t>
            </a:r>
            <a:r>
              <a:rPr lang="ru-RU" sz="3335" b="1" dirty="0" smtClean="0"/>
              <a:t>обмена маршрутной информацией</a:t>
            </a:r>
            <a:endParaRPr lang="ru-RU" sz="3335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79612" y="2204864"/>
            <a:ext cx="7416824" cy="424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322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Протоколы обмена маршрутной информацией стека TCP/IP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относятся к классу адаптивных протоколов, которые в свою очередь делятся на две группы, каждая из которых связана с одним из следующих типов алгоритмов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3225" algn="just">
              <a:lnSpc>
                <a:spcPct val="107000"/>
              </a:lnSpc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795" lvl="0" indent="-342900" algn="just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дистанционно-векторный алгоритм (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DVA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0" indent="-342900" algn="just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795" lvl="0" indent="-342900" algn="just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 состояния связей (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LSA).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</a:t>
            </a:r>
            <a:r>
              <a:rPr lang="en-US" sz="4000" b="1" dirty="0" smtClean="0"/>
              <a:t>ы </a:t>
            </a:r>
            <a:r>
              <a:rPr lang="ru-RU" sz="4000" b="1" dirty="0" smtClean="0"/>
              <a:t>обмена маршрутной информацией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79612" y="1941983"/>
            <a:ext cx="741682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322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алгоритмах дистанционно-векторного типа 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маршрутизатор периодически и широковещательно рассылает по сети вектор расстояний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 себя до всех известных ему сетей. Под расстоянием обычно понимается число промежуточных маршрутизаторов, через которые пакет должен пройти прежде, чем попадет в соответствующую сеть.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03225" algn="just">
              <a:spcBef>
                <a:spcPts val="1200"/>
              </a:spcBef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Может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использоваться и другая метрика, учитывающая не только число транзитных точек, но и время прохождения пакетов по связи между соседними маршрутизаторами.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</a:t>
            </a:r>
            <a:r>
              <a:rPr lang="en-US" sz="4000" b="1" dirty="0" smtClean="0"/>
              <a:t>ы </a:t>
            </a:r>
            <a:r>
              <a:rPr lang="ru-RU" sz="4000" b="1" dirty="0" smtClean="0"/>
              <a:t>обмена маршрутной информацией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79612" y="2154336"/>
            <a:ext cx="741682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322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Получив вектор от соседнего маршрутизатора, каждый маршрутизатор добавляет к нему информацию об известных ему других сетях, о которых он узнал непосредственно (если они подключены к его портам) или из аналогичных объявлений других маршрутизаторов, а затем снова рассылает новое значение вектора по сети.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03225" algn="just"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03225" algn="just"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итоге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каждый маршрутизатор узнает информацию об имеющихся сетях и о расстоянии до них через соседние маршрутизаторы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</a:t>
            </a:r>
            <a:r>
              <a:rPr lang="en-US" sz="4000" b="1" dirty="0" smtClean="0"/>
              <a:t>ы </a:t>
            </a:r>
            <a:r>
              <a:rPr lang="ru-RU" sz="4000" b="1" dirty="0" smtClean="0"/>
              <a:t>обмена маршрутной информацией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79612" y="2316936"/>
            <a:ext cx="74168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322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Дистанционно-векторные алгоритмы хорошо работают только в небольших сетях. В больших сетях они «засоряют»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каналы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связи интенсивным широковещательным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трафиком.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03225" algn="just">
              <a:spcAft>
                <a:spcPts val="0"/>
              </a:spcAft>
            </a:pP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03225" algn="just">
              <a:spcAft>
                <a:spcPts val="0"/>
              </a:spcAft>
            </a:pPr>
            <a:endParaRPr lang="ru-RU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0322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Наиболее распространенным протоколом, основанным на дистанционно-векторном алгоритме, является протокол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RIP (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Routing Information Protocol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</a:t>
            </a:r>
            <a:r>
              <a:rPr lang="en-US" sz="4000" b="1" dirty="0" smtClean="0"/>
              <a:t>ы </a:t>
            </a:r>
            <a:r>
              <a:rPr lang="ru-RU" sz="4000" b="1" dirty="0" smtClean="0"/>
              <a:t>обмена маршрутной информацией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982010" y="1988840"/>
            <a:ext cx="7416824" cy="483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Алгоритмы состояния связей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обеспечивают каждый маршрутизатор информацией, достаточной для построения точного графа связей сети.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маршрутизаторы работают на основании одинаковых графов, что делает процесс маршрутизации более устойчивым к изменениям конфигурации.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Широковещательная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рассылка используется здесь только при изменениях состояния связей, что происходит в надежных сетях не так часто.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</a:t>
            </a:r>
            <a:r>
              <a:rPr lang="en-US" sz="4000" b="1" dirty="0" smtClean="0"/>
              <a:t>ы </a:t>
            </a:r>
            <a:r>
              <a:rPr lang="ru-RU" sz="4000" b="1" dirty="0" smtClean="0"/>
              <a:t>обмена маршрутной информацией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982010" y="2124139"/>
            <a:ext cx="741682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того, чтобы понять, в каком состоянии находятся линии связи, подключенные к его портам, маршрутизатор периодически обменивается короткими пакетами со своими ближайшими соседями. Этот трафик также широковещательный, но он передается только между соседями и поэтому не так «засоряет» сеть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Протоколом, основанным на алгоритме состояния связей, в стеке TCP/IP является протокол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OSPF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Open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Shortest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Path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Firs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 − </a:t>
            </a:r>
            <a:r>
              <a:rPr lang="ru-RU" sz="2400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ориентирован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применение в больших сильно разветвленных (гетерогенных) сетях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 </a:t>
            </a:r>
            <a:r>
              <a:rPr lang="ru-RU" sz="4000" b="1" dirty="0" smtClean="0"/>
              <a:t>Межсетевой уровень. Протокол</a:t>
            </a:r>
            <a:r>
              <a:rPr lang="en-US" sz="4000" b="1" dirty="0" smtClean="0"/>
              <a:t>ы </a:t>
            </a:r>
            <a:r>
              <a:rPr lang="ru-RU" sz="4000" b="1" dirty="0" smtClean="0"/>
              <a:t>обмена маршрутной информацией</a:t>
            </a:r>
            <a:endParaRPr lang="ru-RU" sz="36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843707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982010" y="2124139"/>
            <a:ext cx="7416824" cy="325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практике также применяются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комбинированные протоколы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более старый −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EGP (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Exterior Gateway Protocol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протокол внешнего шлюза)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его современная версия −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BGP (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Border Gateway Protocol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протокол граничного шлюза)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Именно последний, т.е. протокол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BGP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является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основным протоколом динамической маршрутизации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сети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Интернет.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000" b="1" dirty="0" smtClean="0"/>
              <a:t>Стек </a:t>
            </a:r>
            <a:r>
              <a:rPr lang="en-US" sz="3000" b="1" dirty="0" smtClean="0"/>
              <a:t>TCP</a:t>
            </a:r>
            <a:r>
              <a:rPr lang="ru-RU" sz="3000" b="1" dirty="0" smtClean="0"/>
              <a:t>/IP. Межсетевой уровень. Интерфейс </a:t>
            </a:r>
            <a:r>
              <a:rPr lang="en-US" sz="3000" b="1" dirty="0" smtClean="0"/>
              <a:t>NDIS</a:t>
            </a:r>
            <a:endParaRPr lang="ru-RU" sz="3000" b="1" dirty="0" smtClean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628800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982010" y="2124139"/>
            <a:ext cx="7416824" cy="2858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NDIS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Device Interface Specification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–спецификация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интерфейса сетевого устройства, программный интерфейс, обеспечивающий взаимодействие между драйверами транспортных протоколов и соответствующими драйверами сетевых интерфейсов.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331640" y="4982678"/>
          <a:ext cx="7067194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/>
                <a:gridCol w="641912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66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400" b="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использовать несколько протоколов, даже если установлена только одна сетевая карта.</a:t>
                      </a:r>
                      <a:endParaRPr lang="en-US" sz="2400" b="0" dirty="0" smtClean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60648"/>
            <a:ext cx="7848922" cy="14859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4000" b="1" dirty="0" smtClean="0"/>
              <a:t>Стек </a:t>
            </a:r>
            <a:r>
              <a:rPr lang="en-US" sz="4000" b="1" dirty="0" smtClean="0"/>
              <a:t>TCP</a:t>
            </a:r>
            <a:r>
              <a:rPr lang="ru-RU" sz="4000" b="1" dirty="0" smtClean="0"/>
              <a:t>/IP.</a:t>
            </a:r>
            <a:r>
              <a:rPr lang="ru-RU" sz="4000" b="1" dirty="0" smtClean="0"/>
              <a:t> </a:t>
            </a:r>
            <a:r>
              <a:rPr lang="en-US" sz="4000" b="1" dirty="0"/>
              <a:t>Уровень сетевого </a:t>
            </a:r>
            <a:r>
              <a:rPr lang="ru-RU" sz="4000" b="1" dirty="0"/>
              <a:t>интерфейса </a:t>
            </a:r>
            <a:endParaRPr lang="ru-RU" sz="4000" b="1" dirty="0"/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27584" y="1628800"/>
            <a:ext cx="7920880" cy="1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971550" y="2007195"/>
            <a:ext cx="7416824" cy="483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сетевого 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интерфейса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отвечает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распределение IP-дейтаграмм.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работает с ARP для определения информации, которая должна быть помещена в заголовок каждого кадра. Затем на этом уровне создается кадр, подходящий для используемого типа сети, такого как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 Ring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или ATM, затем IP-дейтаграмма помещается в область данных этого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кадра. Кадр преобразуется в сигналы требуемого вида и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отправляется в сеть.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24250</Words>
  <Application>WPS Presentation</Application>
  <PresentationFormat>Экран (4:3)</PresentationFormat>
  <Paragraphs>445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Arial</vt:lpstr>
      <vt:lpstr>SimSun</vt:lpstr>
      <vt:lpstr>Wingdings</vt:lpstr>
      <vt:lpstr>Franklin Gothic Book</vt:lpstr>
      <vt:lpstr>Times New Roman</vt:lpstr>
      <vt:lpstr>Calibri</vt:lpstr>
      <vt:lpstr>Microsoft YaHei</vt:lpstr>
      <vt:lpstr>Arial Unicode MS</vt:lpstr>
      <vt:lpstr>Crop</vt:lpstr>
      <vt:lpstr>Протоколы и стеки протоколов </vt:lpstr>
      <vt:lpstr>Стандарты IEEE 802</vt:lpstr>
      <vt:lpstr>Стандарты IEEE 802</vt:lpstr>
      <vt:lpstr>Стандарты IEEE 802</vt:lpstr>
      <vt:lpstr>Стандарты IEEE 802</vt:lpstr>
      <vt:lpstr>Стандарты IEEE 802</vt:lpstr>
      <vt:lpstr>Стандарты IEEE 802</vt:lpstr>
      <vt:lpstr>Стандарты IEEE 802</vt:lpstr>
      <vt:lpstr>Стандарты IEEE 802</vt:lpstr>
      <vt:lpstr>Стандарты IEEE 802</vt:lpstr>
      <vt:lpstr>Протоколы и стеки протоколов</vt:lpstr>
      <vt:lpstr>Протоколы и стеки протоколов</vt:lpstr>
      <vt:lpstr>Сетевые протоколы</vt:lpstr>
      <vt:lpstr>Транспортные протоколы</vt:lpstr>
      <vt:lpstr>Прикладные протоколы </vt:lpstr>
      <vt:lpstr>Стек OSI</vt:lpstr>
      <vt:lpstr>Архитектура стека протоколов Microsoft TCP/IP</vt:lpstr>
      <vt:lpstr>Архитектура стека протоколов Microsoft TCP/IP</vt:lpstr>
      <vt:lpstr>PowerPoint 演示文稿</vt:lpstr>
      <vt:lpstr>Стек TCP/IP. Уровень приложения</vt:lpstr>
      <vt:lpstr>Стек TCP/IP. Уровень приложения</vt:lpstr>
      <vt:lpstr>Стек TCP/IP.  Транспортный уровень</vt:lpstr>
      <vt:lpstr>Стек TCP/IP.  Транспортный уровень</vt:lpstr>
      <vt:lpstr>Стек TCP/IP.  Транспортный уровень. Протокол TCP</vt:lpstr>
      <vt:lpstr>Стек TCP/IP.  Транспортный уровень. Протокол TCP</vt:lpstr>
      <vt:lpstr>Стек TCP/IP.  Транспортный уровень. Протокол UDP</vt:lpstr>
      <vt:lpstr>Стек TCP/IP. Транспортный уровень. Различие между TCP и UDP</vt:lpstr>
      <vt:lpstr>Стек TCP/IP. Межсетевой уровень</vt:lpstr>
      <vt:lpstr>Стек TCP/IP. Межсетевой уровень. Протокол IP</vt:lpstr>
      <vt:lpstr>Стек TCP/IP. Межсетевой уровень. Протокол IP</vt:lpstr>
      <vt:lpstr>Стек TCP/IP. Межсетевой уровень. Протокол IP</vt:lpstr>
      <vt:lpstr>Стек TCP/IP. Межсетевой уровень. Протокол ARP</vt:lpstr>
      <vt:lpstr>Стек TCP/IP. Межсетевой уровень. Протокол ARP</vt:lpstr>
      <vt:lpstr>Стек TCP/IP. Межсетевой уровень. Протокол ARP</vt:lpstr>
      <vt:lpstr>Стек TCP/IP. Межсетевой уровень. ARP таблица</vt:lpstr>
      <vt:lpstr>Стек TCP/IP. Межсетевой уровень. Протокол RARP</vt:lpstr>
      <vt:lpstr>Стек TCP/IP. Межсетевой уровень. Протокол ICMP</vt:lpstr>
      <vt:lpstr>Стек TCP/IP. Межсетевой уровень. Протокол IGMP</vt:lpstr>
      <vt:lpstr>Стек TCP/IP. Межсетевой уровень. Протоколы обмена маршрутной информацией</vt:lpstr>
      <vt:lpstr>Стек TCP/IP. Межсетевой уровень. Протоколы обмена маршрутной информацией</vt:lpstr>
      <vt:lpstr>Стек TCP/IP. Межсетевой уровень. Протоколы обмена маршрутной информацией</vt:lpstr>
      <vt:lpstr>Стек TCP/IP. Межсетевой уровень. Протоколы обмена маршрутной информацией</vt:lpstr>
      <vt:lpstr>Стек TCP/IP. Межсетевой уровень. Протоколы обмена маршрутной информацией</vt:lpstr>
      <vt:lpstr>Стек TCP/IP. Межсетевой уровень. Протоколы обмена маршрутной информацией</vt:lpstr>
      <vt:lpstr>Стек TCP/IP. Межсетевой уровень. Протоколы обмена маршрутной информацией</vt:lpstr>
      <vt:lpstr>Стек TCP/IP. Межсетевой уровень. Интерфейс NDIS</vt:lpstr>
      <vt:lpstr>Стек TCP/IP. Уровень сетевого интерфейса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Протоколы и стеки протоколов</dc:title>
  <dc:creator>DmitriM</dc:creator>
  <cp:lastModifiedBy>Диана Подшивале�</cp:lastModifiedBy>
  <cp:revision>61</cp:revision>
  <dcterms:created xsi:type="dcterms:W3CDTF">2010-10-30T07:25:00Z</dcterms:created>
  <dcterms:modified xsi:type="dcterms:W3CDTF">2026-01-04T17:39:50Z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53B2B687BF54423E9095458C09D9F814_12</vt:lpwstr>
  </property>
  <property fmtid="{D5CDD505-2E9C-101B-9397-08002B2CF9AE}" pid="3" name="KSOProductBuildVer">
    <vt:lpwstr>1033-12.2.0.23196</vt:lpwstr>
  </property>
</Properties>
</file>

<file path=[Content_Types].xml><?xml version="1.0" encoding="utf-8"?>
<Types xmlns="http://schemas.openxmlformats.org/package/2006/content-types"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6"/>
  </p:notesMasterIdLst>
  <p:sldIdLst>
    <p:sldId id="256" r:id="rId3"/>
    <p:sldId id="257" r:id="rId4"/>
    <p:sldId id="274" r:id="rId5"/>
    <p:sldId id="275" r:id="rId6"/>
    <p:sldId id="258" r:id="rId7"/>
    <p:sldId id="301" r:id="rId8"/>
    <p:sldId id="276" r:id="rId9"/>
    <p:sldId id="261" r:id="rId10"/>
    <p:sldId id="277" r:id="rId11"/>
    <p:sldId id="278" r:id="rId12"/>
    <p:sldId id="262" r:id="rId13"/>
    <p:sldId id="279" r:id="rId14"/>
    <p:sldId id="281" r:id="rId15"/>
    <p:sldId id="263" r:id="rId16"/>
    <p:sldId id="280" r:id="rId17"/>
    <p:sldId id="264" r:id="rId18"/>
    <p:sldId id="283" r:id="rId19"/>
    <p:sldId id="282" r:id="rId20"/>
    <p:sldId id="284" r:id="rId21"/>
    <p:sldId id="265" r:id="rId22"/>
    <p:sldId id="286" r:id="rId23"/>
    <p:sldId id="285" r:id="rId24"/>
    <p:sldId id="266" r:id="rId25"/>
    <p:sldId id="267" r:id="rId27"/>
    <p:sldId id="287" r:id="rId28"/>
    <p:sldId id="289" r:id="rId29"/>
    <p:sldId id="268" r:id="rId30"/>
    <p:sldId id="288" r:id="rId31"/>
    <p:sldId id="290" r:id="rId32"/>
    <p:sldId id="269" r:id="rId33"/>
    <p:sldId id="292" r:id="rId34"/>
    <p:sldId id="293" r:id="rId35"/>
    <p:sldId id="270" r:id="rId36"/>
    <p:sldId id="291" r:id="rId37"/>
    <p:sldId id="294" r:id="rId38"/>
    <p:sldId id="271" r:id="rId39"/>
    <p:sldId id="296" r:id="rId40"/>
    <p:sldId id="295" r:id="rId41"/>
    <p:sldId id="297" r:id="rId42"/>
    <p:sldId id="272" r:id="rId43"/>
    <p:sldId id="300" r:id="rId44"/>
    <p:sldId id="299" r:id="rId45"/>
    <p:sldId id="260" r:id="rId46"/>
    <p:sldId id="273" r:id="rId47"/>
  </p:sldIdLst>
  <p:sldSz cx="9144000" cy="6858000" type="screen4x3"/>
  <p:notesSz cx="6858000" cy="91440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05" autoAdjust="0"/>
    <p:restoredTop sz="94660"/>
  </p:normalViewPr>
  <p:slideViewPr>
    <p:cSldViewPr showGuides="1">
      <p:cViewPr varScale="1">
        <p:scale>
          <a:sx n="108" d="100"/>
          <a:sy n="108" d="100"/>
        </p:scale>
        <p:origin x="1488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0" Type="http://schemas.openxmlformats.org/officeDocument/2006/relationships/tableStyles" Target="tableStyles.xml"/><Relationship Id="rId5" Type="http://schemas.openxmlformats.org/officeDocument/2006/relationships/slide" Target="slides/slide3.xml"/><Relationship Id="rId49" Type="http://schemas.openxmlformats.org/officeDocument/2006/relationships/viewProps" Target="viewProps.xml"/><Relationship Id="rId48" Type="http://schemas.openxmlformats.org/officeDocument/2006/relationships/presProps" Target="presProps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Титульный слайд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36346" y="1788454"/>
            <a:ext cx="6270922" cy="2098226"/>
          </a:xfrm>
        </p:spPr>
        <p:txBody>
          <a:bodyPr anchor="b">
            <a:noAutofit/>
          </a:bodyPr>
          <a:lstStyle>
            <a:lvl1pPr algn="ctr">
              <a:defRPr sz="6000" cap="all" baseline="0"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09930" y="3956280"/>
            <a:ext cx="5123755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64644" y="6453386"/>
            <a:ext cx="1205958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29AC6CC2-B145-4AF5-A4F4-0DBE36F908D2}" type="datetimeFigureOut">
              <a:rPr lang="ru-RU" smtClean="0"/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38041" y="6453386"/>
            <a:ext cx="5267533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373012" y="6453386"/>
            <a:ext cx="1197219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FB3588C9-98A7-456E-B0DD-22789C89380A}" type="slidenum">
              <a:rPr lang="ru-RU" altLang="ru-RU" smtClean="0"/>
            </a:fld>
            <a:endParaRPr lang="ru-RU" altLang="ru-RU"/>
          </a:p>
        </p:txBody>
      </p:sp>
      <p:grpSp>
        <p:nvGrpSpPr>
          <p:cNvPr id="8" name="Group 7"/>
          <p:cNvGrpSpPr/>
          <p:nvPr/>
        </p:nvGrpSpPr>
        <p:grpSpPr>
          <a:xfrm>
            <a:off x="564643" y="744469"/>
            <a:ext cx="8005589" cy="5349671"/>
            <a:chOff x="564643" y="744469"/>
            <a:chExt cx="8005589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6113972" y="1685652"/>
              <a:ext cx="2456260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357"/>
                  </a:lnTo>
                  <a:lnTo>
                    <a:pt x="8761" y="935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564643" y="744469"/>
              <a:ext cx="2456505" cy="4408488"/>
            </a:xfrm>
            <a:custGeom>
              <a:avLst/>
              <a:gdLst/>
              <a:ahLst/>
              <a:cxnLst/>
              <a:rect l="l" t="t" r="r" b="b"/>
              <a:pathLst>
                <a:path w="10001" h="10000">
                  <a:moveTo>
                    <a:pt x="8762" y="0"/>
                  </a:moveTo>
                  <a:lnTo>
                    <a:pt x="10001" y="0"/>
                  </a:lnTo>
                  <a:lnTo>
                    <a:pt x="10001" y="10000"/>
                  </a:lnTo>
                  <a:lnTo>
                    <a:pt x="1" y="10000"/>
                  </a:lnTo>
                  <a:cubicBezTo>
                    <a:pt x="-2" y="9766"/>
                    <a:pt x="4" y="9586"/>
                    <a:pt x="1" y="9352"/>
                  </a:cubicBezTo>
                  <a:lnTo>
                    <a:pt x="8762" y="9346"/>
                  </a:lnTo>
                  <a:lnTo>
                    <a:pt x="876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D37A045-DD1C-4363-B060-77A68E0656F4}" type="datetimeFigureOut">
              <a:rPr lang="ru-RU" smtClean="0"/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18548-5E22-464A-9498-F60571AD6EB7}" type="slidenum">
              <a:rPr lang="ru-RU" altLang="ru-RU" smtClean="0"/>
            </a:fld>
            <a:endParaRPr lang="ru-RU" alt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3769" y="1301361"/>
            <a:ext cx="7209728" cy="2852737"/>
          </a:xfrm>
        </p:spPr>
        <p:txBody>
          <a:bodyPr anchor="b">
            <a:normAutofit/>
          </a:bodyPr>
          <a:lstStyle>
            <a:lvl1pPr algn="r">
              <a:defRPr sz="6000" cap="all" baseline="0"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3769" y="4216328"/>
            <a:ext cx="7209728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2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4181" y="6453386"/>
            <a:ext cx="1216807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DDE71AAB-64B5-46C8-88D6-C3AD5FB8135C}" type="datetimeFigureOut">
              <a:rPr lang="ru-RU" smtClean="0"/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38234" y="6453386"/>
            <a:ext cx="5267533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373012" y="6453386"/>
            <a:ext cx="119721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8F2411B-2F5A-46B2-9B80-461EEBE2F6FB}" type="slidenum">
              <a:rPr lang="ru-RU" altLang="ru-RU" smtClean="0"/>
            </a:fld>
            <a:endParaRPr lang="ru-RU" altLang="ru-RU"/>
          </a:p>
        </p:txBody>
      </p:sp>
      <p:sp>
        <p:nvSpPr>
          <p:cNvPr id="7" name="Freeform 6"/>
          <p:cNvSpPr/>
          <p:nvPr/>
        </p:nvSpPr>
        <p:spPr bwMode="auto">
          <a:xfrm>
            <a:off x="6113972" y="1685652"/>
            <a:ext cx="2456260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</a:ln>
        </p:spPr>
      </p:sp>
      <p:sp>
        <p:nvSpPr>
          <p:cNvPr id="8" name="Freeform 7" title="Crop Mark"/>
          <p:cNvSpPr/>
          <p:nvPr/>
        </p:nvSpPr>
        <p:spPr bwMode="auto">
          <a:xfrm>
            <a:off x="6113972" y="1685652"/>
            <a:ext cx="2456260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8700" y="2286000"/>
            <a:ext cx="3335840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94052" y="2286000"/>
            <a:ext cx="3335840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D7AED52-D4B9-4AEE-BF9F-2BF4F8E443D7}" type="datetimeFigureOut">
              <a:rPr lang="ru-RU" smtClean="0"/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1BAE8-A7CA-4C66-957C-B0EA75FD255B}" type="slidenum">
              <a:rPr lang="ru-RU" altLang="ru-RU" smtClean="0"/>
            </a:fld>
            <a:endParaRPr lang="ru-RU" alt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700" y="685800"/>
            <a:ext cx="72009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8700" y="2340230"/>
            <a:ext cx="3335840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2400" b="0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8700" y="3305208"/>
            <a:ext cx="3335839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93760" y="2349754"/>
            <a:ext cx="3335840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2400" b="0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93760" y="3305208"/>
            <a:ext cx="3335840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A5BB25F-A755-4EB1-B7C2-7D3171120F92}" type="datetimeFigureOut">
              <a:rPr lang="ru-RU" smtClean="0"/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5147F-C82D-4F10-A6AF-9E655804E81E}" type="slidenum">
              <a:rPr lang="ru-RU" altLang="ru-RU" smtClean="0"/>
            </a:fld>
            <a:endParaRPr lang="ru-RU" alt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5FA662E-3EAC-44AD-BA57-98E5F53F98A0}" type="datetimeFigureOut">
              <a:rPr lang="ru-RU" smtClean="0"/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71995-9CDF-4378-BDC5-66AD852B65D1}" type="slidenum">
              <a:rPr lang="ru-RU" altLang="ru-RU" smtClean="0"/>
            </a:fld>
            <a:endParaRPr lang="ru-RU" alt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EE549E2-0D96-42DE-B945-567F5333976E}" type="datetimeFigureOut">
              <a:rPr lang="ru-RU" smtClean="0"/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D8EA5-7B1F-4EE0-8A3A-AEA1CDB05460}" type="slidenum">
              <a:rPr lang="ru-RU" altLang="ru-RU" smtClean="0"/>
            </a:fld>
            <a:endParaRPr lang="ru-RU" alt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397764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925" y="685800"/>
            <a:ext cx="289179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400" baseline="0"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92015" y="685801"/>
            <a:ext cx="3909060" cy="5175250"/>
          </a:xfrm>
        </p:spPr>
        <p:txBody>
          <a:bodyPr/>
          <a:lstStyle>
            <a:lvl1pPr>
              <a:defRPr sz="1500"/>
            </a:lvl1pPr>
            <a:lvl2pPr>
              <a:defRPr sz="1500"/>
            </a:lvl2pPr>
            <a:lvl3pPr>
              <a:defRPr sz="1350"/>
            </a:lvl3pPr>
            <a:lvl4pPr>
              <a:defRPr sz="135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2925" y="2856344"/>
            <a:ext cx="2891790" cy="3011056"/>
          </a:xfrm>
        </p:spPr>
        <p:txBody>
          <a:bodyPr>
            <a:normAutofit/>
          </a:bodyPr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42925" y="6453386"/>
            <a:ext cx="90342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094F5950-B240-489A-AFD2-7E2906E5F49B}" type="datetimeFigureOut">
              <a:rPr lang="ru-RU" smtClean="0"/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654459" y="6453386"/>
            <a:ext cx="1780256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412355" y="6453386"/>
            <a:ext cx="119721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34C400B-6432-4B8A-A435-25A5D29AF495}" type="slidenum">
              <a:rPr lang="ru-RU" altLang="ru-RU" smtClean="0"/>
            </a:fld>
            <a:endParaRPr lang="ru-RU" altLang="ru-RU"/>
          </a:p>
        </p:txBody>
      </p:sp>
      <p:sp>
        <p:nvSpPr>
          <p:cNvPr id="9" name="Rectangle 8"/>
          <p:cNvSpPr/>
          <p:nvPr/>
        </p:nvSpPr>
        <p:spPr>
          <a:xfrm>
            <a:off x="3977640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 title="Divider Bar"/>
          <p:cNvSpPr/>
          <p:nvPr/>
        </p:nvSpPr>
        <p:spPr>
          <a:xfrm>
            <a:off x="3977640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397764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925" y="685800"/>
            <a:ext cx="289179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400" baseline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149090" y="1"/>
            <a:ext cx="4994910" cy="6857999"/>
          </a:xfrm>
        </p:spPr>
        <p:txBody>
          <a:bodyPr anchor="t"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1500"/>
            </a:lvl2pPr>
            <a:lvl3pPr marL="685800" indent="0">
              <a:buNone/>
              <a:defRPr sz="15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2925" y="2855968"/>
            <a:ext cx="2891790" cy="3011432"/>
          </a:xfrm>
        </p:spPr>
        <p:txBody>
          <a:bodyPr>
            <a:normAutofit/>
          </a:bodyPr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42925" y="6453386"/>
            <a:ext cx="90342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F207AC04-59B4-46AB-868F-75066C33DA36}" type="datetimeFigureOut">
              <a:rPr lang="ru-RU" smtClean="0"/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654459" y="6453386"/>
            <a:ext cx="1780256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412355" y="6453386"/>
            <a:ext cx="119721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60F16B2-39F7-459A-920A-B94FD802227E}" type="slidenum">
              <a:rPr lang="ru-RU" altLang="ru-RU" smtClean="0"/>
            </a:fld>
            <a:endParaRPr lang="ru-RU" altLang="ru-RU"/>
          </a:p>
        </p:txBody>
      </p:sp>
      <p:sp>
        <p:nvSpPr>
          <p:cNvPr id="9" name="Rectangle 8"/>
          <p:cNvSpPr/>
          <p:nvPr/>
        </p:nvSpPr>
        <p:spPr>
          <a:xfrm>
            <a:off x="3977640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 title="Divider Bar"/>
          <p:cNvSpPr/>
          <p:nvPr/>
        </p:nvSpPr>
        <p:spPr>
          <a:xfrm>
            <a:off x="3977640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8700" y="2295526"/>
            <a:ext cx="7200900" cy="357187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4AC3677-7755-49AD-999B-C3DF52B467CB}" type="datetimeFigureOut">
              <a:rPr lang="ru-RU" smtClean="0"/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6E1EC-6234-4B74-BF1F-660A66B488B0}" type="slidenum">
              <a:rPr lang="ru-RU" altLang="ru-RU" smtClean="0"/>
            </a:fld>
            <a:endParaRPr lang="ru-RU" alt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80797" y="624156"/>
            <a:ext cx="1490950" cy="5243244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8700" y="624156"/>
            <a:ext cx="5724525" cy="5243244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FAE92A9-2CD2-497B-BB23-A677C1A506DB}" type="datetimeFigureOut">
              <a:rPr lang="ru-RU" smtClean="0"/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F83C2-BD6A-4CDA-AEAF-71B2EFE5630B}" type="slidenum">
              <a:rPr lang="ru-RU" altLang="ru-RU" smtClean="0"/>
            </a:fld>
            <a:endParaRPr lang="ru-RU" alt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8700" y="685800"/>
            <a:ext cx="72009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8700" y="2286000"/>
            <a:ext cx="72009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42987" y="6453386"/>
            <a:ext cx="903429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aseline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3836D118-9C78-4F2E-8870-B7900B36D216}" type="datetimeFigureOut">
              <a:rPr lang="ru-RU" smtClean="0"/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70173" y="6453386"/>
            <a:ext cx="4710623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aseline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4552" y="6453386"/>
            <a:ext cx="1197219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aseline="0">
                <a:solidFill>
                  <a:schemeClr val="tx2"/>
                </a:solidFill>
              </a:defRPr>
            </a:lvl1pPr>
          </a:lstStyle>
          <a:p>
            <a:fld id="{D566F05B-782D-48A7-82AB-710C09CB832C}" type="slidenum">
              <a:rPr lang="ru-RU" altLang="ru-RU" smtClean="0"/>
            </a:fld>
            <a:endParaRPr lang="ru-RU" altLang="ru-RU"/>
          </a:p>
        </p:txBody>
      </p:sp>
      <p:sp>
        <p:nvSpPr>
          <p:cNvPr id="9" name="Rectangle 8"/>
          <p:cNvSpPr/>
          <p:nvPr/>
        </p:nvSpPr>
        <p:spPr>
          <a:xfrm>
            <a:off x="358571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 title="Side bar"/>
          <p:cNvSpPr/>
          <p:nvPr/>
        </p:nvSpPr>
        <p:spPr>
          <a:xfrm>
            <a:off x="358571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175" indent="-384175" algn="l" defTabSz="6858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175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175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175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175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175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175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175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175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wmf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ru-RU" altLang="ru-RU" b="1" smtClean="0"/>
              <a:t>Семиуровневая модель </a:t>
            </a:r>
            <a:r>
              <a:rPr lang="en-US" altLang="ru-RU" b="1" smtClean="0"/>
              <a:t>OSI</a:t>
            </a:r>
            <a:endParaRPr lang="ru-RU" altLang="ru-RU" smtClean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/>
          </a:bodyPr>
          <a:lstStyle/>
          <a:p>
            <a:pPr algn="r" eaLnBrk="1" fontAlgn="auto" hangingPunct="1">
              <a:spcAft>
                <a:spcPts val="0"/>
              </a:spcAft>
              <a:defRPr/>
            </a:pPr>
            <a:endParaRPr lang="ru-RU" dirty="0" smtClean="0"/>
          </a:p>
          <a:p>
            <a:pPr algn="r" eaLnBrk="1" fontAlgn="auto" hangingPunct="1">
              <a:spcAft>
                <a:spcPts val="0"/>
              </a:spcAft>
              <a:defRPr/>
            </a:pPr>
            <a:r>
              <a:rPr lang="ru-RU" dirty="0" smtClean="0"/>
              <a:t>Лекция 6-7</a:t>
            </a:r>
            <a:endParaRPr lang="ru-RU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0214" y="3212976"/>
            <a:ext cx="4802320" cy="3524785"/>
          </a:xfrm>
          <a:prstGeom prst="rect">
            <a:avLst/>
          </a:prstGeom>
          <a:noFill/>
          <a:ln>
            <a:noFill/>
          </a:ln>
          <a:effectLst>
            <a:softEdge rad="889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6" name="TextBox 4"/>
          <p:cNvSpPr txBox="1">
            <a:spLocks noChangeArrowheads="1"/>
          </p:cNvSpPr>
          <p:nvPr/>
        </p:nvSpPr>
        <p:spPr bwMode="auto">
          <a:xfrm>
            <a:off x="357188" y="142875"/>
            <a:ext cx="8429625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 sz="2800" b="1" i="1">
                <a:latin typeface="Calibri" panose="020F0502020204030204" pitchFamily="34" charset="0"/>
              </a:rPr>
              <a:t>Базовая модель связи открытых систем OSI</a:t>
            </a:r>
            <a:r>
              <a:rPr lang="ru-RU" altLang="ru-RU" sz="2800">
                <a:latin typeface="Calibri" panose="020F0502020204030204" pitchFamily="34" charset="0"/>
              </a:rPr>
              <a:t>  </a:t>
            </a:r>
            <a:endParaRPr lang="ru-RU" altLang="ru-RU" sz="2800">
              <a:latin typeface="Calibri" panose="020F0502020204030204" pitchFamily="34" charset="0"/>
            </a:endParaRPr>
          </a:p>
          <a:p>
            <a:pPr algn="ctr" eaLnBrk="1" hangingPunct="1"/>
            <a:r>
              <a:rPr lang="ru-RU" altLang="ru-RU" sz="2800">
                <a:latin typeface="Calibri" panose="020F0502020204030204" pitchFamily="34" charset="0"/>
              </a:rPr>
              <a:t>(Open System Interconnection)</a:t>
            </a:r>
            <a:endParaRPr lang="ru-RU" altLang="ru-RU" sz="2800">
              <a:latin typeface="Calibri" panose="020F0502020204030204" pitchFamily="34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971600" y="1196752"/>
            <a:ext cx="7815213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/>
            <a:r>
              <a:rPr lang="ru-RU" sz="18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Для единого представления данных в сетях с неоднородными устройствами и программным обеспечением международная организация по стандартам ISO (</a:t>
            </a:r>
            <a:r>
              <a:rPr lang="en-US" sz="18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International Standardization Organization</a:t>
            </a:r>
            <a:r>
              <a:rPr lang="ru-RU" sz="18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 разработала базовую модель связи открытых систем OSI (</a:t>
            </a:r>
            <a:r>
              <a:rPr lang="en-US" sz="18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Open System Interconnection</a:t>
            </a:r>
            <a:r>
              <a:rPr lang="ru-RU" sz="18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). Эта модель описывает правила и процедуры передачи данных в различных сетевых средах при организации сеанса связи.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5742534" y="4005064"/>
            <a:ext cx="300608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/>
            <a:r>
              <a:rPr lang="ru-RU" sz="1800" dirty="0" smtClean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Основными элементами модели являются уровни, прикладные процессы и физические средства соединения.</a:t>
            </a:r>
            <a:endParaRPr lang="ru-RU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TextBox 4"/>
          <p:cNvSpPr txBox="1">
            <a:spLocks noChangeArrowheads="1"/>
          </p:cNvSpPr>
          <p:nvPr/>
        </p:nvSpPr>
        <p:spPr bwMode="auto">
          <a:xfrm>
            <a:off x="1187623" y="142875"/>
            <a:ext cx="7056785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 sz="2800" b="1" i="1" dirty="0">
                <a:latin typeface="Calibri" panose="020F0502020204030204" pitchFamily="34" charset="0"/>
              </a:rPr>
              <a:t>Базовая модель связи открытых </a:t>
            </a:r>
            <a:endParaRPr lang="ru-RU" altLang="ru-RU" sz="2800" b="1" i="1" dirty="0" smtClean="0">
              <a:latin typeface="Calibri" panose="020F0502020204030204" pitchFamily="34" charset="0"/>
            </a:endParaRPr>
          </a:p>
          <a:p>
            <a:pPr algn="ctr" eaLnBrk="1" hangingPunct="1"/>
            <a:r>
              <a:rPr lang="ru-RU" altLang="ru-RU" sz="2800" b="1" i="1" dirty="0" smtClean="0">
                <a:latin typeface="Calibri" panose="020F0502020204030204" pitchFamily="34" charset="0"/>
              </a:rPr>
              <a:t>систем </a:t>
            </a:r>
            <a:r>
              <a:rPr lang="ru-RU" altLang="ru-RU" sz="2800" b="1" i="1" dirty="0">
                <a:latin typeface="Calibri" panose="020F0502020204030204" pitchFamily="34" charset="0"/>
              </a:rPr>
              <a:t>OSI</a:t>
            </a:r>
            <a:r>
              <a:rPr lang="ru-RU" altLang="ru-RU" sz="2800" dirty="0">
                <a:latin typeface="Calibri" panose="020F0502020204030204" pitchFamily="34" charset="0"/>
              </a:rPr>
              <a:t> </a:t>
            </a:r>
            <a:r>
              <a:rPr lang="ru-RU" altLang="ru-RU" sz="2800" dirty="0" smtClean="0">
                <a:latin typeface="Calibri" panose="020F0502020204030204" pitchFamily="34" charset="0"/>
              </a:rPr>
              <a:t>.Принципы</a:t>
            </a:r>
            <a:endParaRPr lang="ru-RU" altLang="ru-RU" sz="2800" dirty="0">
              <a:latin typeface="Calibri" panose="020F0502020204030204" pitchFamily="34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938101" y="1556792"/>
            <a:ext cx="7594340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>
              <a:spcBef>
                <a:spcPts val="1200"/>
              </a:spcBef>
              <a:spcAft>
                <a:spcPts val="1200"/>
              </a:spcAft>
            </a:pPr>
            <a:r>
              <a:rPr lang="ru-RU" sz="20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1. Каждый уровень модели</a:t>
            </a:r>
            <a:r>
              <a:rPr lang="ru-RU" sz="2000" i="1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0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OSI выполняет </a:t>
            </a:r>
            <a:r>
              <a:rPr lang="ru-RU" sz="2000" u="sng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определенную задачу в процессе передачи данных по сети</a:t>
            </a:r>
            <a:r>
              <a:rPr lang="ru-RU" sz="20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endParaRPr lang="ru-RU" sz="200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>
              <a:spcBef>
                <a:spcPts val="1200"/>
              </a:spcBef>
              <a:spcAft>
                <a:spcPts val="1200"/>
              </a:spcAft>
            </a:pPr>
            <a:r>
              <a:rPr lang="ru-RU" sz="20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2. Базовая модель, являющаяся основой для разработки сетевых протоколов, разделяет коммуникационные функции в сети на </a:t>
            </a:r>
            <a:r>
              <a:rPr lang="ru-RU" sz="2000" u="sng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семь уровней, каждый из которых обслуживает различные части процесса области взаимодействия открытых систем</a:t>
            </a:r>
            <a:r>
              <a:rPr lang="ru-RU" sz="20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200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>
              <a:spcBef>
                <a:spcPts val="1200"/>
              </a:spcBef>
              <a:spcAft>
                <a:spcPts val="1200"/>
              </a:spcAft>
            </a:pPr>
            <a:r>
              <a:rPr lang="ru-RU" sz="20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3. </a:t>
            </a:r>
            <a:r>
              <a:rPr lang="ru-RU" sz="2000" u="sng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Модель OSI описывает только системные средства взаимодействия, не касаясь приложений конечных пользователей</a:t>
            </a:r>
            <a:r>
              <a:rPr lang="ru-RU" sz="20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Приложения реализуют свои собственные протоколы взаимодействия, обращаясь к системным средствам. Если приложение может взять на себя функции некоторых верхних уровней модели OSI, то для обмена данными оно обращается напрямую к системным средствам, выполняющим функции оставшихся нижних уровней модели OSI.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TextBox 4"/>
          <p:cNvSpPr txBox="1">
            <a:spLocks noChangeArrowheads="1"/>
          </p:cNvSpPr>
          <p:nvPr/>
        </p:nvSpPr>
        <p:spPr bwMode="auto">
          <a:xfrm>
            <a:off x="1187623" y="142875"/>
            <a:ext cx="7056785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 sz="2800" b="1" i="1" dirty="0">
                <a:latin typeface="Calibri" panose="020F0502020204030204" pitchFamily="34" charset="0"/>
              </a:rPr>
              <a:t>Базовая модель связи открытых </a:t>
            </a:r>
            <a:endParaRPr lang="ru-RU" altLang="ru-RU" sz="2800" b="1" i="1" dirty="0" smtClean="0">
              <a:latin typeface="Calibri" panose="020F0502020204030204" pitchFamily="34" charset="0"/>
            </a:endParaRPr>
          </a:p>
          <a:p>
            <a:pPr algn="ctr" eaLnBrk="1" hangingPunct="1"/>
            <a:r>
              <a:rPr lang="ru-RU" altLang="ru-RU" sz="2800" b="1" i="1" dirty="0" smtClean="0">
                <a:latin typeface="Calibri" panose="020F0502020204030204" pitchFamily="34" charset="0"/>
              </a:rPr>
              <a:t>систем </a:t>
            </a:r>
            <a:r>
              <a:rPr lang="ru-RU" altLang="ru-RU" sz="2800" b="1" i="1" dirty="0">
                <a:latin typeface="Calibri" panose="020F0502020204030204" pitchFamily="34" charset="0"/>
              </a:rPr>
              <a:t>OSI</a:t>
            </a:r>
            <a:r>
              <a:rPr lang="ru-RU" altLang="ru-RU" sz="2800" dirty="0">
                <a:latin typeface="Calibri" panose="020F0502020204030204" pitchFamily="34" charset="0"/>
              </a:rPr>
              <a:t> </a:t>
            </a:r>
            <a:r>
              <a:rPr lang="ru-RU" altLang="ru-RU" sz="2800" dirty="0" smtClean="0">
                <a:latin typeface="Calibri" panose="020F0502020204030204" pitchFamily="34" charset="0"/>
              </a:rPr>
              <a:t>.Принципы</a:t>
            </a:r>
            <a:endParaRPr lang="ru-RU" altLang="ru-RU" sz="2800" dirty="0">
              <a:latin typeface="Calibri" panose="020F0502020204030204" pitchFamily="34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938101" y="1556792"/>
            <a:ext cx="7594340" cy="459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>
              <a:spcBef>
                <a:spcPts val="1200"/>
              </a:spcBef>
              <a:spcAft>
                <a:spcPts val="1200"/>
              </a:spcAft>
            </a:pP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4. Каждый уровень модели выполняет свою функцию. </a:t>
            </a:r>
            <a:r>
              <a:rPr lang="ru-RU" sz="2000" u="sng" dirty="0">
                <a:latin typeface="Times New Roman" panose="02020603050405020304" pitchFamily="18" charset="0"/>
                <a:ea typeface="Times New Roman" panose="02020603050405020304" pitchFamily="18" charset="0"/>
              </a:rPr>
              <a:t>Чем выше уровень, тем более сложную задачу он решает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>
              <a:spcBef>
                <a:spcPts val="1200"/>
              </a:spcBef>
              <a:spcAft>
                <a:spcPts val="1200"/>
              </a:spcAft>
            </a:pP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5. Отдельные уровни модели OSI удобно рассматривать </a:t>
            </a:r>
            <a:r>
              <a:rPr lang="ru-RU" sz="2000" u="sng" dirty="0">
                <a:latin typeface="Times New Roman" panose="02020603050405020304" pitchFamily="18" charset="0"/>
                <a:ea typeface="Times New Roman" panose="02020603050405020304" pitchFamily="18" charset="0"/>
              </a:rPr>
              <a:t>как группы программ, предназначенных для выполнения конкретных функций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endParaRPr lang="ru-RU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>
              <a:spcBef>
                <a:spcPts val="1200"/>
              </a:spcBef>
              <a:spcAft>
                <a:spcPts val="1200"/>
              </a:spcAft>
            </a:pP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6. </a:t>
            </a:r>
            <a:r>
              <a:rPr lang="ru-RU" sz="2000" u="sng" dirty="0">
                <a:latin typeface="Times New Roman" panose="02020603050405020304" pitchFamily="18" charset="0"/>
                <a:ea typeface="Times New Roman" panose="02020603050405020304" pitchFamily="18" charset="0"/>
              </a:rPr>
              <a:t>Каждый уровень обеспечивает сервис для вышестоящего уровня, запрашивая в свою очередь, сервис у нижестоящего уровня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Верхние уровни запрашивают сервис почти одинаково: как правило, это требование маршрутизации каких-то данных из одной сети в другую. Практическая реализация принципов адресации данных возложена на нижние уровни.</a:t>
            </a:r>
            <a:endParaRPr lang="ru-RU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>
              <a:spcBef>
                <a:spcPts val="300"/>
              </a:spcBef>
              <a:spcAft>
                <a:spcPts val="0"/>
              </a:spcAft>
            </a:pP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Заголовок 1"/>
          <p:cNvSpPr>
            <a:spLocks noGrp="1"/>
          </p:cNvSpPr>
          <p:nvPr>
            <p:ph type="title"/>
          </p:nvPr>
        </p:nvSpPr>
        <p:spPr>
          <a:xfrm>
            <a:off x="971550" y="44450"/>
            <a:ext cx="7686675" cy="492125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ru-RU" altLang="ru-RU" sz="2800" b="1" dirty="0" smtClean="0"/>
              <a:t>Взаимодействие уровней модели </a:t>
            </a:r>
            <a:r>
              <a:rPr lang="en-US" altLang="ru-RU" sz="2800" b="1" dirty="0" smtClean="0"/>
              <a:t>OSI</a:t>
            </a:r>
            <a:endParaRPr lang="ru-RU" altLang="ru-RU" sz="2800" dirty="0" smtClean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2105" y="2563300"/>
            <a:ext cx="3987702" cy="4174089"/>
          </a:xfrm>
          <a:prstGeom prst="rect">
            <a:avLst/>
          </a:prstGeom>
          <a:noFill/>
          <a:ln>
            <a:noFill/>
          </a:ln>
          <a:effectLst>
            <a:softEdge rad="889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Прямоугольник 2"/>
          <p:cNvSpPr/>
          <p:nvPr/>
        </p:nvSpPr>
        <p:spPr>
          <a:xfrm>
            <a:off x="818468" y="564694"/>
            <a:ext cx="7992888" cy="20108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>
              <a:spcBef>
                <a:spcPts val="500"/>
              </a:spcBef>
              <a:spcAft>
                <a:spcPts val="500"/>
              </a:spcAft>
            </a:pPr>
            <a:r>
              <a:rPr lang="ru-RU" sz="18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Модель </a:t>
            </a:r>
            <a:r>
              <a:rPr lang="en-US" sz="18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OSI</a:t>
            </a:r>
            <a:r>
              <a:rPr lang="ru-RU" sz="18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можно разделить на две различных модели, как показано на следующем рисунке: </a:t>
            </a:r>
            <a:endParaRPr lang="ru-RU" sz="180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750" lvl="0" indent="-285750" algn="just">
              <a:spcBef>
                <a:spcPts val="500"/>
              </a:spcBef>
              <a:spcAft>
                <a:spcPts val="500"/>
              </a:spcAft>
              <a:buSzPts val="1400"/>
              <a:buFont typeface="Wingdings" panose="05000000000000000000" pitchFamily="2" charset="2"/>
              <a:buChar char="Ø"/>
              <a:tabLst>
                <a:tab pos="228600" algn="l"/>
              </a:tabLst>
            </a:pPr>
            <a:r>
              <a:rPr lang="ru-RU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горизонтальную модель на базе протоколов, обеспечивающую механизм взаимодействия программ и процессов на различных машинах; </a:t>
            </a:r>
            <a:endParaRPr lang="ru-RU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750" indent="-285750" algn="just">
              <a:spcBef>
                <a:spcPts val="500"/>
              </a:spcBef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lang="ru-RU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вертикальную модель на основе услуг, обеспечиваемых соседними уровнями друг другу на одной машине.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5138947" y="2750038"/>
            <a:ext cx="3672409" cy="17979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>
              <a:lnSpc>
                <a:spcPts val="1900"/>
              </a:lnSpc>
              <a:spcBef>
                <a:spcPts val="300"/>
              </a:spcBef>
              <a:spcAft>
                <a:spcPts val="0"/>
              </a:spcAft>
            </a:pPr>
            <a:r>
              <a:rPr lang="ru-RU" sz="1800" dirty="0" smtClean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Каждый уровень компьютера–отправителя взаимодействует с таким же уровнем компьютера-получателя, как будто он связан напрямую. Такая связь называется логической или виртуальной связью.</a:t>
            </a:r>
            <a:r>
              <a:rPr lang="ru-RU" sz="18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5122796" y="4578581"/>
            <a:ext cx="3688560" cy="20415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>
              <a:lnSpc>
                <a:spcPts val="1900"/>
              </a:lnSpc>
              <a:spcBef>
                <a:spcPts val="300"/>
              </a:spcBef>
              <a:spcAft>
                <a:spcPts val="0"/>
              </a:spcAft>
            </a:pPr>
            <a:r>
              <a:rPr lang="ru-RU" sz="18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 </a:t>
            </a:r>
            <a:r>
              <a:rPr lang="ru-RU" sz="1800" b="1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горизонтальной модели </a:t>
            </a:r>
            <a:r>
              <a:rPr lang="ru-RU" sz="18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двум программам требуется </a:t>
            </a:r>
            <a:r>
              <a:rPr lang="ru-RU" sz="1800" u="sng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общий протокол для обмена данными</a:t>
            </a:r>
            <a:r>
              <a:rPr lang="ru-RU" sz="18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В </a:t>
            </a:r>
            <a:r>
              <a:rPr lang="ru-RU" sz="1800" b="1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вертикальной модели </a:t>
            </a:r>
            <a:r>
              <a:rPr lang="ru-RU" sz="18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соседние уровни обмениваются данными с использованием </a:t>
            </a:r>
            <a:r>
              <a:rPr lang="ru-RU" sz="1800" u="sng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интерфейсов прикладных программ API </a:t>
            </a:r>
            <a:r>
              <a:rPr lang="ru-RU" sz="18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sz="18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Application Programming Interface</a:t>
            </a:r>
            <a:r>
              <a:rPr lang="ru-RU" sz="18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).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Заголовок 1"/>
          <p:cNvSpPr>
            <a:spLocks noGrp="1"/>
          </p:cNvSpPr>
          <p:nvPr>
            <p:ph type="title"/>
          </p:nvPr>
        </p:nvSpPr>
        <p:spPr>
          <a:xfrm>
            <a:off x="971599" y="44624"/>
            <a:ext cx="7686625" cy="1143000"/>
          </a:xfrm>
        </p:spPr>
        <p:txBody>
          <a:bodyPr/>
          <a:lstStyle/>
          <a:p>
            <a:pPr eaLnBrk="1" hangingPunct="1"/>
            <a:r>
              <a:rPr lang="ru-RU" altLang="ru-RU" sz="2800" b="1" dirty="0" smtClean="0"/>
              <a:t>Взаимодействие уровней модели </a:t>
            </a:r>
            <a:r>
              <a:rPr lang="en-US" altLang="ru-RU" sz="2800" b="1" dirty="0" smtClean="0"/>
              <a:t>OSI</a:t>
            </a:r>
            <a:endParaRPr lang="ru-RU" altLang="ru-RU" sz="2800" dirty="0" smtClean="0"/>
          </a:p>
        </p:txBody>
      </p:sp>
      <p:pic>
        <p:nvPicPr>
          <p:cNvPr id="2050" name="Picture 2" descr="https://kvckr.me/itirod/images/chrome_2017-05-21_13-43-01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094" y="1340768"/>
            <a:ext cx="7819130" cy="3888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Заголовок 1"/>
          <p:cNvSpPr>
            <a:spLocks noGrp="1"/>
          </p:cNvSpPr>
          <p:nvPr>
            <p:ph type="title"/>
          </p:nvPr>
        </p:nvSpPr>
        <p:spPr>
          <a:xfrm>
            <a:off x="971550" y="260350"/>
            <a:ext cx="7686675" cy="984885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ru-RU" altLang="ru-RU" sz="2800" b="1" dirty="0" smtClean="0"/>
              <a:t>Взаимодействие уровней модели </a:t>
            </a:r>
            <a:r>
              <a:rPr lang="en-US" altLang="ru-RU" sz="2800" b="1" dirty="0" smtClean="0"/>
              <a:t>OSI</a:t>
            </a:r>
            <a:r>
              <a:rPr lang="ru-RU" altLang="ru-RU" sz="2800" b="1" dirty="0" smtClean="0"/>
              <a:t>. Вывод</a:t>
            </a:r>
            <a:endParaRPr lang="ru-RU" altLang="ru-RU" sz="2800" dirty="0" smtClean="0"/>
          </a:p>
        </p:txBody>
      </p:sp>
      <p:sp>
        <p:nvSpPr>
          <p:cNvPr id="3" name="Прямоугольник 2"/>
          <p:cNvSpPr/>
          <p:nvPr/>
        </p:nvSpPr>
        <p:spPr>
          <a:xfrm>
            <a:off x="818466" y="1052736"/>
            <a:ext cx="7992888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>
              <a:spcBef>
                <a:spcPts val="600"/>
              </a:spcBef>
              <a:spcAft>
                <a:spcPts val="600"/>
              </a:spcAft>
            </a:pPr>
            <a:r>
              <a:rPr lang="ru-RU" sz="20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Рассматриваемая модель </a:t>
            </a:r>
            <a:r>
              <a:rPr lang="ru-RU" sz="2000" u="sng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определяет взаимодействие открытых систем разных производителей в одной сети</a:t>
            </a:r>
            <a:r>
              <a:rPr lang="ru-RU" sz="20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Поэтому она выполняет для них координирующие действия по:</a:t>
            </a:r>
            <a:endParaRPr lang="ru-RU" sz="200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spcBef>
                <a:spcPts val="600"/>
              </a:spcBef>
              <a:spcAft>
                <a:spcPts val="600"/>
              </a:spcAft>
              <a:buSzPts val="1400"/>
              <a:buFont typeface="Symbol" panose="05050102010706020507" pitchFamily="18" charset="2"/>
              <a:buChar char=""/>
              <a:tabLst>
                <a:tab pos="228600" algn="l"/>
              </a:tabLst>
            </a:pPr>
            <a:r>
              <a:rPr lang="ru-RU" sz="20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взаимодействию прикладных процессов; </a:t>
            </a:r>
            <a:endParaRPr lang="ru-RU" sz="200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spcBef>
                <a:spcPts val="600"/>
              </a:spcBef>
              <a:spcAft>
                <a:spcPts val="600"/>
              </a:spcAft>
              <a:buSzPts val="1400"/>
              <a:buFont typeface="Symbol" panose="05050102010706020507" pitchFamily="18" charset="2"/>
              <a:buChar char=""/>
              <a:tabLst>
                <a:tab pos="228600" algn="l"/>
              </a:tabLst>
            </a:pPr>
            <a:r>
              <a:rPr lang="ru-RU" sz="20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формам представления данных; </a:t>
            </a:r>
            <a:endParaRPr lang="ru-RU" sz="200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spcBef>
                <a:spcPts val="600"/>
              </a:spcBef>
              <a:spcAft>
                <a:spcPts val="600"/>
              </a:spcAft>
              <a:buSzPts val="1400"/>
              <a:buFont typeface="Symbol" panose="05050102010706020507" pitchFamily="18" charset="2"/>
              <a:buChar char=""/>
              <a:tabLst>
                <a:tab pos="228600" algn="l"/>
              </a:tabLst>
            </a:pPr>
            <a:r>
              <a:rPr lang="ru-RU" sz="20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единообразному хранению данных; </a:t>
            </a:r>
            <a:endParaRPr lang="ru-RU" sz="200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spcBef>
                <a:spcPts val="600"/>
              </a:spcBef>
              <a:spcAft>
                <a:spcPts val="600"/>
              </a:spcAft>
              <a:buSzPts val="1400"/>
              <a:buFont typeface="Symbol" panose="05050102010706020507" pitchFamily="18" charset="2"/>
              <a:buChar char=""/>
              <a:tabLst>
                <a:tab pos="228600" algn="l"/>
              </a:tabLst>
            </a:pPr>
            <a:r>
              <a:rPr lang="ru-RU" sz="20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управлению сетевыми ресурсами; </a:t>
            </a:r>
            <a:endParaRPr lang="ru-RU" sz="200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spcBef>
                <a:spcPts val="600"/>
              </a:spcBef>
              <a:spcAft>
                <a:spcPts val="600"/>
              </a:spcAft>
              <a:buSzPts val="1400"/>
              <a:buFont typeface="Symbol" panose="05050102010706020507" pitchFamily="18" charset="2"/>
              <a:buChar char=""/>
              <a:tabLst>
                <a:tab pos="228600" algn="l"/>
              </a:tabLst>
            </a:pPr>
            <a:r>
              <a:rPr lang="ru-RU" sz="20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безопасности данных и защите информации; </a:t>
            </a:r>
            <a:endParaRPr lang="ru-RU" sz="200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spcBef>
                <a:spcPts val="600"/>
              </a:spcBef>
              <a:spcAft>
                <a:spcPts val="600"/>
              </a:spcAft>
              <a:buSzPts val="1400"/>
              <a:buFont typeface="Symbol" panose="05050102010706020507" pitchFamily="18" charset="2"/>
              <a:buChar char=""/>
              <a:tabLst>
                <a:tab pos="228600" algn="l"/>
              </a:tabLst>
            </a:pPr>
            <a:r>
              <a:rPr lang="ru-RU" sz="20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диагностике программ и технических средств. 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Заголовок 1"/>
          <p:cNvSpPr>
            <a:spLocks noGrp="1"/>
          </p:cNvSpPr>
          <p:nvPr>
            <p:ph type="title"/>
          </p:nvPr>
        </p:nvSpPr>
        <p:spPr>
          <a:xfrm>
            <a:off x="827584" y="188640"/>
            <a:ext cx="8229600" cy="1143000"/>
          </a:xfrm>
        </p:spPr>
        <p:txBody>
          <a:bodyPr/>
          <a:lstStyle/>
          <a:p>
            <a:pPr eaLnBrk="1" hangingPunct="1"/>
            <a:r>
              <a:rPr lang="ru-RU" altLang="ru-RU" sz="3600" dirty="0" smtClean="0"/>
              <a:t>Прикладной уровень. Аспекты</a:t>
            </a:r>
            <a:endParaRPr lang="ru-RU" altLang="ru-RU" sz="3600" dirty="0" smtClean="0"/>
          </a:p>
        </p:txBody>
      </p:sp>
      <p:sp>
        <p:nvSpPr>
          <p:cNvPr id="7171" name="TextBox 53"/>
          <p:cNvSpPr txBox="1">
            <a:spLocks noChangeArrowheads="1"/>
          </p:cNvSpPr>
          <p:nvPr/>
        </p:nvSpPr>
        <p:spPr bwMode="auto">
          <a:xfrm>
            <a:off x="827584" y="1268760"/>
            <a:ext cx="7920880" cy="55245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indent="457200" algn="just" eaLnBrk="1" hangingPunct="1">
              <a:spcBef>
                <a:spcPts val="600"/>
              </a:spcBef>
              <a:spcAft>
                <a:spcPts val="600"/>
              </a:spcAft>
            </a:pPr>
            <a:r>
              <a:rPr lang="ru-RU" sz="20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1. Прикладной уровень обеспечивает прикладным процессам средства доступа к области взаимодействия, является верхним (седьмым) уровнем и непосредственно примыкает к прикладным процессам. </a:t>
            </a:r>
            <a:endParaRPr lang="ru-RU" sz="200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7200" algn="just" eaLnBrk="1" hangingPunct="1">
              <a:spcBef>
                <a:spcPts val="600"/>
              </a:spcBef>
              <a:spcAft>
                <a:spcPts val="600"/>
              </a:spcAft>
            </a:pPr>
            <a:r>
              <a:rPr lang="ru-RU" sz="20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2. В действительности прикладной уровень – это набор разнообразных протоколов, с помощью которых пользователи сети получают доступ к разделяемым ресурсам, например, таким как файлы или гипертекстовые </a:t>
            </a:r>
            <a:r>
              <a:rPr lang="ru-RU" sz="20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Web</a:t>
            </a:r>
            <a:r>
              <a:rPr lang="ru-RU" sz="20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-страницы и т.д., а также организуют свою совместную работу, например, с помощью протокола электронной почты, или </a:t>
            </a:r>
            <a:r>
              <a:rPr lang="en-US" sz="20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FTP </a:t>
            </a:r>
            <a:r>
              <a:rPr lang="ru-RU" sz="20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</a:t>
            </a:r>
            <a:r>
              <a:rPr lang="en-US" sz="20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0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т.д. </a:t>
            </a:r>
            <a:endParaRPr lang="ru-RU" sz="200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7200" algn="just" eaLnBrk="1" hangingPunct="1">
              <a:spcBef>
                <a:spcPts val="600"/>
              </a:spcBef>
              <a:spcAft>
                <a:spcPts val="600"/>
              </a:spcAft>
            </a:pPr>
            <a:r>
              <a:rPr lang="ru-RU" sz="20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3. Одна из основных задач этого уровня - определить, как следует обрабатывать запрос прикладной программы, другими словами, какой вид должен принять данный запрос.</a:t>
            </a:r>
            <a:endParaRPr lang="ru-RU" sz="200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>
              <a:spcBef>
                <a:spcPts val="600"/>
              </a:spcBef>
              <a:spcAft>
                <a:spcPts val="600"/>
              </a:spcAft>
            </a:pPr>
            <a:r>
              <a:rPr lang="ru-RU" sz="20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4. Единица данных, которой оперирует прикладной уровень, обычно называется </a:t>
            </a:r>
            <a:r>
              <a:rPr lang="ru-RU" sz="2000" b="1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сообщением (</a:t>
            </a:r>
            <a:r>
              <a:rPr lang="en-US" sz="2000" b="1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message</a:t>
            </a:r>
            <a:r>
              <a:rPr lang="ru-RU" sz="2000" b="1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r>
              <a:rPr lang="ru-RU" sz="20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200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7200" algn="just" eaLnBrk="1" hangingPunct="1"/>
            <a:endParaRPr lang="ru-RU" altLang="ru-RU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Заголовок 1"/>
          <p:cNvSpPr>
            <a:spLocks noGrp="1"/>
          </p:cNvSpPr>
          <p:nvPr>
            <p:ph type="title"/>
          </p:nvPr>
        </p:nvSpPr>
        <p:spPr>
          <a:xfrm>
            <a:off x="827584" y="98712"/>
            <a:ext cx="8229600" cy="1143000"/>
          </a:xfrm>
        </p:spPr>
        <p:txBody>
          <a:bodyPr/>
          <a:lstStyle/>
          <a:p>
            <a:pPr eaLnBrk="1" hangingPunct="1"/>
            <a:r>
              <a:rPr lang="ru-RU" altLang="ru-RU" sz="3600" dirty="0" smtClean="0"/>
              <a:t>Прикладной уровень</a:t>
            </a:r>
            <a:endParaRPr lang="ru-RU" altLang="ru-RU" sz="3600" dirty="0" smtClean="0"/>
          </a:p>
        </p:txBody>
      </p:sp>
      <p:sp>
        <p:nvSpPr>
          <p:cNvPr id="7171" name="TextBox 53"/>
          <p:cNvSpPr txBox="1">
            <a:spLocks noChangeArrowheads="1"/>
          </p:cNvSpPr>
          <p:nvPr/>
        </p:nvSpPr>
        <p:spPr bwMode="auto">
          <a:xfrm>
            <a:off x="827584" y="908720"/>
            <a:ext cx="7632848" cy="5732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Aft>
                <a:spcPts val="600"/>
              </a:spcAft>
            </a:pPr>
            <a:r>
              <a:rPr lang="ru-RU" altLang="ru-RU" sz="1600" b="1" u="sng" dirty="0">
                <a:latin typeface="Times New Roman" panose="02020603050405020304" pitchFamily="18" charset="0"/>
              </a:rPr>
              <a:t>Прикладной уровень выполняет следующие функции:</a:t>
            </a:r>
            <a:endParaRPr lang="ru-RU" altLang="ru-RU" sz="1600" b="1" u="sng" dirty="0">
              <a:latin typeface="Times New Roman" panose="02020603050405020304" pitchFamily="18" charset="0"/>
            </a:endParaRPr>
          </a:p>
          <a:p>
            <a:pPr marL="285750" indent="-285750" algn="just" eaLnBrk="1" hangingPunct="1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ru-RU" altLang="ru-RU" sz="1600" dirty="0" smtClean="0">
                <a:latin typeface="Times New Roman" panose="02020603050405020304" pitchFamily="18" charset="0"/>
              </a:rPr>
              <a:t>описание </a:t>
            </a:r>
            <a:r>
              <a:rPr lang="ru-RU" altLang="ru-RU" sz="1600" dirty="0">
                <a:latin typeface="Times New Roman" panose="02020603050405020304" pitchFamily="18" charset="0"/>
              </a:rPr>
              <a:t>форм и методов взаимодействия прикладных процессов;</a:t>
            </a:r>
            <a:endParaRPr lang="ru-RU" altLang="ru-RU" sz="1600" dirty="0">
              <a:latin typeface="Times New Roman" panose="02020603050405020304" pitchFamily="18" charset="0"/>
            </a:endParaRPr>
          </a:p>
          <a:p>
            <a:pPr marL="285750" lvl="0" indent="-285750" algn="just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  <a:tabLst>
                <a:tab pos="228600" algn="l"/>
              </a:tabLst>
            </a:pPr>
            <a:r>
              <a:rPr lang="ru-RU" sz="16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согласование требований к различным видам работ (например, передача файлов, управление заданиями, управление системой и т.д.) и управление ими.</a:t>
            </a:r>
            <a:endParaRPr lang="ru-RU" sz="160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85750" indent="-285750" algn="just" eaLnBrk="1" hangingPunct="1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ru-RU" altLang="ru-RU" sz="1600" dirty="0" smtClean="0">
                <a:latin typeface="Times New Roman" panose="02020603050405020304" pitchFamily="18" charset="0"/>
              </a:rPr>
              <a:t>идентификация </a:t>
            </a:r>
            <a:r>
              <a:rPr lang="ru-RU" altLang="ru-RU" sz="1600" dirty="0">
                <a:latin typeface="Times New Roman" panose="02020603050405020304" pitchFamily="18" charset="0"/>
              </a:rPr>
              <a:t>пользователей по их паролям, адресам, электронным подписям;</a:t>
            </a:r>
            <a:endParaRPr lang="ru-RU" altLang="ru-RU" sz="1600" dirty="0">
              <a:latin typeface="Times New Roman" panose="02020603050405020304" pitchFamily="18" charset="0"/>
            </a:endParaRPr>
          </a:p>
          <a:p>
            <a:pPr marL="285750" indent="-285750" algn="just" eaLnBrk="1" hangingPunct="1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ru-RU" altLang="ru-RU" sz="1600" dirty="0" smtClean="0">
                <a:latin typeface="Times New Roman" panose="02020603050405020304" pitchFamily="18" charset="0"/>
              </a:rPr>
              <a:t>определение </a:t>
            </a:r>
            <a:r>
              <a:rPr lang="ru-RU" altLang="ru-RU" sz="1600" dirty="0">
                <a:latin typeface="Times New Roman" panose="02020603050405020304" pitchFamily="18" charset="0"/>
              </a:rPr>
              <a:t>функционирующих абонентов и возможности доступа к новым прикладным процессам;</a:t>
            </a:r>
            <a:endParaRPr lang="ru-RU" altLang="ru-RU" sz="1600" dirty="0">
              <a:latin typeface="Times New Roman" panose="02020603050405020304" pitchFamily="18" charset="0"/>
            </a:endParaRPr>
          </a:p>
          <a:p>
            <a:pPr marL="285750" indent="-285750" algn="just" eaLnBrk="1" hangingPunct="1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ru-RU" altLang="ru-RU" sz="1600" dirty="0" smtClean="0">
                <a:latin typeface="Times New Roman" panose="02020603050405020304" pitchFamily="18" charset="0"/>
              </a:rPr>
              <a:t>определение </a:t>
            </a:r>
            <a:r>
              <a:rPr lang="ru-RU" altLang="ru-RU" sz="1600" dirty="0">
                <a:latin typeface="Times New Roman" panose="02020603050405020304" pitchFamily="18" charset="0"/>
              </a:rPr>
              <a:t>достаточности имеющихся ресурсов;</a:t>
            </a:r>
            <a:endParaRPr lang="ru-RU" altLang="ru-RU" sz="1600" dirty="0">
              <a:latin typeface="Times New Roman" panose="02020603050405020304" pitchFamily="18" charset="0"/>
            </a:endParaRPr>
          </a:p>
          <a:p>
            <a:pPr marL="285750" indent="-285750" algn="just" eaLnBrk="1" hangingPunct="1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ru-RU" altLang="ru-RU" sz="1600" dirty="0" smtClean="0">
                <a:latin typeface="Times New Roman" panose="02020603050405020304" pitchFamily="18" charset="0"/>
              </a:rPr>
              <a:t>организация </a:t>
            </a:r>
            <a:r>
              <a:rPr lang="ru-RU" altLang="ru-RU" sz="1600" dirty="0">
                <a:latin typeface="Times New Roman" panose="02020603050405020304" pitchFamily="18" charset="0"/>
              </a:rPr>
              <a:t>запросов на соединение с другими прикладными процессами;</a:t>
            </a:r>
            <a:endParaRPr lang="ru-RU" altLang="ru-RU" sz="1600" dirty="0">
              <a:latin typeface="Times New Roman" panose="02020603050405020304" pitchFamily="18" charset="0"/>
            </a:endParaRPr>
          </a:p>
          <a:p>
            <a:pPr marL="285750" indent="-285750" algn="just" eaLnBrk="1" hangingPunct="1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ru-RU" altLang="ru-RU" sz="1600" dirty="0" smtClean="0">
                <a:latin typeface="Times New Roman" panose="02020603050405020304" pitchFamily="18" charset="0"/>
              </a:rPr>
              <a:t>передача </a:t>
            </a:r>
            <a:r>
              <a:rPr lang="ru-RU" altLang="ru-RU" sz="1600" dirty="0">
                <a:latin typeface="Times New Roman" panose="02020603050405020304" pitchFamily="18" charset="0"/>
              </a:rPr>
              <a:t>заявок представительскому уровню на необходимые методы описания информации;</a:t>
            </a:r>
            <a:endParaRPr lang="ru-RU" altLang="ru-RU" sz="1600" dirty="0">
              <a:latin typeface="Times New Roman" panose="02020603050405020304" pitchFamily="18" charset="0"/>
            </a:endParaRPr>
          </a:p>
          <a:p>
            <a:pPr marL="285750" indent="-285750" algn="just" eaLnBrk="1" hangingPunct="1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ru-RU" altLang="ru-RU" sz="1600" dirty="0" smtClean="0">
                <a:latin typeface="Times New Roman" panose="02020603050405020304" pitchFamily="18" charset="0"/>
              </a:rPr>
              <a:t>выбор </a:t>
            </a:r>
            <a:r>
              <a:rPr lang="ru-RU" altLang="ru-RU" sz="1600" dirty="0">
                <a:latin typeface="Times New Roman" panose="02020603050405020304" pitchFamily="18" charset="0"/>
              </a:rPr>
              <a:t>процедур планируемого диалога процессов;</a:t>
            </a:r>
            <a:endParaRPr lang="ru-RU" altLang="ru-RU" sz="1600" dirty="0">
              <a:latin typeface="Times New Roman" panose="02020603050405020304" pitchFamily="18" charset="0"/>
            </a:endParaRPr>
          </a:p>
          <a:p>
            <a:pPr marL="285750" indent="-285750" algn="just" eaLnBrk="1" hangingPunct="1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ru-RU" altLang="ru-RU" sz="1600" dirty="0" smtClean="0">
                <a:latin typeface="Times New Roman" panose="02020603050405020304" pitchFamily="18" charset="0"/>
              </a:rPr>
              <a:t>управление </a:t>
            </a:r>
            <a:r>
              <a:rPr lang="ru-RU" altLang="ru-RU" sz="1600" dirty="0">
                <a:latin typeface="Times New Roman" panose="02020603050405020304" pitchFamily="18" charset="0"/>
              </a:rPr>
              <a:t>данными, которыми обмениваются прикладные процессы и синхронизация взаимодействия прикладных процессов;</a:t>
            </a:r>
            <a:endParaRPr lang="ru-RU" altLang="ru-RU" sz="1600" dirty="0">
              <a:latin typeface="Times New Roman" panose="02020603050405020304" pitchFamily="18" charset="0"/>
            </a:endParaRPr>
          </a:p>
          <a:p>
            <a:pPr marL="285750" indent="-285750" algn="just" eaLnBrk="1" hangingPunct="1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ru-RU" altLang="ru-RU" sz="1600" dirty="0" smtClean="0">
                <a:latin typeface="Times New Roman" panose="02020603050405020304" pitchFamily="18" charset="0"/>
              </a:rPr>
              <a:t>определение </a:t>
            </a:r>
            <a:r>
              <a:rPr lang="ru-RU" altLang="ru-RU" sz="1600" dirty="0">
                <a:latin typeface="Times New Roman" panose="02020603050405020304" pitchFamily="18" charset="0"/>
              </a:rPr>
              <a:t>качества обслуживания (время доставки блоков данных, допустимой частоты ошибок);</a:t>
            </a:r>
            <a:endParaRPr lang="ru-RU" altLang="ru-RU" sz="1600" dirty="0">
              <a:latin typeface="Times New Roman" panose="02020603050405020304" pitchFamily="18" charset="0"/>
            </a:endParaRPr>
          </a:p>
          <a:p>
            <a:pPr marL="285750" indent="-285750" algn="just" eaLnBrk="1" hangingPunct="1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ru-RU" altLang="ru-RU" sz="1600" dirty="0" smtClean="0">
                <a:latin typeface="Times New Roman" panose="02020603050405020304" pitchFamily="18" charset="0"/>
              </a:rPr>
              <a:t>соглашение </a:t>
            </a:r>
            <a:r>
              <a:rPr lang="ru-RU" altLang="ru-RU" sz="1600" dirty="0">
                <a:latin typeface="Times New Roman" panose="02020603050405020304" pitchFamily="18" charset="0"/>
              </a:rPr>
              <a:t>об исправлении ошибок и определении достоверности данных;</a:t>
            </a:r>
            <a:endParaRPr lang="ru-RU" altLang="ru-RU" sz="1600" dirty="0">
              <a:latin typeface="Times New Roman" panose="02020603050405020304" pitchFamily="18" charset="0"/>
            </a:endParaRPr>
          </a:p>
          <a:p>
            <a:pPr marL="285750" indent="-285750" algn="just" eaLnBrk="1" hangingPunct="1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ru-RU" altLang="ru-RU" sz="1600" dirty="0" smtClean="0">
                <a:latin typeface="Times New Roman" panose="02020603050405020304" pitchFamily="18" charset="0"/>
              </a:rPr>
              <a:t>согласование </a:t>
            </a:r>
            <a:r>
              <a:rPr lang="ru-RU" altLang="ru-RU" sz="1600" dirty="0">
                <a:latin typeface="Times New Roman" panose="02020603050405020304" pitchFamily="18" charset="0"/>
              </a:rPr>
              <a:t>ограничений, накладываемых на синтаксис (наборы символов, структура данных).</a:t>
            </a:r>
            <a:endParaRPr lang="ru-RU" altLang="ru-RU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Заголовок 1"/>
          <p:cNvSpPr>
            <a:spLocks noGrp="1"/>
          </p:cNvSpPr>
          <p:nvPr>
            <p:ph type="title"/>
          </p:nvPr>
        </p:nvSpPr>
        <p:spPr>
          <a:xfrm>
            <a:off x="827584" y="254000"/>
            <a:ext cx="8229600" cy="1143000"/>
          </a:xfrm>
        </p:spPr>
        <p:txBody>
          <a:bodyPr/>
          <a:lstStyle/>
          <a:p>
            <a:pPr eaLnBrk="1" hangingPunct="1"/>
            <a:r>
              <a:rPr lang="ru-RU" altLang="ru-RU" sz="3600" dirty="0" smtClean="0"/>
              <a:t>Прикладной уровень</a:t>
            </a:r>
            <a:endParaRPr lang="ru-RU" altLang="ru-RU" sz="3600" dirty="0" smtClean="0"/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/>
        </p:nvGraphicFramePr>
        <p:xfrm>
          <a:off x="1187625" y="1397000"/>
          <a:ext cx="7200800" cy="2430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95"/>
                <a:gridCol w="6336705"/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18000"/>
                        </a:lnSpc>
                      </a:pPr>
                      <a:r>
                        <a:rPr lang="ru-RU" sz="16600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!</a:t>
                      </a:r>
                      <a:endParaRPr lang="ru-RU" sz="16600" b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457200" algn="just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ru-RU" sz="2000" b="0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Указанные функции определяют виды сервиса, которые прикладной уровень предоставляет прикладным процессам. </a:t>
                      </a:r>
                      <a:endParaRPr lang="en-US" sz="2000" b="0" kern="1200" dirty="0" smtClean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marR="0" indent="457200" algn="just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ru-RU" sz="2000" b="0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Кроме этого, прикладной уровень передает прикладным процессам сервис, предоставляемый физическим, канальным, сетевым, транспортным, сеансовым и представительским уровнями. </a:t>
                      </a:r>
                      <a:endParaRPr lang="ru-RU" sz="2000" b="0" kern="1200" dirty="0" smtClean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endParaRPr lang="ru-RU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3" name="Прямоугольник 2"/>
          <p:cNvSpPr/>
          <p:nvPr/>
        </p:nvSpPr>
        <p:spPr>
          <a:xfrm>
            <a:off x="1134926" y="4725144"/>
            <a:ext cx="730619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>
              <a:spcBef>
                <a:spcPts val="300"/>
              </a:spcBef>
              <a:spcAft>
                <a:spcPts val="0"/>
              </a:spcAft>
            </a:pPr>
            <a:r>
              <a:rPr lang="ru-RU" sz="20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Можно говорить, что п</a:t>
            </a:r>
            <a:r>
              <a:rPr lang="ru-RU" sz="20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рикладной уровень отвечает за доступ приложений в сеть. Задачами этого уровня является перенос файлов, обмен почтовыми сообщениями, управление сетью и т.д. 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Box 1"/>
          <p:cNvSpPr txBox="1">
            <a:spLocks noChangeArrowheads="1"/>
          </p:cNvSpPr>
          <p:nvPr/>
        </p:nvSpPr>
        <p:spPr bwMode="auto">
          <a:xfrm>
            <a:off x="1115616" y="1340768"/>
            <a:ext cx="7383735" cy="46140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indent="457200" eaLnBrk="1" hangingPunct="1">
              <a:spcAft>
                <a:spcPts val="1200"/>
              </a:spcAft>
            </a:pPr>
            <a:r>
              <a:rPr lang="ru-RU" altLang="ru-RU" sz="2000" u="sng" dirty="0">
                <a:latin typeface="Times New Roman" panose="02020603050405020304" pitchFamily="18" charset="0"/>
              </a:rPr>
              <a:t>К числу наиболее распространенных протоколов </a:t>
            </a:r>
            <a:r>
              <a:rPr lang="ru-RU" altLang="ru-RU" sz="2000" b="1" u="sng" dirty="0">
                <a:latin typeface="Times New Roman" panose="02020603050405020304" pitchFamily="18" charset="0"/>
              </a:rPr>
              <a:t>верхних трех уровней </a:t>
            </a:r>
            <a:r>
              <a:rPr lang="ru-RU" altLang="ru-RU" sz="2000" u="sng" dirty="0">
                <a:latin typeface="Times New Roman" panose="02020603050405020304" pitchFamily="18" charset="0"/>
              </a:rPr>
              <a:t>относятся:</a:t>
            </a:r>
            <a:endParaRPr lang="ru-RU" altLang="ru-RU" sz="2000" u="sng" dirty="0">
              <a:latin typeface="Times New Roman" panose="02020603050405020304" pitchFamily="18" charset="0"/>
            </a:endParaRPr>
          </a:p>
          <a:p>
            <a:pPr marL="285750" indent="-285750" algn="just" eaLnBrk="1" hangingPunct="1">
              <a:spcBef>
                <a:spcPts val="500"/>
              </a:spcBef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lang="en-US" altLang="ru-RU" dirty="0" smtClean="0">
                <a:latin typeface="Times New Roman" panose="02020603050405020304" pitchFamily="18" charset="0"/>
              </a:rPr>
              <a:t>HTTP</a:t>
            </a:r>
            <a:r>
              <a:rPr lang="ru-RU" altLang="ru-RU" dirty="0" smtClean="0">
                <a:latin typeface="Times New Roman" panose="02020603050405020304" pitchFamily="18" charset="0"/>
              </a:rPr>
              <a:t> (</a:t>
            </a:r>
            <a:r>
              <a:rPr lang="en-US" dirty="0" err="1" smtClean="0">
                <a:latin typeface="Times New Roman" panose="02020603050405020304" pitchFamily="18" charset="0"/>
              </a:rPr>
              <a:t>HyperText</a:t>
            </a:r>
            <a:r>
              <a:rPr lang="en-US" dirty="0" smtClean="0">
                <a:latin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</a:rPr>
              <a:t>Transfer </a:t>
            </a:r>
            <a:r>
              <a:rPr lang="en-US" dirty="0" smtClean="0">
                <a:latin typeface="Times New Roman" panose="02020603050405020304" pitchFamily="18" charset="0"/>
              </a:rPr>
              <a:t>Protocol</a:t>
            </a:r>
            <a:r>
              <a:rPr lang="ru-RU" dirty="0" smtClean="0">
                <a:latin typeface="Times New Roman" panose="02020603050405020304" pitchFamily="18" charset="0"/>
              </a:rPr>
              <a:t>)</a:t>
            </a:r>
            <a:r>
              <a:rPr lang="en-US" dirty="0" smtClean="0">
                <a:latin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</a:rPr>
              <a:t>— </a:t>
            </a:r>
            <a:r>
              <a:rPr lang="ru-RU" dirty="0">
                <a:latin typeface="Times New Roman" panose="02020603050405020304" pitchFamily="18" charset="0"/>
              </a:rPr>
              <a:t>протокол прикладного уровня передачи данных, </a:t>
            </a:r>
            <a:r>
              <a:rPr lang="ru-RU" dirty="0" smtClean="0">
                <a:latin typeface="Times New Roman" panose="02020603050405020304" pitchFamily="18" charset="0"/>
              </a:rPr>
              <a:t>изначально </a:t>
            </a:r>
            <a:r>
              <a:rPr lang="ru-RU" dirty="0">
                <a:latin typeface="Times New Roman" panose="02020603050405020304" pitchFamily="18" charset="0"/>
              </a:rPr>
              <a:t>в виде гипертекстовых документов в формате HTML, в настоящее время используется для передачи произвольных </a:t>
            </a:r>
            <a:r>
              <a:rPr lang="ru-RU" dirty="0" smtClean="0">
                <a:latin typeface="Times New Roman" panose="02020603050405020304" pitchFamily="18" charset="0"/>
              </a:rPr>
              <a:t>данных;</a:t>
            </a:r>
            <a:endParaRPr lang="ru-RU" altLang="ru-RU" dirty="0">
              <a:latin typeface="Times New Roman" panose="02020603050405020304" pitchFamily="18" charset="0"/>
            </a:endParaRPr>
          </a:p>
          <a:p>
            <a:pPr marL="285750" indent="-285750" algn="just" eaLnBrk="1" hangingPunct="1">
              <a:spcBef>
                <a:spcPts val="500"/>
              </a:spcBef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lang="en-US" altLang="ru-RU" dirty="0" smtClean="0">
                <a:latin typeface="Times New Roman" panose="02020603050405020304" pitchFamily="18" charset="0"/>
              </a:rPr>
              <a:t>FTP </a:t>
            </a:r>
            <a:r>
              <a:rPr lang="en-US" altLang="ru-RU" dirty="0">
                <a:latin typeface="Times New Roman" panose="02020603050405020304" pitchFamily="18" charset="0"/>
              </a:rPr>
              <a:t>(File Transfer Protocol) </a:t>
            </a:r>
            <a:r>
              <a:rPr lang="en-US" dirty="0" smtClean="0">
                <a:latin typeface="Times New Roman" panose="02020603050405020304" pitchFamily="18" charset="0"/>
              </a:rPr>
              <a:t>— </a:t>
            </a:r>
            <a:r>
              <a:rPr lang="ru-RU" dirty="0" smtClean="0">
                <a:latin typeface="Times New Roman" panose="02020603050405020304" pitchFamily="18" charset="0"/>
              </a:rPr>
              <a:t> </a:t>
            </a:r>
            <a:r>
              <a:rPr lang="ru-RU" altLang="ru-RU" dirty="0" smtClean="0">
                <a:latin typeface="Times New Roman" panose="02020603050405020304" pitchFamily="18" charset="0"/>
              </a:rPr>
              <a:t>протокол </a:t>
            </a:r>
            <a:r>
              <a:rPr lang="ru-RU" altLang="ru-RU" dirty="0">
                <a:latin typeface="Times New Roman" panose="02020603050405020304" pitchFamily="18" charset="0"/>
              </a:rPr>
              <a:t>передачи </a:t>
            </a:r>
            <a:r>
              <a:rPr lang="ru-RU" altLang="ru-RU" dirty="0" smtClean="0">
                <a:latin typeface="Times New Roman" panose="02020603050405020304" pitchFamily="18" charset="0"/>
              </a:rPr>
              <a:t>файлов по сети;</a:t>
            </a:r>
            <a:endParaRPr lang="ru-RU" altLang="ru-RU" dirty="0">
              <a:latin typeface="Times New Roman" panose="02020603050405020304" pitchFamily="18" charset="0"/>
            </a:endParaRPr>
          </a:p>
          <a:p>
            <a:pPr marL="285750" indent="-285750" algn="just" eaLnBrk="1" hangingPunct="1">
              <a:spcBef>
                <a:spcPts val="500"/>
              </a:spcBef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lang="en-US" altLang="ru-RU" dirty="0" smtClean="0">
                <a:latin typeface="Times New Roman" panose="02020603050405020304" pitchFamily="18" charset="0"/>
              </a:rPr>
              <a:t>TFTP </a:t>
            </a:r>
            <a:r>
              <a:rPr lang="en-US" altLang="ru-RU" dirty="0">
                <a:latin typeface="Times New Roman" panose="02020603050405020304" pitchFamily="18" charset="0"/>
              </a:rPr>
              <a:t>(Trivial File Transfer Protocol) </a:t>
            </a:r>
            <a:r>
              <a:rPr lang="en-US" dirty="0" smtClean="0">
                <a:latin typeface="Times New Roman" panose="02020603050405020304" pitchFamily="18" charset="0"/>
              </a:rPr>
              <a:t>— </a:t>
            </a:r>
            <a:r>
              <a:rPr lang="ru-RU" dirty="0" smtClean="0">
                <a:latin typeface="Times New Roman" panose="02020603050405020304" pitchFamily="18" charset="0"/>
              </a:rPr>
              <a:t> </a:t>
            </a:r>
            <a:r>
              <a:rPr lang="ru-RU" altLang="ru-RU" dirty="0" smtClean="0">
                <a:latin typeface="Times New Roman" panose="02020603050405020304" pitchFamily="18" charset="0"/>
              </a:rPr>
              <a:t>простейший </a:t>
            </a:r>
            <a:r>
              <a:rPr lang="ru-RU" altLang="ru-RU" dirty="0">
                <a:latin typeface="Times New Roman" panose="02020603050405020304" pitchFamily="18" charset="0"/>
              </a:rPr>
              <a:t>протокол пересылки файлов;</a:t>
            </a:r>
            <a:endParaRPr lang="ru-RU" altLang="ru-RU" dirty="0">
              <a:latin typeface="Times New Roman" panose="02020603050405020304" pitchFamily="18" charset="0"/>
            </a:endParaRPr>
          </a:p>
          <a:p>
            <a:pPr marL="285750" indent="-285750" algn="just" eaLnBrk="1" hangingPunct="1">
              <a:spcBef>
                <a:spcPts val="500"/>
              </a:spcBef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lang="en-US" altLang="ru-RU" dirty="0" smtClean="0">
                <a:latin typeface="Times New Roman" panose="02020603050405020304" pitchFamily="18" charset="0"/>
              </a:rPr>
              <a:t>X.400 </a:t>
            </a:r>
            <a:r>
              <a:rPr lang="en-US" dirty="0" smtClean="0">
                <a:latin typeface="Times New Roman" panose="02020603050405020304" pitchFamily="18" charset="0"/>
              </a:rPr>
              <a:t>— </a:t>
            </a:r>
            <a:r>
              <a:rPr lang="ru-RU" dirty="0" smtClean="0">
                <a:latin typeface="Times New Roman" panose="02020603050405020304" pitchFamily="18" charset="0"/>
              </a:rPr>
              <a:t> </a:t>
            </a:r>
            <a:r>
              <a:rPr lang="ru-RU" altLang="ru-RU" dirty="0" smtClean="0">
                <a:latin typeface="Times New Roman" panose="02020603050405020304" pitchFamily="18" charset="0"/>
              </a:rPr>
              <a:t>электронная </a:t>
            </a:r>
            <a:r>
              <a:rPr lang="ru-RU" altLang="ru-RU" dirty="0">
                <a:latin typeface="Times New Roman" panose="02020603050405020304" pitchFamily="18" charset="0"/>
              </a:rPr>
              <a:t>почта</a:t>
            </a:r>
            <a:r>
              <a:rPr lang="ru-RU" altLang="ru-RU" dirty="0" smtClean="0">
                <a:latin typeface="Times New Roman" panose="02020603050405020304" pitchFamily="18" charset="0"/>
              </a:rPr>
              <a:t>;</a:t>
            </a:r>
            <a:endParaRPr lang="ru-RU" altLang="ru-RU" dirty="0">
              <a:latin typeface="Times New Roman" panose="02020603050405020304" pitchFamily="18" charset="0"/>
            </a:endParaRPr>
          </a:p>
          <a:p>
            <a:pPr marL="285750" indent="-285750" algn="just" eaLnBrk="1" hangingPunct="1">
              <a:spcBef>
                <a:spcPts val="500"/>
              </a:spcBef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lang="en-US" altLang="ru-RU" dirty="0" smtClean="0">
                <a:latin typeface="Times New Roman" panose="02020603050405020304" pitchFamily="18" charset="0"/>
              </a:rPr>
              <a:t>Telnet </a:t>
            </a:r>
            <a:r>
              <a:rPr lang="en-US" dirty="0" smtClean="0">
                <a:latin typeface="Times New Roman" panose="02020603050405020304" pitchFamily="18" charset="0"/>
              </a:rPr>
              <a:t>— </a:t>
            </a:r>
            <a:r>
              <a:rPr lang="ru-RU" dirty="0" smtClean="0">
                <a:latin typeface="Times New Roman" panose="02020603050405020304" pitchFamily="18" charset="0"/>
              </a:rPr>
              <a:t> </a:t>
            </a:r>
            <a:r>
              <a:rPr lang="ru-RU" altLang="ru-RU" dirty="0" smtClean="0">
                <a:latin typeface="Times New Roman" panose="02020603050405020304" pitchFamily="18" charset="0"/>
              </a:rPr>
              <a:t>работа </a:t>
            </a:r>
            <a:r>
              <a:rPr lang="ru-RU" altLang="ru-RU" dirty="0">
                <a:latin typeface="Times New Roman" panose="02020603050405020304" pitchFamily="18" charset="0"/>
              </a:rPr>
              <a:t>с удаленным терминалом;</a:t>
            </a:r>
            <a:endParaRPr lang="ru-RU" altLang="ru-RU" dirty="0">
              <a:latin typeface="Times New Roman" panose="02020603050405020304" pitchFamily="18" charset="0"/>
            </a:endParaRPr>
          </a:p>
          <a:p>
            <a:pPr marL="285750" indent="-285750" algn="just" eaLnBrk="1" hangingPunct="1">
              <a:spcBef>
                <a:spcPts val="500"/>
              </a:spcBef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lang="en-US" altLang="ru-RU" dirty="0" smtClean="0">
                <a:latin typeface="Times New Roman" panose="02020603050405020304" pitchFamily="18" charset="0"/>
              </a:rPr>
              <a:t>SMTP </a:t>
            </a:r>
            <a:r>
              <a:rPr lang="en-US" altLang="ru-RU" dirty="0">
                <a:latin typeface="Times New Roman" panose="02020603050405020304" pitchFamily="18" charset="0"/>
              </a:rPr>
              <a:t>(Simple Mail Transfer Protocol) </a:t>
            </a:r>
            <a:r>
              <a:rPr lang="en-US" dirty="0" smtClean="0">
                <a:latin typeface="Times New Roman" panose="02020603050405020304" pitchFamily="18" charset="0"/>
              </a:rPr>
              <a:t>— </a:t>
            </a:r>
            <a:r>
              <a:rPr lang="ru-RU" dirty="0" smtClean="0">
                <a:latin typeface="Times New Roman" panose="02020603050405020304" pitchFamily="18" charset="0"/>
              </a:rPr>
              <a:t> </a:t>
            </a:r>
            <a:r>
              <a:rPr lang="ru-RU" altLang="ru-RU" dirty="0" smtClean="0">
                <a:latin typeface="Times New Roman" panose="02020603050405020304" pitchFamily="18" charset="0"/>
              </a:rPr>
              <a:t>простой </a:t>
            </a:r>
            <a:r>
              <a:rPr lang="ru-RU" altLang="ru-RU" dirty="0">
                <a:latin typeface="Times New Roman" panose="02020603050405020304" pitchFamily="18" charset="0"/>
              </a:rPr>
              <a:t>протокол почтового обмена</a:t>
            </a:r>
            <a:r>
              <a:rPr lang="ru-RU" altLang="ru-RU" dirty="0" smtClean="0">
                <a:latin typeface="Times New Roman" panose="02020603050405020304" pitchFamily="18" charset="0"/>
              </a:rPr>
              <a:t>;</a:t>
            </a:r>
            <a:endParaRPr lang="en-US" altLang="ru-RU" dirty="0" smtClean="0">
              <a:latin typeface="Times New Roman" panose="02020603050405020304" pitchFamily="18" charset="0"/>
            </a:endParaRPr>
          </a:p>
        </p:txBody>
      </p:sp>
      <p:sp>
        <p:nvSpPr>
          <p:cNvPr id="3" name="Заголовок 1"/>
          <p:cNvSpPr txBox="1"/>
          <p:nvPr/>
        </p:nvSpPr>
        <p:spPr>
          <a:xfrm>
            <a:off x="827584" y="260648"/>
            <a:ext cx="8229600" cy="1143000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ru-RU" altLang="ru-RU" sz="3600" dirty="0" smtClean="0"/>
              <a:t>Прикладной уровень. Функции</a:t>
            </a:r>
            <a:endParaRPr lang="ru-RU" altLang="ru-RU" sz="36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Box 1"/>
          <p:cNvSpPr txBox="1">
            <a:spLocks noChangeArrowheads="1"/>
          </p:cNvSpPr>
          <p:nvPr/>
        </p:nvSpPr>
        <p:spPr bwMode="auto">
          <a:xfrm>
            <a:off x="971600" y="1124744"/>
            <a:ext cx="7383735" cy="45166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indent="457200" eaLnBrk="1" hangingPunct="1">
              <a:spcAft>
                <a:spcPts val="1200"/>
              </a:spcAft>
            </a:pPr>
            <a:r>
              <a:rPr lang="ru-RU" altLang="ru-RU" sz="2000" u="sng" dirty="0">
                <a:latin typeface="Times New Roman" panose="02020603050405020304" pitchFamily="18" charset="0"/>
              </a:rPr>
              <a:t>К числу наиболее распространенных протоколов </a:t>
            </a:r>
            <a:r>
              <a:rPr lang="ru-RU" altLang="ru-RU" sz="2000" b="1" u="sng" dirty="0">
                <a:latin typeface="Times New Roman" panose="02020603050405020304" pitchFamily="18" charset="0"/>
              </a:rPr>
              <a:t>верхних трех уровней </a:t>
            </a:r>
            <a:r>
              <a:rPr lang="ru-RU" altLang="ru-RU" sz="2000" u="sng" dirty="0">
                <a:latin typeface="Times New Roman" panose="02020603050405020304" pitchFamily="18" charset="0"/>
              </a:rPr>
              <a:t>относятся:</a:t>
            </a:r>
            <a:endParaRPr lang="ru-RU" altLang="ru-RU" sz="2000" u="sng" dirty="0">
              <a:latin typeface="Times New Roman" panose="02020603050405020304" pitchFamily="18" charset="0"/>
            </a:endParaRPr>
          </a:p>
          <a:p>
            <a:pPr marL="285750" indent="-285750" algn="just" eaLnBrk="1" hangingPunct="1">
              <a:spcBef>
                <a:spcPts val="500"/>
              </a:spcBef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lang="en-US" altLang="ru-RU" dirty="0" smtClean="0">
                <a:latin typeface="Times New Roman" panose="02020603050405020304" pitchFamily="18" charset="0"/>
              </a:rPr>
              <a:t>POP3</a:t>
            </a:r>
            <a:r>
              <a:rPr lang="ru-RU" altLang="ru-RU" dirty="0" smtClean="0">
                <a:latin typeface="Times New Roman" panose="02020603050405020304" pitchFamily="18" charset="0"/>
              </a:rPr>
              <a:t> (</a:t>
            </a:r>
            <a:r>
              <a:rPr lang="ru-RU" dirty="0" err="1" smtClean="0">
                <a:latin typeface="Times New Roman" panose="02020603050405020304" pitchFamily="18" charset="0"/>
              </a:rPr>
              <a:t>Post</a:t>
            </a:r>
            <a:r>
              <a:rPr lang="ru-RU" dirty="0" smtClean="0">
                <a:latin typeface="Times New Roman" panose="02020603050405020304" pitchFamily="18" charset="0"/>
              </a:rPr>
              <a:t> </a:t>
            </a:r>
            <a:r>
              <a:rPr lang="ru-RU" dirty="0" err="1" smtClean="0">
                <a:latin typeface="Times New Roman" panose="02020603050405020304" pitchFamily="18" charset="0"/>
              </a:rPr>
              <a:t>Office</a:t>
            </a:r>
            <a:r>
              <a:rPr lang="ru-RU" dirty="0" smtClean="0">
                <a:latin typeface="Times New Roman" panose="02020603050405020304" pitchFamily="18" charset="0"/>
              </a:rPr>
              <a:t> Protocol, Version 3</a:t>
            </a:r>
            <a:r>
              <a:rPr lang="ru-RU" dirty="0" smtClean="0"/>
              <a:t>) — </a:t>
            </a:r>
            <a:r>
              <a:rPr lang="ru-RU" dirty="0" smtClean="0">
                <a:latin typeface="Times New Roman" panose="02020603050405020304" pitchFamily="18" charset="0"/>
              </a:rPr>
              <a:t>стандартный протокол, используемый клиентами электронной почты для получения почты с удалённого сервера по TCP-соединению;</a:t>
            </a:r>
            <a:endParaRPr lang="en-US" altLang="ru-RU" dirty="0" smtClean="0">
              <a:latin typeface="Times New Roman" panose="02020603050405020304" pitchFamily="18" charset="0"/>
            </a:endParaRPr>
          </a:p>
          <a:p>
            <a:pPr marL="285750" indent="-285750" algn="just" eaLnBrk="1" hangingPunct="1">
              <a:spcBef>
                <a:spcPts val="500"/>
              </a:spcBef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lang="en-US" altLang="ru-RU" dirty="0" smtClean="0">
                <a:latin typeface="Times New Roman" panose="02020603050405020304" pitchFamily="18" charset="0"/>
              </a:rPr>
              <a:t>IMAP4</a:t>
            </a:r>
            <a:r>
              <a:rPr lang="ru-RU" altLang="ru-RU" dirty="0" smtClean="0">
                <a:latin typeface="Times New Roman" panose="02020603050405020304" pitchFamily="18" charset="0"/>
              </a:rPr>
              <a:t>  (</a:t>
            </a:r>
            <a:r>
              <a:rPr lang="en-US" dirty="0" smtClean="0">
                <a:latin typeface="Times New Roman" panose="02020603050405020304" pitchFamily="18" charset="0"/>
              </a:rPr>
              <a:t>Internet Message Access Protocol</a:t>
            </a:r>
            <a:r>
              <a:rPr lang="ru-RU" dirty="0" smtClean="0">
                <a:latin typeface="Times New Roman" panose="02020603050405020304" pitchFamily="18" charset="0"/>
              </a:rPr>
              <a:t>, Version 4</a:t>
            </a:r>
            <a:r>
              <a:rPr lang="ru-RU" altLang="ru-RU" dirty="0" smtClean="0">
                <a:latin typeface="Times New Roman" panose="02020603050405020304" pitchFamily="18" charset="0"/>
              </a:rPr>
              <a:t>) </a:t>
            </a:r>
            <a:r>
              <a:rPr lang="en-US" dirty="0" smtClean="0">
                <a:latin typeface="Times New Roman" panose="02020603050405020304" pitchFamily="18" charset="0"/>
              </a:rPr>
              <a:t>—</a:t>
            </a:r>
            <a:r>
              <a:rPr lang="ru-RU" dirty="0" smtClean="0">
                <a:latin typeface="Times New Roman" panose="02020603050405020304" pitchFamily="18" charset="0"/>
              </a:rPr>
              <a:t> </a:t>
            </a:r>
            <a:r>
              <a:rPr lang="ru-RU" dirty="0" smtClean="0"/>
              <a:t> </a:t>
            </a:r>
            <a:r>
              <a:rPr lang="ru-RU" dirty="0" smtClean="0">
                <a:latin typeface="Times New Roman" panose="02020603050405020304" pitchFamily="18" charset="0"/>
              </a:rPr>
              <a:t>протокол прикладного уровня для доступа к электронной почте;</a:t>
            </a:r>
            <a:endParaRPr lang="ru-RU" altLang="ru-RU" dirty="0" smtClean="0">
              <a:latin typeface="Times New Roman" panose="02020603050405020304" pitchFamily="18" charset="0"/>
            </a:endParaRPr>
          </a:p>
          <a:p>
            <a:pPr marL="285750" lvl="0" indent="-285750" algn="just" eaLnBrk="1" hangingPunct="1">
              <a:spcBef>
                <a:spcPts val="500"/>
              </a:spcBef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lang="en-US" altLang="ru-RU" dirty="0" smtClean="0">
                <a:solidFill>
                  <a:prstClr val="black"/>
                </a:solidFill>
                <a:latin typeface="Times New Roman" panose="02020603050405020304" pitchFamily="18" charset="0"/>
              </a:rPr>
              <a:t>CMIP </a:t>
            </a:r>
            <a:r>
              <a:rPr lang="en-US" altLang="ru-RU" dirty="0">
                <a:solidFill>
                  <a:prstClr val="black"/>
                </a:solidFill>
                <a:latin typeface="Times New Roman" panose="02020603050405020304" pitchFamily="18" charset="0"/>
              </a:rPr>
              <a:t>(Common Management Information Protocol)</a:t>
            </a:r>
            <a:r>
              <a:rPr lang="ru-RU" altLang="ru-RU" dirty="0">
                <a:solidFill>
                  <a:prstClr val="black"/>
                </a:solidFill>
                <a:latin typeface="Times New Roman" panose="02020603050405020304" pitchFamily="18" charset="0"/>
              </a:rPr>
              <a:t> </a:t>
            </a:r>
            <a:r>
              <a:rPr lang="en-US" dirty="0">
                <a:solidFill>
                  <a:prstClr val="black"/>
                </a:solidFill>
                <a:latin typeface="Times New Roman" panose="02020603050405020304" pitchFamily="18" charset="0"/>
              </a:rPr>
              <a:t>—</a:t>
            </a:r>
            <a:r>
              <a:rPr lang="en-US" altLang="ru-RU" dirty="0">
                <a:solidFill>
                  <a:prstClr val="black"/>
                </a:solidFill>
                <a:latin typeface="Times New Roman" panose="02020603050405020304" pitchFamily="18" charset="0"/>
              </a:rPr>
              <a:t> </a:t>
            </a:r>
            <a:r>
              <a:rPr lang="ru-RU" altLang="ru-RU" dirty="0">
                <a:solidFill>
                  <a:prstClr val="black"/>
                </a:solidFill>
                <a:latin typeface="Times New Roman" panose="02020603050405020304" pitchFamily="18" charset="0"/>
              </a:rPr>
              <a:t>общий протокол управления информацией;</a:t>
            </a:r>
            <a:endParaRPr lang="ru-RU" altLang="ru-RU" dirty="0">
              <a:solidFill>
                <a:prstClr val="black"/>
              </a:solidFill>
              <a:latin typeface="Times New Roman" panose="02020603050405020304" pitchFamily="18" charset="0"/>
            </a:endParaRPr>
          </a:p>
          <a:p>
            <a:pPr marL="285750" lvl="0" indent="-285750" algn="just" eaLnBrk="1" hangingPunct="1">
              <a:spcBef>
                <a:spcPts val="500"/>
              </a:spcBef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lang="en-US" altLang="ru-RU" dirty="0" smtClean="0">
                <a:solidFill>
                  <a:prstClr val="black"/>
                </a:solidFill>
                <a:latin typeface="Times New Roman" panose="02020603050405020304" pitchFamily="18" charset="0"/>
              </a:rPr>
              <a:t>SNMP </a:t>
            </a:r>
            <a:r>
              <a:rPr lang="en-US" altLang="ru-RU" dirty="0">
                <a:solidFill>
                  <a:prstClr val="black"/>
                </a:solidFill>
                <a:latin typeface="Times New Roman" panose="02020603050405020304" pitchFamily="18" charset="0"/>
              </a:rPr>
              <a:t>(Simple Network Management Protocol)</a:t>
            </a:r>
            <a:r>
              <a:rPr lang="ru-RU" altLang="ru-RU" dirty="0">
                <a:solidFill>
                  <a:prstClr val="black"/>
                </a:solidFill>
                <a:latin typeface="Times New Roman" panose="02020603050405020304" pitchFamily="18" charset="0"/>
              </a:rPr>
              <a:t> </a:t>
            </a:r>
            <a:r>
              <a:rPr lang="en-US" dirty="0">
                <a:solidFill>
                  <a:prstClr val="black"/>
                </a:solidFill>
                <a:latin typeface="Times New Roman" panose="02020603050405020304" pitchFamily="18" charset="0"/>
              </a:rPr>
              <a:t>—</a:t>
            </a:r>
            <a:r>
              <a:rPr lang="en-US" altLang="ru-RU" dirty="0">
                <a:solidFill>
                  <a:prstClr val="black"/>
                </a:solidFill>
                <a:latin typeface="Times New Roman" panose="02020603050405020304" pitchFamily="18" charset="0"/>
              </a:rPr>
              <a:t> </a:t>
            </a:r>
            <a:r>
              <a:rPr lang="ru-RU" altLang="ru-RU" dirty="0">
                <a:solidFill>
                  <a:prstClr val="black"/>
                </a:solidFill>
                <a:latin typeface="Times New Roman" panose="02020603050405020304" pitchFamily="18" charset="0"/>
              </a:rPr>
              <a:t>простой протокол сетевого управления;</a:t>
            </a:r>
            <a:endParaRPr lang="ru-RU" altLang="ru-RU" dirty="0">
              <a:solidFill>
                <a:prstClr val="black"/>
              </a:solidFill>
              <a:latin typeface="Times New Roman" panose="02020603050405020304" pitchFamily="18" charset="0"/>
            </a:endParaRPr>
          </a:p>
          <a:p>
            <a:pPr marL="285750" lvl="0" indent="-285750" algn="just" eaLnBrk="1" hangingPunct="1">
              <a:spcBef>
                <a:spcPts val="500"/>
              </a:spcBef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lang="en-US" altLang="ru-RU" dirty="0">
                <a:solidFill>
                  <a:prstClr val="black"/>
                </a:solidFill>
                <a:latin typeface="Times New Roman" panose="02020603050405020304" pitchFamily="18" charset="0"/>
              </a:rPr>
              <a:t>FTAM (File Transfer, Access, and Management)</a:t>
            </a:r>
            <a:r>
              <a:rPr lang="ru-RU" altLang="ru-RU" dirty="0">
                <a:solidFill>
                  <a:prstClr val="black"/>
                </a:solidFill>
                <a:latin typeface="Times New Roman" panose="02020603050405020304" pitchFamily="18" charset="0"/>
              </a:rPr>
              <a:t> </a:t>
            </a:r>
            <a:r>
              <a:rPr lang="en-US" dirty="0">
                <a:solidFill>
                  <a:prstClr val="black"/>
                </a:solidFill>
                <a:latin typeface="Times New Roman" panose="02020603050405020304" pitchFamily="18" charset="0"/>
              </a:rPr>
              <a:t>—</a:t>
            </a:r>
            <a:r>
              <a:rPr lang="en-US" altLang="ru-RU" dirty="0">
                <a:solidFill>
                  <a:prstClr val="black"/>
                </a:solidFill>
                <a:latin typeface="Times New Roman" panose="02020603050405020304" pitchFamily="18" charset="0"/>
              </a:rPr>
              <a:t> </a:t>
            </a:r>
            <a:r>
              <a:rPr lang="ru-RU" altLang="ru-RU" dirty="0">
                <a:solidFill>
                  <a:prstClr val="black"/>
                </a:solidFill>
                <a:latin typeface="Times New Roman" panose="02020603050405020304" pitchFamily="18" charset="0"/>
              </a:rPr>
              <a:t>протокол передачи, доступа и управления файлами.</a:t>
            </a:r>
            <a:endParaRPr lang="ru-RU" altLang="ru-RU" sz="2000" dirty="0">
              <a:solidFill>
                <a:prstClr val="black"/>
              </a:solidFill>
              <a:latin typeface="Times New Roman" panose="02020603050405020304" pitchFamily="18" charset="0"/>
            </a:endParaRPr>
          </a:p>
        </p:txBody>
      </p:sp>
      <p:sp>
        <p:nvSpPr>
          <p:cNvPr id="3" name="Заголовок 1"/>
          <p:cNvSpPr txBox="1"/>
          <p:nvPr/>
        </p:nvSpPr>
        <p:spPr>
          <a:xfrm>
            <a:off x="914400" y="116632"/>
            <a:ext cx="8229600" cy="1143000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ru-RU" altLang="ru-RU" sz="3600" dirty="0" smtClean="0"/>
              <a:t>Прикладной уровень. Функции</a:t>
            </a:r>
            <a:endParaRPr lang="ru-RU" altLang="ru-RU" sz="36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Заголовок 1"/>
          <p:cNvSpPr>
            <a:spLocks noGrp="1"/>
          </p:cNvSpPr>
          <p:nvPr>
            <p:ph type="title"/>
          </p:nvPr>
        </p:nvSpPr>
        <p:spPr>
          <a:xfrm>
            <a:off x="1043608" y="332656"/>
            <a:ext cx="7200900" cy="1485900"/>
          </a:xfrm>
        </p:spPr>
        <p:txBody>
          <a:bodyPr>
            <a:normAutofit/>
          </a:bodyPr>
          <a:lstStyle/>
          <a:p>
            <a:pPr eaLnBrk="1" hangingPunct="1"/>
            <a:r>
              <a:rPr lang="ru-RU" altLang="ru-RU" sz="3600" dirty="0" smtClean="0"/>
              <a:t>Уровень представления данных. Аспекты</a:t>
            </a:r>
            <a:endParaRPr lang="ru-RU" altLang="ru-RU" sz="3600" dirty="0" smtClean="0"/>
          </a:p>
        </p:txBody>
      </p:sp>
      <p:sp>
        <p:nvSpPr>
          <p:cNvPr id="2" name="Прямоугольник 1"/>
          <p:cNvSpPr/>
          <p:nvPr/>
        </p:nvSpPr>
        <p:spPr>
          <a:xfrm>
            <a:off x="1043608" y="1772816"/>
            <a:ext cx="7560840" cy="48397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>
              <a:spcBef>
                <a:spcPts val="300"/>
              </a:spcBef>
              <a:spcAft>
                <a:spcPts val="0"/>
              </a:spcAft>
            </a:pPr>
            <a:r>
              <a:rPr lang="ru-RU" sz="18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1. Уровень представления данных или представительский уровень </a:t>
            </a:r>
            <a:r>
              <a:rPr lang="ru-RU" sz="1800" b="1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представляет данные, передаваемые между прикладными процессами, в нужной форме</a:t>
            </a:r>
            <a:r>
              <a:rPr lang="ru-RU" sz="18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80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>
              <a:spcBef>
                <a:spcPts val="300"/>
              </a:spcBef>
              <a:spcAft>
                <a:spcPts val="0"/>
              </a:spcAft>
            </a:pPr>
            <a:endParaRPr lang="ru-RU" sz="180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7200" algn="just"/>
            <a:r>
              <a:rPr lang="ru-RU" sz="18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2. Этот уровень обеспечивает то, что информация, передаваемая прикладным уровнем, будет понятна прикладному уровню в другой системе. </a:t>
            </a:r>
            <a:r>
              <a:rPr lang="ru-RU" sz="1800" u="sng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 случаях необходимости уровень представления в момент передачи информации выполняет преобразование форматов данных в некоторый общий формат представления, а в момент приема, соответственно, выполняет обратное преобразование.</a:t>
            </a:r>
            <a:r>
              <a:rPr lang="ru-RU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Таким образом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прикладные уровни могут преодолеть, например, синтаксические различия в представлении данных. </a:t>
            </a:r>
            <a:endParaRPr lang="ru-RU" dirty="0" smtClean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7200" algn="just"/>
            <a:endParaRPr lang="ru-RU" dirty="0" smtClean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7200" algn="just"/>
            <a:r>
              <a:rPr lang="ru-RU" sz="18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3. В основу </a:t>
            </a:r>
            <a:r>
              <a:rPr lang="ru-RU" sz="1800" b="1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общего представления данных </a:t>
            </a:r>
            <a:r>
              <a:rPr lang="ru-RU" sz="18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положена единая для всех уровней модели </a:t>
            </a:r>
            <a:r>
              <a:rPr lang="ru-RU" sz="1800" b="1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система ASN.1</a:t>
            </a:r>
            <a:r>
              <a:rPr lang="ru-RU" sz="18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Эта система служит для описания структуры файлов, а также позволяет решить проблему шифрования данных.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Заголовок 1"/>
          <p:cNvSpPr>
            <a:spLocks noGrp="1"/>
          </p:cNvSpPr>
          <p:nvPr>
            <p:ph type="title"/>
          </p:nvPr>
        </p:nvSpPr>
        <p:spPr>
          <a:xfrm>
            <a:off x="1043608" y="332656"/>
            <a:ext cx="7200900" cy="1485900"/>
          </a:xfrm>
        </p:spPr>
        <p:txBody>
          <a:bodyPr>
            <a:normAutofit/>
          </a:bodyPr>
          <a:lstStyle/>
          <a:p>
            <a:pPr eaLnBrk="1" hangingPunct="1"/>
            <a:r>
              <a:rPr lang="ru-RU" altLang="ru-RU" sz="3600" dirty="0" smtClean="0"/>
              <a:t>Уровень представления данных. Аспекты</a:t>
            </a:r>
            <a:endParaRPr lang="ru-RU" altLang="ru-RU" sz="3600" dirty="0" smtClean="0"/>
          </a:p>
        </p:txBody>
      </p:sp>
      <p:sp>
        <p:nvSpPr>
          <p:cNvPr id="2" name="Прямоугольник 1"/>
          <p:cNvSpPr/>
          <p:nvPr/>
        </p:nvSpPr>
        <p:spPr>
          <a:xfrm>
            <a:off x="1115616" y="1806869"/>
            <a:ext cx="7560840" cy="32547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>
              <a:spcBef>
                <a:spcPts val="300"/>
              </a:spcBef>
              <a:spcAft>
                <a:spcPts val="0"/>
              </a:spcAft>
            </a:pPr>
            <a:r>
              <a:rPr lang="ru-RU" sz="18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4. На этом уровне может выполняться шифрование и дешифрование данных, благодаря которым секретность обмена данными обеспечивается сразу для всех прикладных сервисов. Примером такого протокола является протокол </a:t>
            </a:r>
            <a:r>
              <a:rPr lang="en-US" sz="1800" i="1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Secure Socket Layer</a:t>
            </a:r>
            <a:r>
              <a:rPr lang="ru-RU" sz="1800" i="1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(SSL),</a:t>
            </a:r>
            <a:r>
              <a:rPr lang="ru-RU" sz="18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который обеспечивает секретный обмен сообщениями для протоколов прикладного уровня стека TCP/IP.</a:t>
            </a:r>
            <a:endParaRPr lang="ru-RU" sz="180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>
              <a:spcBef>
                <a:spcPts val="300"/>
              </a:spcBef>
              <a:spcAft>
                <a:spcPts val="0"/>
              </a:spcAft>
            </a:pP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>
              <a:spcBef>
                <a:spcPts val="300"/>
              </a:spcBef>
              <a:spcAft>
                <a:spcPts val="0"/>
              </a:spcAft>
            </a:pPr>
            <a:r>
              <a:rPr lang="ru-RU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5. Представительский уровень </a:t>
            </a:r>
            <a:r>
              <a:rPr lang="ru-RU" u="sng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обеспечивает </a:t>
            </a:r>
            <a:r>
              <a:rPr lang="ru-RU" u="sng" dirty="0">
                <a:latin typeface="Times New Roman" panose="02020603050405020304" pitchFamily="18" charset="0"/>
                <a:ea typeface="Times New Roman" panose="02020603050405020304" pitchFamily="18" charset="0"/>
              </a:rPr>
              <a:t>преобразование данных 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(кодирование, компрессия и т.п</a:t>
            </a:r>
            <a:r>
              <a:rPr lang="ru-RU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.), поступающих с 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прикладного </a:t>
            </a:r>
            <a:r>
              <a:rPr lang="ru-RU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уровня, </a:t>
            </a:r>
            <a:r>
              <a:rPr lang="ru-RU" u="sng" dirty="0">
                <a:latin typeface="Times New Roman" panose="02020603050405020304" pitchFamily="18" charset="0"/>
                <a:ea typeface="Times New Roman" panose="02020603050405020304" pitchFamily="18" charset="0"/>
              </a:rPr>
              <a:t>в </a:t>
            </a:r>
            <a:r>
              <a:rPr lang="ru-RU" u="sng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соответствующую форму</a:t>
            </a:r>
            <a:r>
              <a:rPr lang="ru-RU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, которые далее в виде потока 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информации </a:t>
            </a:r>
            <a:r>
              <a:rPr lang="ru-RU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поступают на транспортный уровень. 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>
              <a:spcBef>
                <a:spcPts val="300"/>
              </a:spcBef>
              <a:spcAft>
                <a:spcPts val="0"/>
              </a:spcAft>
            </a:pPr>
            <a:r>
              <a:rPr lang="ru-RU" sz="18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ru-RU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Заголовок 1"/>
          <p:cNvSpPr>
            <a:spLocks noGrp="1"/>
          </p:cNvSpPr>
          <p:nvPr>
            <p:ph type="title"/>
          </p:nvPr>
        </p:nvSpPr>
        <p:spPr>
          <a:xfrm>
            <a:off x="1043305" y="260350"/>
            <a:ext cx="7200900" cy="1485900"/>
          </a:xfrm>
        </p:spPr>
        <p:txBody>
          <a:bodyPr>
            <a:normAutofit/>
          </a:bodyPr>
          <a:lstStyle/>
          <a:p>
            <a:pPr eaLnBrk="1" hangingPunct="1"/>
            <a:r>
              <a:rPr lang="ru-RU" altLang="ru-RU" sz="3600" smtClean="0"/>
              <a:t>Уровень представления данных</a:t>
            </a:r>
            <a:endParaRPr lang="ru-RU" altLang="ru-RU" sz="3600" smtClean="0"/>
          </a:p>
        </p:txBody>
      </p:sp>
      <p:sp>
        <p:nvSpPr>
          <p:cNvPr id="9219" name="TextBox 2"/>
          <p:cNvSpPr txBox="1">
            <a:spLocks noChangeArrowheads="1"/>
          </p:cNvSpPr>
          <p:nvPr/>
        </p:nvSpPr>
        <p:spPr bwMode="auto">
          <a:xfrm>
            <a:off x="1100455" y="1857375"/>
            <a:ext cx="7200900" cy="46782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indent="457200" algn="just" eaLnBrk="1" hangingPunct="1"/>
            <a:r>
              <a:rPr lang="ru-RU" altLang="ru-RU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Представительный уровень выполняет следующие основные функции:</a:t>
            </a:r>
            <a:endParaRPr lang="ru-RU" altLang="ru-RU" sz="20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spcBef>
                <a:spcPts val="600"/>
              </a:spcBef>
              <a:spcAft>
                <a:spcPts val="600"/>
              </a:spcAft>
              <a:buSzPts val="1400"/>
              <a:buFont typeface="Wingdings" panose="05000000000000000000" pitchFamily="2" charset="2"/>
              <a:buChar char="Ø"/>
              <a:tabLst>
                <a:tab pos="228600" algn="l"/>
              </a:tabLst>
            </a:pP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генерация запросов на установление сеансов взаимодействия прикладных процессов;</a:t>
            </a:r>
            <a:endParaRPr lang="ru-RU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spcBef>
                <a:spcPts val="600"/>
              </a:spcBef>
              <a:spcAft>
                <a:spcPts val="600"/>
              </a:spcAft>
              <a:buSzPts val="1400"/>
              <a:buFont typeface="Wingdings" panose="05000000000000000000" pitchFamily="2" charset="2"/>
              <a:buChar char="Ø"/>
              <a:tabLst>
                <a:tab pos="228600" algn="l"/>
              </a:tabLst>
            </a:pP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согласование представления данных между прикладными процессами;</a:t>
            </a:r>
            <a:endParaRPr lang="ru-RU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spcBef>
                <a:spcPts val="600"/>
              </a:spcBef>
              <a:spcAft>
                <a:spcPts val="600"/>
              </a:spcAft>
              <a:buSzPts val="1400"/>
              <a:buFont typeface="Wingdings" panose="05000000000000000000" pitchFamily="2" charset="2"/>
              <a:buChar char="Ø"/>
              <a:tabLst>
                <a:tab pos="228600" algn="l"/>
              </a:tabLst>
            </a:pPr>
            <a:r>
              <a:rPr lang="ru-RU" sz="20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реализация форм представления данных;</a:t>
            </a:r>
            <a:endParaRPr lang="ru-RU" sz="2000" dirty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spcBef>
                <a:spcPts val="600"/>
              </a:spcBef>
              <a:spcAft>
                <a:spcPts val="600"/>
              </a:spcAft>
              <a:buSzPts val="1400"/>
              <a:buFont typeface="Wingdings" panose="05000000000000000000" pitchFamily="2" charset="2"/>
              <a:buChar char="Ø"/>
              <a:tabLst>
                <a:tab pos="228600" algn="l"/>
              </a:tabLst>
            </a:pPr>
            <a:r>
              <a:rPr lang="ru-RU" sz="20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преобразование данных (кодирование, компрессия и т.д</a:t>
            </a:r>
            <a:r>
              <a:rPr lang="ru-RU" sz="2000" dirty="0" smtClean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.)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;</a:t>
            </a:r>
            <a:endParaRPr lang="ru-RU" sz="2000" dirty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spcBef>
                <a:spcPts val="600"/>
              </a:spcBef>
              <a:spcAft>
                <a:spcPts val="600"/>
              </a:spcAft>
              <a:buSzPts val="1400"/>
              <a:buFont typeface="Wingdings" panose="05000000000000000000" pitchFamily="2" charset="2"/>
              <a:buChar char="Ø"/>
              <a:tabLst>
                <a:tab pos="228600" algn="l"/>
              </a:tabLst>
            </a:pPr>
            <a:r>
              <a:rPr lang="ru-RU" sz="200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засекречивание данных (шифрование);</a:t>
            </a:r>
            <a:endParaRPr lang="ru-RU" sz="2000" dirty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spcBef>
                <a:spcPts val="600"/>
              </a:spcBef>
              <a:spcAft>
                <a:spcPts val="600"/>
              </a:spcAft>
              <a:buSzPts val="1400"/>
              <a:buFont typeface="Wingdings" panose="05000000000000000000" pitchFamily="2" charset="2"/>
              <a:buChar char="Ø"/>
              <a:tabLst>
                <a:tab pos="228600" algn="l"/>
              </a:tabLst>
            </a:pP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передача запросов при необходимости на прекращение сеансов.</a:t>
            </a:r>
            <a:endParaRPr lang="ru-RU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 eaLnBrk="1" hangingPunct="1"/>
            <a:endParaRPr lang="ru-RU" altLang="ru-RU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Заголовок 1"/>
          <p:cNvSpPr>
            <a:spLocks noGrp="1"/>
          </p:cNvSpPr>
          <p:nvPr>
            <p:ph type="title"/>
          </p:nvPr>
        </p:nvSpPr>
        <p:spPr>
          <a:xfrm>
            <a:off x="769015" y="188640"/>
            <a:ext cx="8229600" cy="1143000"/>
          </a:xfrm>
        </p:spPr>
        <p:txBody>
          <a:bodyPr/>
          <a:lstStyle/>
          <a:p>
            <a:pPr eaLnBrk="1" hangingPunct="1"/>
            <a:r>
              <a:rPr lang="ru-RU" altLang="ru-RU" sz="3600" dirty="0" smtClean="0"/>
              <a:t>Сеансовый уровень. Аспекты</a:t>
            </a:r>
            <a:endParaRPr lang="ru-RU" altLang="ru-RU" sz="3600" dirty="0" smtClean="0"/>
          </a:p>
        </p:txBody>
      </p:sp>
      <p:sp>
        <p:nvSpPr>
          <p:cNvPr id="10244" name="Text Box 5"/>
          <p:cNvSpPr txBox="1">
            <a:spLocks noChangeArrowheads="1"/>
          </p:cNvSpPr>
          <p:nvPr/>
        </p:nvSpPr>
        <p:spPr bwMode="auto">
          <a:xfrm>
            <a:off x="874001" y="2276872"/>
            <a:ext cx="8133221" cy="43858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indent="457200" algn="just" eaLnBrk="1" hangingPunct="1">
              <a:spcBef>
                <a:spcPct val="50000"/>
              </a:spcBef>
            </a:pPr>
            <a:r>
              <a:rPr lang="ru-RU" u="sng" dirty="0" smtClean="0">
                <a:latin typeface="Times New Roman" panose="02020603050405020304" pitchFamily="18" charset="0"/>
              </a:rPr>
              <a:t>Аспекты:</a:t>
            </a:r>
            <a:endParaRPr lang="ru-RU" u="sng" dirty="0">
              <a:latin typeface="Times New Roman" panose="02020603050405020304" pitchFamily="18" charset="0"/>
            </a:endParaRPr>
          </a:p>
          <a:p>
            <a:pPr indent="457200" algn="just" eaLnBrk="1" hangingPunct="1">
              <a:spcBef>
                <a:spcPct val="50000"/>
              </a:spcBef>
            </a:pPr>
            <a:r>
              <a:rPr lang="ru-RU" dirty="0" smtClean="0">
                <a:latin typeface="Times New Roman" panose="02020603050405020304" pitchFamily="18" charset="0"/>
              </a:rPr>
              <a:t>1. Сеансовый </a:t>
            </a:r>
            <a:r>
              <a:rPr lang="ru-RU" dirty="0">
                <a:latin typeface="Times New Roman" panose="02020603050405020304" pitchFamily="18" charset="0"/>
              </a:rPr>
              <a:t>уровень обеспечивает </a:t>
            </a:r>
            <a:r>
              <a:rPr lang="ru-RU" b="1" dirty="0">
                <a:latin typeface="Times New Roman" panose="02020603050405020304" pitchFamily="18" charset="0"/>
              </a:rPr>
              <a:t>управление диалогом </a:t>
            </a:r>
            <a:r>
              <a:rPr lang="ru-RU" dirty="0">
                <a:latin typeface="Times New Roman" panose="02020603050405020304" pitchFamily="18" charset="0"/>
              </a:rPr>
              <a:t>для того, чтобы фиксировать, </a:t>
            </a:r>
            <a:r>
              <a:rPr lang="ru-RU" b="1" dirty="0">
                <a:latin typeface="Times New Roman" panose="02020603050405020304" pitchFamily="18" charset="0"/>
              </a:rPr>
              <a:t>какая из сторон является активной в настоящий момент</a:t>
            </a:r>
            <a:r>
              <a:rPr lang="ru-RU" dirty="0">
                <a:latin typeface="Times New Roman" panose="02020603050405020304" pitchFamily="18" charset="0"/>
              </a:rPr>
              <a:t>, а также предоставляет средства синхронизации. Последние позволяют </a:t>
            </a:r>
            <a:r>
              <a:rPr lang="ru-RU" b="1" dirty="0">
                <a:latin typeface="Times New Roman" panose="02020603050405020304" pitchFamily="18" charset="0"/>
              </a:rPr>
              <a:t>вставлять контрольные точки в длинные передачи</a:t>
            </a:r>
            <a:r>
              <a:rPr lang="ru-RU" dirty="0">
                <a:latin typeface="Times New Roman" panose="02020603050405020304" pitchFamily="18" charset="0"/>
              </a:rPr>
              <a:t>, чтобы в случае отказа можно было вернуться назад к последней контрольной точке, вместо того чтобы начинать все сначала</a:t>
            </a:r>
            <a:r>
              <a:rPr lang="ru-RU" dirty="0" smtClean="0">
                <a:latin typeface="Times New Roman" panose="02020603050405020304" pitchFamily="18" charset="0"/>
              </a:rPr>
              <a:t>.</a:t>
            </a:r>
            <a:endParaRPr lang="ru-RU" dirty="0" smtClean="0">
              <a:latin typeface="Times New Roman" panose="02020603050405020304" pitchFamily="18" charset="0"/>
            </a:endParaRPr>
          </a:p>
          <a:p>
            <a:pPr indent="457200" algn="just" eaLnBrk="1" hangingPunct="1">
              <a:spcBef>
                <a:spcPct val="50000"/>
              </a:spcBef>
            </a:pPr>
            <a:r>
              <a:rPr lang="ru-RU" dirty="0" smtClean="0">
                <a:latin typeface="Times New Roman" panose="02020603050405020304" pitchFamily="18" charset="0"/>
              </a:rPr>
              <a:t>2. Сеансовый </a:t>
            </a:r>
            <a:r>
              <a:rPr lang="ru-RU" dirty="0">
                <a:latin typeface="Times New Roman" panose="02020603050405020304" pitchFamily="18" charset="0"/>
              </a:rPr>
              <a:t>уровень управляет сеансом передачи информации между прикладными процессами, координирует прием, передачу и выдачу одного сеанса связи. Кроме того, сеансовый уровень </a:t>
            </a:r>
            <a:r>
              <a:rPr lang="ru-RU" dirty="0" smtClean="0">
                <a:latin typeface="Times New Roman" panose="02020603050405020304" pitchFamily="18" charset="0"/>
              </a:rPr>
              <a:t>может содержать </a:t>
            </a:r>
            <a:r>
              <a:rPr lang="ru-RU" dirty="0">
                <a:latin typeface="Times New Roman" panose="02020603050405020304" pitchFamily="18" charset="0"/>
              </a:rPr>
              <a:t>дополнительно функции управления паролями, управления диалогом, синхронизации и отмены связи в сеансе передачи после сбоя вследствие ошибок в нижерасположенных уровнях. </a:t>
            </a:r>
            <a:endParaRPr lang="ru-RU" altLang="ru-RU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</a:pPr>
            <a:endParaRPr lang="ru-RU" altLang="ru-RU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827684" y="1269018"/>
            <a:ext cx="777686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 eaLnBrk="1" hangingPunct="1">
              <a:spcBef>
                <a:spcPct val="50000"/>
              </a:spcBef>
            </a:pPr>
            <a:r>
              <a:rPr lang="ru-RU" altLang="ru-RU" b="1" dirty="0">
                <a:solidFill>
                  <a:srgbClr val="FF0000"/>
                </a:solidFill>
                <a:latin typeface="Times New Roman" panose="02020603050405020304" pitchFamily="18" charset="0"/>
              </a:rPr>
              <a:t>Сеансовый уровень – это уровень, определяющий процедуру проведения сеансов между пользователями и/или прикладными процессами</a:t>
            </a:r>
            <a:r>
              <a:rPr lang="ru-RU" altLang="ru-RU" dirty="0">
                <a:solidFill>
                  <a:srgbClr val="FF0000"/>
                </a:solidFill>
                <a:latin typeface="Times New Roman" panose="02020603050405020304" pitchFamily="18" charset="0"/>
              </a:rPr>
              <a:t>.</a:t>
            </a:r>
            <a:endParaRPr lang="ru-RU" altLang="ru-RU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Заголовок 1"/>
          <p:cNvSpPr>
            <a:spLocks noGrp="1"/>
          </p:cNvSpPr>
          <p:nvPr>
            <p:ph type="title"/>
          </p:nvPr>
        </p:nvSpPr>
        <p:spPr>
          <a:xfrm>
            <a:off x="769015" y="188640"/>
            <a:ext cx="8229600" cy="1143000"/>
          </a:xfrm>
        </p:spPr>
        <p:txBody>
          <a:bodyPr/>
          <a:lstStyle/>
          <a:p>
            <a:pPr eaLnBrk="1" hangingPunct="1"/>
            <a:r>
              <a:rPr lang="ru-RU" altLang="ru-RU" sz="3600" dirty="0" smtClean="0"/>
              <a:t>Сеансовый уровень. Аспекты</a:t>
            </a:r>
            <a:endParaRPr lang="ru-RU" altLang="ru-RU" sz="3600" dirty="0" smtClean="0"/>
          </a:p>
        </p:txBody>
      </p:sp>
      <p:sp>
        <p:nvSpPr>
          <p:cNvPr id="10244" name="Text Box 5"/>
          <p:cNvSpPr txBox="1">
            <a:spLocks noChangeArrowheads="1"/>
          </p:cNvSpPr>
          <p:nvPr/>
        </p:nvSpPr>
        <p:spPr bwMode="auto">
          <a:xfrm>
            <a:off x="817204" y="1314199"/>
            <a:ext cx="8133221" cy="39164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indent="457200" algn="just" eaLnBrk="1" hangingPunct="1">
              <a:spcBef>
                <a:spcPct val="50000"/>
              </a:spcBef>
            </a:pPr>
            <a:r>
              <a:rPr lang="ru-RU" u="sng" dirty="0" smtClean="0">
                <a:latin typeface="Times New Roman" panose="02020603050405020304" pitchFamily="18" charset="0"/>
              </a:rPr>
              <a:t>Аспекты:</a:t>
            </a:r>
            <a:endParaRPr lang="ru-RU" u="sng" dirty="0" smtClean="0">
              <a:latin typeface="Times New Roman" panose="02020603050405020304" pitchFamily="18" charset="0"/>
            </a:endParaRPr>
          </a:p>
          <a:p>
            <a:pPr indent="457200" algn="just" eaLnBrk="1" hangingPunct="1">
              <a:spcBef>
                <a:spcPct val="50000"/>
              </a:spcBef>
            </a:pPr>
            <a:endParaRPr lang="ru-RU" sz="1100" u="sng" dirty="0">
              <a:latin typeface="Times New Roman" panose="02020603050405020304" pitchFamily="18" charset="0"/>
            </a:endParaRPr>
          </a:p>
          <a:p>
            <a:pPr indent="457200" algn="just">
              <a:spcBef>
                <a:spcPts val="600"/>
              </a:spcBef>
              <a:spcAft>
                <a:spcPts val="0"/>
              </a:spcAft>
            </a:pPr>
            <a:r>
              <a:rPr lang="ru-RU" dirty="0" smtClean="0">
                <a:latin typeface="Times New Roman" panose="02020603050405020304" pitchFamily="18" charset="0"/>
              </a:rPr>
              <a:t>3. </a:t>
            </a:r>
            <a:r>
              <a:rPr lang="ru-RU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На сеансовом уровне определяется, какой будет передача между двумя прикладными процессами:</a:t>
            </a:r>
            <a:endParaRPr lang="ru-RU" spc="-2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spcBef>
                <a:spcPts val="600"/>
              </a:spcBef>
              <a:spcAft>
                <a:spcPts val="600"/>
              </a:spcAft>
              <a:buSzPts val="1400"/>
              <a:buFont typeface="Symbol" panose="05050102010706020507" pitchFamily="18" charset="2"/>
              <a:buChar char=""/>
              <a:tabLst>
                <a:tab pos="228600" algn="l"/>
              </a:tabLst>
            </a:pPr>
            <a:r>
              <a:rPr lang="ru-RU" i="1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полудуплексной</a:t>
            </a:r>
            <a:r>
              <a:rPr lang="ru-RU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(процессы будут передавать и принимать данные по очереди</a:t>
            </a:r>
            <a:r>
              <a:rPr lang="ru-RU" spc="-2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) − </a:t>
            </a:r>
            <a:r>
              <a:rPr lang="ru-RU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сеансовый уровень выдает </a:t>
            </a:r>
            <a:r>
              <a:rPr lang="ru-RU" i="1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маркер данных</a:t>
            </a:r>
            <a:r>
              <a:rPr lang="ru-RU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тому процессу, который начинает передачу; когда второму процессу приходит время отвечать, маркер данных передается ему; разрешается передача только той стороне, которая обладает маркером данных</a:t>
            </a:r>
            <a:r>
              <a:rPr lang="ru-RU" spc="-2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;</a:t>
            </a:r>
            <a:endParaRPr lang="ru-RU" spc="-2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spcBef>
                <a:spcPts val="600"/>
              </a:spcBef>
              <a:spcAft>
                <a:spcPts val="600"/>
              </a:spcAft>
              <a:buSzPts val="1400"/>
              <a:buFont typeface="Symbol" panose="05050102010706020507" pitchFamily="18" charset="2"/>
              <a:buChar char=""/>
              <a:tabLst>
                <a:tab pos="228600" algn="l"/>
              </a:tabLst>
            </a:pPr>
            <a:r>
              <a:rPr lang="ru-RU" i="1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дуплексной</a:t>
            </a:r>
            <a:r>
              <a:rPr lang="ru-RU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(процессы будут передавать данные, и принимать их одновременно).</a:t>
            </a:r>
            <a:endParaRPr lang="ru-RU" spc="-2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</a:pPr>
            <a:endParaRPr lang="ru-RU" alt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Заголовок 1"/>
          <p:cNvSpPr>
            <a:spLocks noGrp="1"/>
          </p:cNvSpPr>
          <p:nvPr>
            <p:ph type="title"/>
          </p:nvPr>
        </p:nvSpPr>
        <p:spPr>
          <a:xfrm>
            <a:off x="827584" y="260648"/>
            <a:ext cx="8229600" cy="1143000"/>
          </a:xfrm>
        </p:spPr>
        <p:txBody>
          <a:bodyPr/>
          <a:lstStyle/>
          <a:p>
            <a:pPr eaLnBrk="1" hangingPunct="1"/>
            <a:r>
              <a:rPr lang="ru-RU" altLang="ru-RU" sz="3600" dirty="0" smtClean="0"/>
              <a:t>Сеансовый уровень. Функции</a:t>
            </a:r>
            <a:endParaRPr lang="ru-RU" altLang="ru-RU" sz="3600" dirty="0" smtClean="0"/>
          </a:p>
        </p:txBody>
      </p:sp>
      <p:sp>
        <p:nvSpPr>
          <p:cNvPr id="10243" name="TextBox 2"/>
          <p:cNvSpPr txBox="1">
            <a:spLocks noChangeArrowheads="1"/>
          </p:cNvSpPr>
          <p:nvPr/>
        </p:nvSpPr>
        <p:spPr bwMode="auto">
          <a:xfrm>
            <a:off x="971600" y="1143000"/>
            <a:ext cx="7488832" cy="54886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000" u="sng" dirty="0">
                <a:latin typeface="Times New Roman" panose="02020603050405020304" pitchFamily="18" charset="0"/>
              </a:rPr>
              <a:t>Сеансовый уровень обеспечивает выполнение следующих функций:</a:t>
            </a:r>
            <a:endParaRPr lang="ru-RU" altLang="ru-RU" sz="2000" u="sng" dirty="0">
              <a:latin typeface="Times New Roman" panose="02020603050405020304" pitchFamily="18" charset="0"/>
            </a:endParaRPr>
          </a:p>
          <a:p>
            <a:pPr marL="342900" indent="-342900" eaLnBrk="1" hangingPunct="1">
              <a:spcBef>
                <a:spcPts val="400"/>
              </a:spcBef>
              <a:spcAft>
                <a:spcPts val="400"/>
              </a:spcAft>
              <a:buFont typeface="Wingdings" panose="05000000000000000000" pitchFamily="2" charset="2"/>
              <a:buChar char="Ø"/>
            </a:pPr>
            <a:r>
              <a:rPr lang="ru-RU" altLang="ru-RU" dirty="0" smtClean="0">
                <a:latin typeface="Times New Roman" panose="02020603050405020304" pitchFamily="18" charset="0"/>
              </a:rPr>
              <a:t>установление </a:t>
            </a:r>
            <a:r>
              <a:rPr lang="ru-RU" altLang="ru-RU" dirty="0">
                <a:latin typeface="Times New Roman" panose="02020603050405020304" pitchFamily="18" charset="0"/>
              </a:rPr>
              <a:t>и завершение на сеансовом уровне соединения между взаимодействующими системами;</a:t>
            </a:r>
            <a:endParaRPr lang="ru-RU" altLang="ru-RU" dirty="0">
              <a:latin typeface="Times New Roman" panose="02020603050405020304" pitchFamily="18" charset="0"/>
            </a:endParaRPr>
          </a:p>
          <a:p>
            <a:pPr marL="342900" indent="-342900" eaLnBrk="1" hangingPunct="1">
              <a:spcBef>
                <a:spcPts val="400"/>
              </a:spcBef>
              <a:spcAft>
                <a:spcPts val="400"/>
              </a:spcAft>
              <a:buFont typeface="Wingdings" panose="05000000000000000000" pitchFamily="2" charset="2"/>
              <a:buChar char="Ø"/>
            </a:pPr>
            <a:r>
              <a:rPr lang="ru-RU" altLang="ru-RU" dirty="0" smtClean="0">
                <a:latin typeface="Times New Roman" panose="02020603050405020304" pitchFamily="18" charset="0"/>
              </a:rPr>
              <a:t>управление выполнением </a:t>
            </a:r>
            <a:r>
              <a:rPr lang="ru-RU" altLang="ru-RU" dirty="0">
                <a:latin typeface="Times New Roman" panose="02020603050405020304" pitchFamily="18" charset="0"/>
              </a:rPr>
              <a:t>нормального и срочного обмена данными между прикладными процессами;</a:t>
            </a:r>
            <a:endParaRPr lang="ru-RU" altLang="ru-RU" dirty="0">
              <a:latin typeface="Times New Roman" panose="02020603050405020304" pitchFamily="18" charset="0"/>
            </a:endParaRPr>
          </a:p>
          <a:p>
            <a:pPr marL="342900" indent="-342900" eaLnBrk="1" hangingPunct="1">
              <a:spcBef>
                <a:spcPts val="400"/>
              </a:spcBef>
              <a:spcAft>
                <a:spcPts val="400"/>
              </a:spcAft>
              <a:buFont typeface="Wingdings" panose="05000000000000000000" pitchFamily="2" charset="2"/>
              <a:buChar char="Ø"/>
            </a:pPr>
            <a:r>
              <a:rPr lang="ru-RU" altLang="ru-RU" dirty="0" smtClean="0">
                <a:latin typeface="Times New Roman" panose="02020603050405020304" pitchFamily="18" charset="0"/>
              </a:rPr>
              <a:t>управление </a:t>
            </a:r>
            <a:r>
              <a:rPr lang="ru-RU" altLang="ru-RU" dirty="0">
                <a:latin typeface="Times New Roman" panose="02020603050405020304" pitchFamily="18" charset="0"/>
              </a:rPr>
              <a:t>взаимодействием прикладных процессов;</a:t>
            </a:r>
            <a:endParaRPr lang="ru-RU" altLang="ru-RU" dirty="0">
              <a:latin typeface="Times New Roman" panose="02020603050405020304" pitchFamily="18" charset="0"/>
            </a:endParaRPr>
          </a:p>
          <a:p>
            <a:pPr marL="342900" indent="-342900" eaLnBrk="1" hangingPunct="1">
              <a:spcBef>
                <a:spcPts val="400"/>
              </a:spcBef>
              <a:spcAft>
                <a:spcPts val="400"/>
              </a:spcAft>
              <a:buFont typeface="Wingdings" panose="05000000000000000000" pitchFamily="2" charset="2"/>
              <a:buChar char="Ø"/>
            </a:pPr>
            <a:r>
              <a:rPr lang="ru-RU" altLang="ru-RU" dirty="0" smtClean="0">
                <a:latin typeface="Times New Roman" panose="02020603050405020304" pitchFamily="18" charset="0"/>
              </a:rPr>
              <a:t>синхронизация </a:t>
            </a:r>
            <a:r>
              <a:rPr lang="ru-RU" altLang="ru-RU" dirty="0">
                <a:latin typeface="Times New Roman" panose="02020603050405020304" pitchFamily="18" charset="0"/>
              </a:rPr>
              <a:t>сеансовых соединений;</a:t>
            </a:r>
            <a:endParaRPr lang="ru-RU" altLang="ru-RU" dirty="0">
              <a:latin typeface="Times New Roman" panose="02020603050405020304" pitchFamily="18" charset="0"/>
            </a:endParaRPr>
          </a:p>
          <a:p>
            <a:pPr marL="342900" indent="-342900" eaLnBrk="1" hangingPunct="1">
              <a:spcBef>
                <a:spcPts val="400"/>
              </a:spcBef>
              <a:spcAft>
                <a:spcPts val="400"/>
              </a:spcAft>
              <a:buFont typeface="Wingdings" panose="05000000000000000000" pitchFamily="2" charset="2"/>
              <a:buChar char="Ø"/>
            </a:pPr>
            <a:r>
              <a:rPr lang="ru-RU" altLang="ru-RU" dirty="0" smtClean="0">
                <a:latin typeface="Times New Roman" panose="02020603050405020304" pitchFamily="18" charset="0"/>
              </a:rPr>
              <a:t>извещение </a:t>
            </a:r>
            <a:r>
              <a:rPr lang="ru-RU" altLang="ru-RU" dirty="0">
                <a:latin typeface="Times New Roman" panose="02020603050405020304" pitchFamily="18" charset="0"/>
              </a:rPr>
              <a:t>прикладных процессов об исключительных ситуациях;</a:t>
            </a:r>
            <a:endParaRPr lang="ru-RU" altLang="ru-RU" dirty="0">
              <a:latin typeface="Times New Roman" panose="02020603050405020304" pitchFamily="18" charset="0"/>
            </a:endParaRPr>
          </a:p>
          <a:p>
            <a:pPr marL="342900" indent="-342900" eaLnBrk="1" hangingPunct="1">
              <a:spcBef>
                <a:spcPts val="400"/>
              </a:spcBef>
              <a:spcAft>
                <a:spcPts val="400"/>
              </a:spcAft>
              <a:buFont typeface="Wingdings" panose="05000000000000000000" pitchFamily="2" charset="2"/>
              <a:buChar char="Ø"/>
            </a:pPr>
            <a:r>
              <a:rPr lang="ru-RU" altLang="ru-RU" dirty="0" smtClean="0">
                <a:latin typeface="Times New Roman" panose="02020603050405020304" pitchFamily="18" charset="0"/>
              </a:rPr>
              <a:t>установление </a:t>
            </a:r>
            <a:r>
              <a:rPr lang="ru-RU" altLang="ru-RU" dirty="0">
                <a:latin typeface="Times New Roman" panose="02020603050405020304" pitchFamily="18" charset="0"/>
              </a:rPr>
              <a:t>в прикладном процессе меток, позволяющих после отказа либо ошибки восстановить его выполнение от ближайшей метки;</a:t>
            </a:r>
            <a:endParaRPr lang="ru-RU" altLang="ru-RU" dirty="0">
              <a:latin typeface="Times New Roman" panose="02020603050405020304" pitchFamily="18" charset="0"/>
            </a:endParaRPr>
          </a:p>
          <a:p>
            <a:pPr marL="342900" indent="-342900" eaLnBrk="1" hangingPunct="1">
              <a:spcBef>
                <a:spcPts val="400"/>
              </a:spcBef>
              <a:spcAft>
                <a:spcPts val="400"/>
              </a:spcAft>
              <a:buFont typeface="Wingdings" panose="05000000000000000000" pitchFamily="2" charset="2"/>
              <a:buChar char="Ø"/>
            </a:pPr>
            <a:r>
              <a:rPr lang="ru-RU" altLang="ru-RU" dirty="0" smtClean="0">
                <a:latin typeface="Times New Roman" panose="02020603050405020304" pitchFamily="18" charset="0"/>
              </a:rPr>
              <a:t>прерывание </a:t>
            </a:r>
            <a:r>
              <a:rPr lang="ru-RU" altLang="ru-RU" dirty="0">
                <a:latin typeface="Times New Roman" panose="02020603050405020304" pitchFamily="18" charset="0"/>
              </a:rPr>
              <a:t>в нужных случаях прикладного процесса и его корректное возобновление;</a:t>
            </a:r>
            <a:endParaRPr lang="ru-RU" altLang="ru-RU" dirty="0">
              <a:latin typeface="Times New Roman" panose="02020603050405020304" pitchFamily="18" charset="0"/>
            </a:endParaRPr>
          </a:p>
          <a:p>
            <a:pPr marL="342900" indent="-342900" eaLnBrk="1" hangingPunct="1">
              <a:spcBef>
                <a:spcPts val="400"/>
              </a:spcBef>
              <a:spcAft>
                <a:spcPts val="400"/>
              </a:spcAft>
              <a:buFont typeface="Wingdings" panose="05000000000000000000" pitchFamily="2" charset="2"/>
              <a:buChar char="Ø"/>
            </a:pPr>
            <a:r>
              <a:rPr lang="ru-RU" altLang="ru-RU" dirty="0" smtClean="0">
                <a:latin typeface="Times New Roman" panose="02020603050405020304" pitchFamily="18" charset="0"/>
              </a:rPr>
              <a:t>прекращение </a:t>
            </a:r>
            <a:r>
              <a:rPr lang="ru-RU" altLang="ru-RU" dirty="0">
                <a:latin typeface="Times New Roman" panose="02020603050405020304" pitchFamily="18" charset="0"/>
              </a:rPr>
              <a:t>сеанса без потери данных;</a:t>
            </a:r>
            <a:endParaRPr lang="ru-RU" altLang="ru-RU" dirty="0">
              <a:latin typeface="Times New Roman" panose="02020603050405020304" pitchFamily="18" charset="0"/>
            </a:endParaRPr>
          </a:p>
          <a:p>
            <a:pPr marL="342900" indent="-342900" eaLnBrk="1" hangingPunct="1">
              <a:spcBef>
                <a:spcPts val="400"/>
              </a:spcBef>
              <a:spcAft>
                <a:spcPts val="400"/>
              </a:spcAft>
              <a:buFont typeface="Wingdings" panose="05000000000000000000" pitchFamily="2" charset="2"/>
              <a:buChar char="Ø"/>
            </a:pPr>
            <a:r>
              <a:rPr lang="ru-RU" altLang="ru-RU" dirty="0" smtClean="0">
                <a:latin typeface="Times New Roman" panose="02020603050405020304" pitchFamily="18" charset="0"/>
              </a:rPr>
              <a:t>передача </a:t>
            </a:r>
            <a:r>
              <a:rPr lang="ru-RU" altLang="ru-RU" dirty="0">
                <a:latin typeface="Times New Roman" panose="02020603050405020304" pitchFamily="18" charset="0"/>
              </a:rPr>
              <a:t>особых сообщений о ходе проведения сеанса.</a:t>
            </a:r>
            <a:endParaRPr lang="ru-RU" altLang="ru-RU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Заголовок 1"/>
          <p:cNvSpPr>
            <a:spLocks noGrp="1"/>
          </p:cNvSpPr>
          <p:nvPr>
            <p:ph type="title"/>
          </p:nvPr>
        </p:nvSpPr>
        <p:spPr>
          <a:xfrm>
            <a:off x="827584" y="260648"/>
            <a:ext cx="8229600" cy="1143000"/>
          </a:xfrm>
        </p:spPr>
        <p:txBody>
          <a:bodyPr/>
          <a:lstStyle/>
          <a:p>
            <a:pPr eaLnBrk="1" hangingPunct="1"/>
            <a:r>
              <a:rPr lang="ru-RU" altLang="ru-RU" sz="3600" dirty="0" smtClean="0"/>
              <a:t>Сеансовый уровень. Протоколы</a:t>
            </a:r>
            <a:endParaRPr lang="ru-RU" altLang="ru-RU" sz="3600" dirty="0" smtClean="0"/>
          </a:p>
        </p:txBody>
      </p:sp>
      <p:sp>
        <p:nvSpPr>
          <p:cNvPr id="10243" name="TextBox 2"/>
          <p:cNvSpPr txBox="1">
            <a:spLocks noChangeArrowheads="1"/>
          </p:cNvSpPr>
          <p:nvPr/>
        </p:nvSpPr>
        <p:spPr bwMode="auto">
          <a:xfrm>
            <a:off x="1043608" y="1143000"/>
            <a:ext cx="7416824" cy="30931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indent="450215" algn="just">
              <a:spcAft>
                <a:spcPts val="0"/>
              </a:spcAft>
            </a:pPr>
            <a:r>
              <a:rPr lang="ru-RU" sz="2000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Протоколы сеансового уровня обычно являются составной частью протоколов </a:t>
            </a:r>
            <a:r>
              <a:rPr lang="ru-RU" sz="2000" b="1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трех верхних уровней модели</a:t>
            </a:r>
            <a:r>
              <a:rPr lang="ru-RU" sz="2000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Но есть и отдельные протоколы, относящиеся прежде всего к сеансовому уровню:</a:t>
            </a:r>
            <a:endParaRPr lang="ru-RU" sz="2000" spc="-2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spcBef>
                <a:spcPts val="600"/>
              </a:spcBef>
              <a:spcAft>
                <a:spcPts val="600"/>
              </a:spcAft>
              <a:buFont typeface="Times New Roman" panose="02020603050405020304" pitchFamily="18" charset="0"/>
              <a:buChar char="−"/>
            </a:pPr>
            <a:r>
              <a:rPr lang="ru-RU" sz="2000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ADSP (</a:t>
            </a:r>
            <a:r>
              <a:rPr lang="ru-RU" sz="2000" spc="-2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AppleTalk</a:t>
            </a:r>
            <a:r>
              <a:rPr lang="ru-RU" sz="2000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000" spc="-2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Data</a:t>
            </a:r>
            <a:r>
              <a:rPr lang="ru-RU" sz="2000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000" spc="-2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Stream</a:t>
            </a:r>
            <a:r>
              <a:rPr lang="ru-RU" sz="2000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);</a:t>
            </a:r>
            <a:endParaRPr lang="ru-RU" sz="2000" spc="-2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spcBef>
                <a:spcPts val="600"/>
              </a:spcBef>
              <a:spcAft>
                <a:spcPts val="600"/>
              </a:spcAft>
              <a:buFont typeface="Times New Roman" panose="02020603050405020304" pitchFamily="18" charset="0"/>
              <a:buChar char="−"/>
            </a:pPr>
            <a:r>
              <a:rPr lang="ru-RU" sz="2000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ASP (</a:t>
            </a:r>
            <a:r>
              <a:rPr lang="ru-RU" sz="2000" spc="-2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AppleTalk</a:t>
            </a:r>
            <a:r>
              <a:rPr lang="ru-RU" sz="2000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000" spc="-2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Session</a:t>
            </a:r>
            <a:r>
              <a:rPr lang="ru-RU" sz="2000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);</a:t>
            </a:r>
            <a:endParaRPr lang="ru-RU" sz="2000" spc="-2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spcBef>
                <a:spcPts val="600"/>
              </a:spcBef>
              <a:spcAft>
                <a:spcPts val="600"/>
              </a:spcAft>
              <a:buFont typeface="Times New Roman" panose="02020603050405020304" pitchFamily="18" charset="0"/>
              <a:buChar char="−"/>
            </a:pPr>
            <a:r>
              <a:rPr lang="ru-RU" sz="2000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RPC (</a:t>
            </a:r>
            <a:r>
              <a:rPr lang="ru-RU" sz="2000" spc="-2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Remote</a:t>
            </a:r>
            <a:r>
              <a:rPr lang="ru-RU" sz="2000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000" spc="-2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Procedure</a:t>
            </a:r>
            <a:r>
              <a:rPr lang="ru-RU" sz="2000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000" spc="-2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Call</a:t>
            </a:r>
            <a:r>
              <a:rPr lang="ru-RU" sz="2000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);</a:t>
            </a:r>
            <a:endParaRPr lang="ru-RU" sz="2000" spc="-2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spcBef>
                <a:spcPts val="600"/>
              </a:spcBef>
              <a:spcAft>
                <a:spcPts val="600"/>
              </a:spcAft>
              <a:buFont typeface="Times New Roman" panose="02020603050405020304" pitchFamily="18" charset="0"/>
              <a:buChar char="−"/>
            </a:pPr>
            <a:r>
              <a:rPr lang="ru-RU" sz="2000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PAP (</a:t>
            </a:r>
            <a:r>
              <a:rPr lang="ru-RU" sz="2000" spc="-2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Password</a:t>
            </a:r>
            <a:r>
              <a:rPr lang="ru-RU" sz="2000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000" spc="-2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Authentication</a:t>
            </a:r>
            <a:r>
              <a:rPr lang="ru-RU" sz="2000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Protocol).</a:t>
            </a:r>
            <a:endParaRPr lang="ru-RU" sz="2000" spc="-2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Заголовок 1"/>
          <p:cNvSpPr>
            <a:spLocks noGrp="1"/>
          </p:cNvSpPr>
          <p:nvPr>
            <p:ph type="title"/>
          </p:nvPr>
        </p:nvSpPr>
        <p:spPr>
          <a:xfrm>
            <a:off x="1115616" y="332656"/>
            <a:ext cx="7200900" cy="1485900"/>
          </a:xfrm>
        </p:spPr>
        <p:txBody>
          <a:bodyPr/>
          <a:lstStyle/>
          <a:p>
            <a:pPr eaLnBrk="1" hangingPunct="1"/>
            <a:r>
              <a:rPr lang="ru-RU" altLang="ru-RU" sz="3600" dirty="0" smtClean="0"/>
              <a:t>Транспортный уровень. Аспекты </a:t>
            </a:r>
            <a:endParaRPr lang="ru-RU" altLang="ru-RU" sz="3600" dirty="0" smtClean="0"/>
          </a:p>
        </p:txBody>
      </p:sp>
      <p:sp>
        <p:nvSpPr>
          <p:cNvPr id="11267" name="TextBox 2"/>
          <p:cNvSpPr txBox="1">
            <a:spLocks noChangeArrowheads="1"/>
          </p:cNvSpPr>
          <p:nvPr/>
        </p:nvSpPr>
        <p:spPr bwMode="auto">
          <a:xfrm>
            <a:off x="1115616" y="1268760"/>
            <a:ext cx="7241431" cy="5386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indent="457200" algn="just">
              <a:spcBef>
                <a:spcPts val="600"/>
              </a:spcBef>
              <a:spcAft>
                <a:spcPts val="600"/>
              </a:spcAft>
            </a:pPr>
            <a:r>
              <a:rPr lang="ru-RU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1. Транспортный уровень предназначен для управления передачей пакетов через коммуникационную сеть. </a:t>
            </a:r>
            <a:endParaRPr lang="ru-RU" spc="-2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7200" algn="just">
              <a:spcBef>
                <a:spcPts val="600"/>
              </a:spcBef>
              <a:spcAft>
                <a:spcPts val="600"/>
              </a:spcAft>
            </a:pPr>
            <a:r>
              <a:rPr lang="ru-RU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2. На транспортном уровне сообщение (</a:t>
            </a:r>
            <a:r>
              <a:rPr lang="en-US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message</a:t>
            </a:r>
            <a:r>
              <a:rPr lang="ru-RU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), приходящее с вышележащих уровней, разбивается на блоки. Фактически это является началом формирования пакета.</a:t>
            </a:r>
            <a:endParaRPr lang="en-US" spc="-2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>
              <a:spcAft>
                <a:spcPts val="0"/>
              </a:spcAft>
            </a:pPr>
            <a:r>
              <a:rPr lang="en-US" spc="-2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3. </a:t>
            </a:r>
            <a:r>
              <a:rPr lang="ru-RU" spc="-2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На </a:t>
            </a:r>
            <a:r>
              <a:rPr lang="ru-RU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пути от отправителя к получателю пакеты могут быть искажены или утеряны</a:t>
            </a:r>
            <a:r>
              <a:rPr lang="ru-RU" spc="-2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ru-RU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Работа транспортного уровня заключается в том, чтобы обеспечить приложениям или верхним уровням модели (прикладному и сеансовому) </a:t>
            </a:r>
            <a:r>
              <a:rPr lang="ru-RU" b="1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передачу данных с той степенью надежности, которая им требуется</a:t>
            </a:r>
            <a:r>
              <a:rPr lang="ru-RU" spc="-2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endParaRPr lang="ru-RU" spc="-20" dirty="0" smtClean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7200" algn="just">
              <a:spcBef>
                <a:spcPts val="600"/>
              </a:spcBef>
              <a:spcAft>
                <a:spcPts val="600"/>
              </a:spcAft>
            </a:pPr>
            <a:r>
              <a:rPr lang="ru-RU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4. Модель OSI определяет </a:t>
            </a:r>
            <a:r>
              <a:rPr lang="ru-RU" b="1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пять классов сервиса</a:t>
            </a:r>
            <a:r>
              <a:rPr lang="ru-RU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предоставляемых транспортным уровнем. Эти виды сервиса отличаются качеством предоставляемых услуг: срочностью, возможностью восстановления прерванной связи, наличием средств мультиплексирования нескольких соединений между различными прикладными протоколами через общий транспортный протокол, а главное способностью к обнаружению и исправлению ошибок передачи, таких как искажение, потеря и дублирование пакетов. </a:t>
            </a:r>
            <a:endParaRPr lang="ru-RU" altLang="ru-RU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Заголовок 1"/>
          <p:cNvSpPr>
            <a:spLocks noGrp="1"/>
          </p:cNvSpPr>
          <p:nvPr>
            <p:ph type="title"/>
          </p:nvPr>
        </p:nvSpPr>
        <p:spPr>
          <a:xfrm>
            <a:off x="1115616" y="332656"/>
            <a:ext cx="7200900" cy="1485900"/>
          </a:xfrm>
        </p:spPr>
        <p:txBody>
          <a:bodyPr/>
          <a:lstStyle/>
          <a:p>
            <a:pPr eaLnBrk="1" hangingPunct="1"/>
            <a:r>
              <a:rPr lang="ru-RU" altLang="ru-RU" sz="3600" dirty="0" smtClean="0"/>
              <a:t>Транспортный уровень. Аспекты </a:t>
            </a:r>
            <a:endParaRPr lang="ru-RU" altLang="ru-RU" sz="3600" dirty="0" smtClean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/>
        </p:nvGraphicFramePr>
        <p:xfrm>
          <a:off x="1075085" y="1453426"/>
          <a:ext cx="7200800" cy="3345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95"/>
                <a:gridCol w="6336705"/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18000"/>
                        </a:lnSpc>
                      </a:pPr>
                      <a:r>
                        <a:rPr lang="ru-RU" sz="16600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!</a:t>
                      </a:r>
                      <a:endParaRPr lang="ru-RU" sz="16600" b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indent="450215" algn="just">
                        <a:spcAft>
                          <a:spcPts val="0"/>
                        </a:spcAft>
                      </a:pPr>
                      <a:r>
                        <a:rPr lang="ru-RU" sz="2000" b="0" spc="-2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Данный уровень </a:t>
                      </a:r>
                      <a:r>
                        <a:rPr lang="ru-RU" sz="2000" b="1" spc="-2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гарантирует доставку блоков информации адресатам </a:t>
                      </a:r>
                      <a:r>
                        <a:rPr lang="ru-RU" sz="2000" b="0" spc="-2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и управляет этой доставкой. </a:t>
                      </a:r>
                      <a:endParaRPr lang="ru-RU" sz="2000" b="0" spc="-2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indent="450215" algn="just">
                        <a:spcAft>
                          <a:spcPts val="0"/>
                        </a:spcAft>
                      </a:pPr>
                      <a:r>
                        <a:rPr lang="ru-RU" sz="2000" b="0" spc="-2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Фактически, главной задачей является </a:t>
                      </a:r>
                      <a:r>
                        <a:rPr lang="ru-RU" sz="2000" b="1" spc="-2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обеспечение эффективных, удобных и надежных форм передачи информации между системами</a:t>
                      </a:r>
                      <a:r>
                        <a:rPr lang="ru-RU" sz="2000" b="0" spc="-2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. </a:t>
                      </a:r>
                      <a:endParaRPr lang="ru-RU" sz="2000" b="0" spc="-2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indent="450215" algn="just">
                        <a:spcAft>
                          <a:spcPts val="0"/>
                        </a:spcAft>
                      </a:pPr>
                      <a:r>
                        <a:rPr lang="ru-RU" sz="2000" b="0" spc="-2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Когда в процессе обработки находится более одного пакета, транспортный уровень </a:t>
                      </a:r>
                      <a:r>
                        <a:rPr lang="ru-RU" sz="2000" b="1" spc="-2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контролирует очередность прохождения пакетов</a:t>
                      </a:r>
                      <a:r>
                        <a:rPr lang="ru-RU" sz="2000" b="0" spc="-2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. Если проходит дубликат принятого ранее сообщения, то данный уровень опознает это и игнорирует сообщение.</a:t>
                      </a:r>
                      <a:endParaRPr lang="ru-RU" sz="2000" b="0" spc="-2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endParaRPr lang="ru-RU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Заголовок 1"/>
          <p:cNvSpPr>
            <a:spLocks noGrp="1"/>
          </p:cNvSpPr>
          <p:nvPr>
            <p:ph type="title"/>
          </p:nvPr>
        </p:nvSpPr>
        <p:spPr>
          <a:xfrm>
            <a:off x="1028700" y="404664"/>
            <a:ext cx="7200900" cy="1485900"/>
          </a:xfrm>
        </p:spPr>
        <p:txBody>
          <a:bodyPr/>
          <a:lstStyle/>
          <a:p>
            <a:pPr eaLnBrk="1" hangingPunct="1"/>
            <a:r>
              <a:rPr lang="ru-RU" altLang="ru-RU" sz="3600" dirty="0" smtClean="0"/>
              <a:t>Транспортный уровень. Функции </a:t>
            </a:r>
            <a:endParaRPr lang="ru-RU" altLang="ru-RU" sz="3600" dirty="0" smtClean="0"/>
          </a:p>
        </p:txBody>
      </p:sp>
      <p:sp>
        <p:nvSpPr>
          <p:cNvPr id="11267" name="TextBox 2"/>
          <p:cNvSpPr txBox="1">
            <a:spLocks noChangeArrowheads="1"/>
          </p:cNvSpPr>
          <p:nvPr/>
        </p:nvSpPr>
        <p:spPr bwMode="auto">
          <a:xfrm>
            <a:off x="1028700" y="1714500"/>
            <a:ext cx="7472363" cy="48320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000" u="sng" dirty="0">
                <a:latin typeface="Times New Roman" panose="02020603050405020304" pitchFamily="18" charset="0"/>
              </a:rPr>
              <a:t>В функции транспортного уровня входят</a:t>
            </a:r>
            <a:r>
              <a:rPr lang="ru-RU" altLang="ru-RU" sz="2000" u="sng" dirty="0" smtClean="0">
                <a:latin typeface="Times New Roman" panose="02020603050405020304" pitchFamily="18" charset="0"/>
              </a:rPr>
              <a:t>:</a:t>
            </a:r>
            <a:endParaRPr lang="ru-RU" altLang="ru-RU" sz="2000" u="sng" dirty="0" smtClean="0">
              <a:latin typeface="Times New Roman" panose="02020603050405020304" pitchFamily="18" charset="0"/>
            </a:endParaRPr>
          </a:p>
          <a:p>
            <a:pPr eaLnBrk="1" hangingPunct="1"/>
            <a:endParaRPr lang="ru-RU" altLang="ru-RU" sz="2000" u="sng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ts val="600"/>
              </a:spcBef>
              <a:spcAft>
                <a:spcPts val="600"/>
              </a:spcAft>
            </a:pPr>
            <a:r>
              <a:rPr lang="ru-RU" altLang="ru-RU" dirty="0">
                <a:latin typeface="Times New Roman" panose="02020603050405020304" pitchFamily="18" charset="0"/>
              </a:rPr>
              <a:t>-       управление передачей по сети и обеспечение целостности </a:t>
            </a:r>
            <a:r>
              <a:rPr lang="ru-RU" altLang="ru-RU" dirty="0" smtClean="0">
                <a:latin typeface="Times New Roman" panose="02020603050405020304" pitchFamily="18" charset="0"/>
              </a:rPr>
              <a:t>данных</a:t>
            </a:r>
            <a:r>
              <a:rPr lang="ru-RU" altLang="ru-RU" dirty="0">
                <a:latin typeface="Times New Roman" panose="02020603050405020304" pitchFamily="18" charset="0"/>
              </a:rPr>
              <a:t>;</a:t>
            </a:r>
            <a:endParaRPr lang="ru-RU" altLang="ru-RU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ts val="600"/>
              </a:spcBef>
              <a:spcAft>
                <a:spcPts val="600"/>
              </a:spcAft>
            </a:pPr>
            <a:r>
              <a:rPr lang="ru-RU" altLang="ru-RU" dirty="0">
                <a:latin typeface="Times New Roman" panose="02020603050405020304" pitchFamily="18" charset="0"/>
              </a:rPr>
              <a:t>-       обнаружение ошибок, частичная их ликвидация (за счет использование избыточных кодов) и сообщение о неисправленных ошибках;</a:t>
            </a:r>
            <a:endParaRPr lang="ru-RU" altLang="ru-RU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ts val="600"/>
              </a:spcBef>
              <a:spcAft>
                <a:spcPts val="600"/>
              </a:spcAft>
            </a:pPr>
            <a:r>
              <a:rPr lang="ru-RU" altLang="ru-RU" dirty="0">
                <a:latin typeface="Times New Roman" panose="02020603050405020304" pitchFamily="18" charset="0"/>
              </a:rPr>
              <a:t>-       восстановление передачи после отказов и неисправностей;</a:t>
            </a:r>
            <a:endParaRPr lang="ru-RU" altLang="ru-RU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ts val="600"/>
              </a:spcBef>
              <a:spcAft>
                <a:spcPts val="600"/>
              </a:spcAft>
            </a:pPr>
            <a:r>
              <a:rPr lang="ru-RU" altLang="ru-RU" dirty="0">
                <a:latin typeface="Times New Roman" panose="02020603050405020304" pitchFamily="18" charset="0"/>
              </a:rPr>
              <a:t>-       укрупнение </a:t>
            </a:r>
            <a:r>
              <a:rPr lang="ru-RU" altLang="ru-RU" dirty="0" smtClean="0">
                <a:latin typeface="Times New Roman" panose="02020603050405020304" pitchFamily="18" charset="0"/>
              </a:rPr>
              <a:t>блоков </a:t>
            </a:r>
            <a:r>
              <a:rPr lang="ru-RU" altLang="ru-RU" dirty="0">
                <a:latin typeface="Times New Roman" panose="02020603050405020304" pitchFamily="18" charset="0"/>
              </a:rPr>
              <a:t>или разделение данных на </a:t>
            </a:r>
            <a:r>
              <a:rPr lang="ru-RU" altLang="ru-RU" dirty="0" smtClean="0">
                <a:latin typeface="Times New Roman" panose="02020603050405020304" pitchFamily="18" charset="0"/>
              </a:rPr>
              <a:t>блоки;</a:t>
            </a:r>
            <a:endParaRPr lang="ru-RU" altLang="ru-RU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ts val="600"/>
              </a:spcBef>
              <a:spcAft>
                <a:spcPts val="600"/>
              </a:spcAft>
            </a:pPr>
            <a:r>
              <a:rPr lang="ru-RU" altLang="ru-RU" dirty="0">
                <a:latin typeface="Times New Roman" panose="02020603050405020304" pitchFamily="18" charset="0"/>
              </a:rPr>
              <a:t>-       предоставление приоритетов при передаче </a:t>
            </a:r>
            <a:r>
              <a:rPr lang="ru-RU" altLang="ru-RU" dirty="0" smtClean="0">
                <a:latin typeface="Times New Roman" panose="02020603050405020304" pitchFamily="18" charset="0"/>
              </a:rPr>
              <a:t>(</a:t>
            </a:r>
            <a:r>
              <a:rPr lang="ru-RU" altLang="ru-RU" dirty="0">
                <a:latin typeface="Times New Roman" panose="02020603050405020304" pitchFamily="18" charset="0"/>
              </a:rPr>
              <a:t>нормальная или срочная);</a:t>
            </a:r>
            <a:endParaRPr lang="ru-RU" altLang="ru-RU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ts val="600"/>
              </a:spcBef>
              <a:spcAft>
                <a:spcPts val="600"/>
              </a:spcAft>
            </a:pPr>
            <a:r>
              <a:rPr lang="ru-RU" altLang="ru-RU" dirty="0">
                <a:latin typeface="Times New Roman" panose="02020603050405020304" pitchFamily="18" charset="0"/>
              </a:rPr>
              <a:t>-       подтверждение передачи;</a:t>
            </a:r>
            <a:endParaRPr lang="ru-RU" altLang="ru-RU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ts val="600"/>
              </a:spcBef>
              <a:spcAft>
                <a:spcPts val="600"/>
              </a:spcAft>
            </a:pPr>
            <a:r>
              <a:rPr lang="ru-RU" altLang="ru-RU" dirty="0">
                <a:latin typeface="Times New Roman" panose="02020603050405020304" pitchFamily="18" charset="0"/>
              </a:rPr>
              <a:t>-       ликвидация </a:t>
            </a:r>
            <a:r>
              <a:rPr lang="ru-RU" altLang="ru-RU" dirty="0" smtClean="0">
                <a:latin typeface="Times New Roman" panose="02020603050405020304" pitchFamily="18" charset="0"/>
              </a:rPr>
              <a:t>передаваемых структур при </a:t>
            </a:r>
            <a:r>
              <a:rPr lang="ru-RU" altLang="ru-RU" dirty="0">
                <a:latin typeface="Times New Roman" panose="02020603050405020304" pitchFamily="18" charset="0"/>
              </a:rPr>
              <a:t>тупиковых ситуациях в сети.</a:t>
            </a:r>
            <a:endParaRPr lang="ru-RU" altLang="ru-RU" dirty="0">
              <a:latin typeface="Times New Roman" panose="02020603050405020304" pitchFamily="18" charset="0"/>
            </a:endParaRPr>
          </a:p>
          <a:p>
            <a:pPr eaLnBrk="1" hangingPunct="1"/>
            <a:endParaRPr lang="ru-RU" altLang="ru-RU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Box 1"/>
          <p:cNvSpPr txBox="1">
            <a:spLocks noChangeArrowheads="1"/>
          </p:cNvSpPr>
          <p:nvPr/>
        </p:nvSpPr>
        <p:spPr bwMode="auto">
          <a:xfrm>
            <a:off x="1105458" y="2780928"/>
            <a:ext cx="7210957" cy="41549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ru-RU" altLang="ru-RU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ru-RU" altLang="ru-RU" dirty="0" smtClean="0">
                <a:latin typeface="Times New Roman" panose="02020603050405020304" pitchFamily="18" charset="0"/>
              </a:rPr>
              <a:t>Наиболее </a:t>
            </a:r>
            <a:r>
              <a:rPr lang="ru-RU" altLang="ru-RU" dirty="0">
                <a:latin typeface="Times New Roman" panose="02020603050405020304" pitchFamily="18" charset="0"/>
              </a:rPr>
              <a:t>распространенные протоколы транспортного уровня включают в себя:</a:t>
            </a:r>
            <a:endParaRPr lang="ru-RU" altLang="ru-RU" dirty="0">
              <a:latin typeface="Times New Roman" panose="02020603050405020304" pitchFamily="18" charset="0"/>
            </a:endParaRPr>
          </a:p>
          <a:p>
            <a:pPr marL="285750" indent="-285750" eaLnBrk="1" hangingPunct="1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altLang="ru-RU" dirty="0" smtClean="0">
                <a:latin typeface="Times New Roman" panose="02020603050405020304" pitchFamily="18" charset="0"/>
              </a:rPr>
              <a:t>TCP </a:t>
            </a:r>
            <a:r>
              <a:rPr lang="en-US" altLang="ru-RU" dirty="0">
                <a:latin typeface="Times New Roman" panose="02020603050405020304" pitchFamily="18" charset="0"/>
              </a:rPr>
              <a:t>(Transmission Control Protocol) </a:t>
            </a:r>
            <a:r>
              <a:rPr lang="ru-RU" altLang="ru-RU" dirty="0">
                <a:latin typeface="Times New Roman" panose="02020603050405020304" pitchFamily="18" charset="0"/>
              </a:rPr>
              <a:t>протокол управления передачей стека </a:t>
            </a:r>
            <a:r>
              <a:rPr lang="en-US" altLang="ru-RU" dirty="0">
                <a:latin typeface="Times New Roman" panose="02020603050405020304" pitchFamily="18" charset="0"/>
              </a:rPr>
              <a:t>TCP/IP;</a:t>
            </a:r>
            <a:endParaRPr lang="en-US" altLang="ru-RU" dirty="0">
              <a:latin typeface="Times New Roman" panose="02020603050405020304" pitchFamily="18" charset="0"/>
            </a:endParaRPr>
          </a:p>
          <a:p>
            <a:pPr marL="285750" indent="-285750" algn="just" eaLnBrk="1" hangingPunct="1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altLang="ru-RU" dirty="0" smtClean="0">
                <a:latin typeface="Times New Roman" panose="02020603050405020304" pitchFamily="18" charset="0"/>
              </a:rPr>
              <a:t>UDP </a:t>
            </a:r>
            <a:r>
              <a:rPr lang="en-US" altLang="ru-RU" dirty="0">
                <a:latin typeface="Times New Roman" panose="02020603050405020304" pitchFamily="18" charset="0"/>
              </a:rPr>
              <a:t>(User Datagram Protocol) </a:t>
            </a:r>
            <a:r>
              <a:rPr lang="ru-RU" altLang="ru-RU" dirty="0">
                <a:latin typeface="Times New Roman" panose="02020603050405020304" pitchFamily="18" charset="0"/>
              </a:rPr>
              <a:t>пользовательский протокол дейтаграмм стека </a:t>
            </a:r>
            <a:r>
              <a:rPr lang="en-US" altLang="ru-RU" dirty="0">
                <a:latin typeface="Times New Roman" panose="02020603050405020304" pitchFamily="18" charset="0"/>
              </a:rPr>
              <a:t>TCP/IP;</a:t>
            </a:r>
            <a:endParaRPr lang="en-US" altLang="ru-RU" dirty="0">
              <a:latin typeface="Times New Roman" panose="02020603050405020304" pitchFamily="18" charset="0"/>
            </a:endParaRPr>
          </a:p>
          <a:p>
            <a:pPr marL="285750" indent="-285750" eaLnBrk="1" hangingPunct="1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altLang="ru-RU" dirty="0" smtClean="0">
                <a:latin typeface="Times New Roman" panose="02020603050405020304" pitchFamily="18" charset="0"/>
              </a:rPr>
              <a:t>NCP </a:t>
            </a:r>
            <a:r>
              <a:rPr lang="en-US" altLang="ru-RU" dirty="0">
                <a:latin typeface="Times New Roman" panose="02020603050405020304" pitchFamily="18" charset="0"/>
              </a:rPr>
              <a:t>(NetWare Core Protocol) </a:t>
            </a:r>
            <a:r>
              <a:rPr lang="ru-RU" altLang="ru-RU" dirty="0">
                <a:latin typeface="Times New Roman" panose="02020603050405020304" pitchFamily="18" charset="0"/>
              </a:rPr>
              <a:t>базовый протокол сетей </a:t>
            </a:r>
            <a:r>
              <a:rPr lang="en-US" altLang="ru-RU" dirty="0">
                <a:latin typeface="Times New Roman" panose="02020603050405020304" pitchFamily="18" charset="0"/>
              </a:rPr>
              <a:t>NetWare;</a:t>
            </a:r>
            <a:endParaRPr lang="en-US" altLang="ru-RU" dirty="0">
              <a:latin typeface="Times New Roman" panose="02020603050405020304" pitchFamily="18" charset="0"/>
            </a:endParaRPr>
          </a:p>
          <a:p>
            <a:pPr marL="285750" indent="-285750" eaLnBrk="1" hangingPunct="1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altLang="ru-RU" dirty="0" smtClean="0">
                <a:latin typeface="Times New Roman" panose="02020603050405020304" pitchFamily="18" charset="0"/>
              </a:rPr>
              <a:t>SPX </a:t>
            </a:r>
            <a:r>
              <a:rPr lang="en-US" altLang="ru-RU" dirty="0">
                <a:latin typeface="Times New Roman" panose="02020603050405020304" pitchFamily="18" charset="0"/>
              </a:rPr>
              <a:t>(Sequenced Packet </a:t>
            </a:r>
            <a:r>
              <a:rPr lang="en-US" altLang="ru-RU" dirty="0" err="1">
                <a:latin typeface="Times New Roman" panose="02020603050405020304" pitchFamily="18" charset="0"/>
              </a:rPr>
              <a:t>eXchange</a:t>
            </a:r>
            <a:r>
              <a:rPr lang="en-US" altLang="ru-RU" dirty="0">
                <a:latin typeface="Times New Roman" panose="02020603050405020304" pitchFamily="18" charset="0"/>
              </a:rPr>
              <a:t>) </a:t>
            </a:r>
            <a:r>
              <a:rPr lang="ru-RU" altLang="ru-RU" dirty="0">
                <a:latin typeface="Times New Roman" panose="02020603050405020304" pitchFamily="18" charset="0"/>
              </a:rPr>
              <a:t>упорядоченный обмен пакетами стека </a:t>
            </a:r>
            <a:r>
              <a:rPr lang="en-US" altLang="ru-RU" dirty="0">
                <a:latin typeface="Times New Roman" panose="02020603050405020304" pitchFamily="18" charset="0"/>
              </a:rPr>
              <a:t>Novell</a:t>
            </a:r>
            <a:r>
              <a:rPr lang="en-US" altLang="ru-RU" dirty="0" smtClean="0">
                <a:latin typeface="Times New Roman" panose="02020603050405020304" pitchFamily="18" charset="0"/>
              </a:rPr>
              <a:t>;</a:t>
            </a:r>
            <a:endParaRPr lang="ru-RU" altLang="ru-RU" dirty="0" smtClean="0">
              <a:latin typeface="Times New Roman" panose="02020603050405020304" pitchFamily="18" charset="0"/>
            </a:endParaRPr>
          </a:p>
          <a:p>
            <a:pPr marL="285750" lvl="0" indent="-285750" eaLnBrk="1" hangingPunct="1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</a:rPr>
              <a:t>SCTP (Stream Control Transmission Protocol);</a:t>
            </a:r>
            <a:endParaRPr lang="ru-RU" dirty="0">
              <a:latin typeface="Times New Roman" panose="02020603050405020304" pitchFamily="18" charset="0"/>
            </a:endParaRPr>
          </a:p>
          <a:p>
            <a:pPr marL="285750" indent="-285750" eaLnBrk="1" hangingPunct="1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en-US" altLang="ru-RU" dirty="0" smtClean="0">
                <a:latin typeface="Times New Roman" panose="02020603050405020304" pitchFamily="18" charset="0"/>
              </a:rPr>
              <a:t>TP4 </a:t>
            </a:r>
            <a:r>
              <a:rPr lang="en-US" altLang="ru-RU" dirty="0">
                <a:latin typeface="Times New Roman" panose="02020603050405020304" pitchFamily="18" charset="0"/>
              </a:rPr>
              <a:t>(Transmission Protocol) – </a:t>
            </a:r>
            <a:r>
              <a:rPr lang="ru-RU" altLang="ru-RU" dirty="0">
                <a:latin typeface="Times New Roman" panose="02020603050405020304" pitchFamily="18" charset="0"/>
              </a:rPr>
              <a:t>протокол передачи класса 4.</a:t>
            </a:r>
            <a:endParaRPr lang="ru-RU" altLang="ru-RU" dirty="0">
              <a:latin typeface="Times New Roman" panose="02020603050405020304" pitchFamily="18" charset="0"/>
            </a:endParaRPr>
          </a:p>
          <a:p>
            <a:pPr eaLnBrk="1" hangingPunct="1"/>
            <a:endParaRPr lang="ru-RU" altLang="ru-RU" dirty="0">
              <a:latin typeface="Times New Roman" panose="02020603050405020304" pitchFamily="18" charset="0"/>
            </a:endParaRP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1115616" y="1484789"/>
          <a:ext cx="7200800" cy="158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95"/>
                <a:gridCol w="6336705"/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10000"/>
                        </a:lnSpc>
                      </a:pPr>
                      <a:r>
                        <a:rPr lang="ru-RU" sz="9600" b="0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!</a:t>
                      </a:r>
                      <a:endParaRPr lang="ru-RU" sz="9600" b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457200" algn="just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ru-RU" altLang="ru-RU" sz="2000" b="0" u="none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Начиная с транспортного уровня, все вышележащие протоколы реализуются программными средствами, обычно включаемыми в состав сетевой операционной системы.</a:t>
                      </a:r>
                      <a:endParaRPr lang="ru-RU" altLang="ru-RU" sz="2000" b="0" u="none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  <a:p>
                      <a:endParaRPr lang="ru-RU" sz="1800" b="0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4" name="Заголовок 1"/>
          <p:cNvSpPr txBox="1"/>
          <p:nvPr/>
        </p:nvSpPr>
        <p:spPr>
          <a:xfrm>
            <a:off x="1043305" y="44450"/>
            <a:ext cx="7200900" cy="755650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ru-RU" altLang="ru-RU" sz="3600" dirty="0" smtClean="0"/>
              <a:t>Транспортный уровень. Протоколы </a:t>
            </a:r>
            <a:endParaRPr lang="ru-RU" altLang="ru-RU" sz="36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Заголовок 1"/>
          <p:cNvSpPr>
            <a:spLocks noGrp="1"/>
          </p:cNvSpPr>
          <p:nvPr>
            <p:ph type="title"/>
          </p:nvPr>
        </p:nvSpPr>
        <p:spPr>
          <a:xfrm>
            <a:off x="1115492" y="44159"/>
            <a:ext cx="8229600" cy="1143000"/>
          </a:xfrm>
        </p:spPr>
        <p:txBody>
          <a:bodyPr/>
          <a:lstStyle/>
          <a:p>
            <a:pPr eaLnBrk="1" hangingPunct="1"/>
            <a:r>
              <a:rPr lang="ru-RU" altLang="ru-RU" sz="3600" b="1" dirty="0" smtClean="0"/>
              <a:t>Сетевой уровень. Аспекты</a:t>
            </a:r>
            <a:endParaRPr lang="ru-RU" altLang="ru-RU" sz="3600" dirty="0" smtClean="0"/>
          </a:p>
        </p:txBody>
      </p:sp>
      <p:sp>
        <p:nvSpPr>
          <p:cNvPr id="13315" name="Text Box 4"/>
          <p:cNvSpPr txBox="1">
            <a:spLocks noChangeArrowheads="1"/>
          </p:cNvSpPr>
          <p:nvPr/>
        </p:nvSpPr>
        <p:spPr bwMode="auto">
          <a:xfrm>
            <a:off x="827584" y="979468"/>
            <a:ext cx="7992888" cy="58785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indent="450215" algn="just">
              <a:spcAft>
                <a:spcPts val="0"/>
              </a:spcAft>
            </a:pPr>
            <a:r>
              <a:rPr lang="ru-RU" sz="1700" spc="-2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1. </a:t>
            </a:r>
            <a:r>
              <a:rPr lang="ru-RU" sz="1700" u="sng" spc="-2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Сетевой </a:t>
            </a:r>
            <a:r>
              <a:rPr lang="ru-RU" sz="1700" u="sng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уровень</a:t>
            </a:r>
            <a:r>
              <a:rPr lang="ru-RU" sz="1700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обеспечивает прокладку виртуальных каналов, соединяющих абонентские и административные системы через коммуникационную сеть, выбор маршрута наиболее быстрого и надежного </a:t>
            </a:r>
            <a:r>
              <a:rPr lang="ru-RU" sz="1700" spc="-2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пути передачи данных.</a:t>
            </a:r>
            <a:endParaRPr lang="ru-RU" sz="1700" spc="-20" dirty="0" smtClean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>
              <a:spcAft>
                <a:spcPts val="0"/>
              </a:spcAft>
            </a:pPr>
            <a:endParaRPr lang="ru-RU" sz="1700" spc="-2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>
              <a:spcAft>
                <a:spcPts val="0"/>
              </a:spcAft>
            </a:pPr>
            <a:r>
              <a:rPr lang="ru-RU" sz="1700" spc="-2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2. </a:t>
            </a:r>
            <a:r>
              <a:rPr lang="ru-RU" sz="1700" i="1" spc="-2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Виртуальный </a:t>
            </a:r>
            <a:r>
              <a:rPr lang="ru-RU" sz="1700" i="1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или логический канал</a:t>
            </a:r>
            <a:r>
              <a:rPr lang="ru-RU" sz="1700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− это такое функционирование компонентов сети, которое создает взаимодействующим компонентам иллюзию прокладки между ними нужного тракта. </a:t>
            </a:r>
            <a:endParaRPr lang="en-US" sz="1700" spc="-2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>
              <a:spcAft>
                <a:spcPts val="0"/>
              </a:spcAft>
            </a:pPr>
            <a:endParaRPr lang="ru-RU" sz="1700" spc="-20" dirty="0" smtClean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>
              <a:spcAft>
                <a:spcPts val="0"/>
              </a:spcAft>
            </a:pPr>
            <a:r>
              <a:rPr lang="ru-RU" sz="1700" spc="-2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3. </a:t>
            </a:r>
            <a:r>
              <a:rPr lang="ru-RU" sz="1700" spc="-20" dirty="0" smtClean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Прокладка </a:t>
            </a:r>
            <a:r>
              <a:rPr lang="ru-RU" sz="1700" spc="-2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наилучшего пути для передачи данных называется </a:t>
            </a:r>
            <a:r>
              <a:rPr lang="ru-RU" sz="1700" i="1" spc="-2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маршрутизацией</a:t>
            </a:r>
            <a:r>
              <a:rPr lang="ru-RU" sz="1700" spc="-20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, и ее решение является главной задачей сетевого уровня. </a:t>
            </a:r>
            <a:r>
              <a:rPr lang="ru-RU" sz="1700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Эта проблема осложняется тем, что самый короткий путь не всегда самый лучший. Часто критерием при выборе маршрута является время передачи </a:t>
            </a:r>
            <a:r>
              <a:rPr lang="ru-RU" sz="1700" spc="-2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данных.</a:t>
            </a:r>
            <a:endParaRPr lang="ru-RU" sz="1700" spc="-20" dirty="0" smtClean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>
              <a:spcAft>
                <a:spcPts val="0"/>
              </a:spcAft>
            </a:pPr>
            <a:endParaRPr lang="ru-RU" sz="1700" spc="-2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>
              <a:spcAft>
                <a:spcPts val="0"/>
              </a:spcAft>
            </a:pPr>
            <a:r>
              <a:rPr lang="ru-RU" sz="1700" spc="-2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4. Время передачи, как главный критерий выбора маршрута, </a:t>
            </a:r>
            <a:r>
              <a:rPr lang="ru-RU" sz="1700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зависит от пропускной способности каналов связи и интенсивности трафика, которая может изменяться с течением времени. Некоторые алгоритмы маршрутизации пытаются приспособиться к изменению нагрузки, в то время как другие принимают решения на основе средних показателей за длительное время. Выбор маршрута может осуществляться и по другим критериям, например, надежности передачи</a:t>
            </a:r>
            <a:r>
              <a:rPr lang="ru-RU" sz="1700" spc="-2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700" spc="-20" dirty="0" smtClean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>
              <a:spcAft>
                <a:spcPts val="0"/>
              </a:spcAft>
            </a:pPr>
            <a:endParaRPr lang="ru-RU" sz="1700" spc="-2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>
              <a:spcAft>
                <a:spcPts val="0"/>
              </a:spcAft>
            </a:pPr>
            <a:r>
              <a:rPr lang="ru-RU" spc="-2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5. Сетевой </a:t>
            </a:r>
            <a:r>
              <a:rPr lang="ru-RU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уровень сообщает транспортному уровню о появляющихся ошибках, связанных с адресацией и маршрутизацией</a:t>
            </a:r>
            <a:r>
              <a:rPr lang="ru-RU" spc="-2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sz="1700" spc="-2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Заголовок 1"/>
          <p:cNvSpPr>
            <a:spLocks noGrp="1"/>
          </p:cNvSpPr>
          <p:nvPr>
            <p:ph type="title"/>
          </p:nvPr>
        </p:nvSpPr>
        <p:spPr>
          <a:xfrm>
            <a:off x="1153592" y="221959"/>
            <a:ext cx="8229600" cy="1143000"/>
          </a:xfrm>
        </p:spPr>
        <p:txBody>
          <a:bodyPr/>
          <a:lstStyle/>
          <a:p>
            <a:pPr eaLnBrk="1" hangingPunct="1"/>
            <a:r>
              <a:rPr lang="ru-RU" altLang="ru-RU" sz="3600" b="1" dirty="0" smtClean="0"/>
              <a:t>Сетевой уровень. Аспекты</a:t>
            </a:r>
            <a:endParaRPr lang="ru-RU" altLang="ru-RU" sz="3600" dirty="0" smtClean="0"/>
          </a:p>
        </p:txBody>
      </p:sp>
      <p:sp>
        <p:nvSpPr>
          <p:cNvPr id="2" name="Прямоугольник 1"/>
          <p:cNvSpPr/>
          <p:nvPr/>
        </p:nvSpPr>
        <p:spPr>
          <a:xfrm>
            <a:off x="971600" y="1268760"/>
            <a:ext cx="7632848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 eaLnBrk="1" hangingPunct="1">
              <a:spcBef>
                <a:spcPct val="50000"/>
              </a:spcBef>
            </a:pPr>
            <a:r>
              <a:rPr lang="ru-RU" altLang="ru-RU" sz="2000" dirty="0" smtClean="0">
                <a:latin typeface="Times New Roman" panose="02020603050405020304" pitchFamily="18" charset="0"/>
              </a:rPr>
              <a:t>6. </a:t>
            </a:r>
            <a:r>
              <a:rPr lang="ru-RU" altLang="ru-RU" sz="2000" b="1" dirty="0" smtClean="0">
                <a:latin typeface="Times New Roman" panose="02020603050405020304" pitchFamily="18" charset="0"/>
              </a:rPr>
              <a:t>Сообщения</a:t>
            </a:r>
            <a:r>
              <a:rPr lang="ru-RU" altLang="ru-RU" sz="2000" dirty="0" smtClean="0">
                <a:latin typeface="Times New Roman" panose="02020603050405020304" pitchFamily="18" charset="0"/>
              </a:rPr>
              <a:t> </a:t>
            </a:r>
            <a:r>
              <a:rPr lang="ru-RU" altLang="ru-RU" sz="2000" dirty="0">
                <a:latin typeface="Times New Roman" panose="02020603050405020304" pitchFamily="18" charset="0"/>
              </a:rPr>
              <a:t>на сетевом уровне принято называть </a:t>
            </a:r>
            <a:r>
              <a:rPr lang="ru-RU" altLang="ru-RU" sz="2000" b="1" i="1" u="sng" dirty="0">
                <a:latin typeface="Times New Roman" panose="02020603050405020304" pitchFamily="18" charset="0"/>
              </a:rPr>
              <a:t>пакетами</a:t>
            </a:r>
            <a:r>
              <a:rPr lang="ru-RU" altLang="ru-RU" sz="2000" b="1" u="sng" dirty="0">
                <a:latin typeface="Times New Roman" panose="02020603050405020304" pitchFamily="18" charset="0"/>
              </a:rPr>
              <a:t> (</a:t>
            </a:r>
            <a:r>
              <a:rPr lang="en-US" altLang="ru-RU" sz="2000" b="1" u="sng" dirty="0">
                <a:latin typeface="Times New Roman" panose="02020603050405020304" pitchFamily="18" charset="0"/>
              </a:rPr>
              <a:t>packet</a:t>
            </a:r>
            <a:r>
              <a:rPr lang="ru-RU" altLang="ru-RU" sz="2000" b="1" u="sng" dirty="0" smtClean="0">
                <a:latin typeface="Times New Roman" panose="02020603050405020304" pitchFamily="18" charset="0"/>
              </a:rPr>
              <a:t>)</a:t>
            </a:r>
            <a:r>
              <a:rPr lang="ru-RU" altLang="ru-RU" sz="2000" dirty="0" smtClean="0">
                <a:latin typeface="Times New Roman" panose="02020603050405020304" pitchFamily="18" charset="0"/>
              </a:rPr>
              <a:t>. </a:t>
            </a:r>
            <a:r>
              <a:rPr lang="ru-RU" sz="2000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В них помещаются </a:t>
            </a:r>
            <a:r>
              <a:rPr lang="ru-RU" sz="2000" spc="-2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фрагменты (блоки) </a:t>
            </a:r>
            <a:r>
              <a:rPr lang="ru-RU" sz="2000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данных. Сетевой уровень отвечает за их адресацию и маршрутизацию</a:t>
            </a:r>
            <a:r>
              <a:rPr lang="ru-RU" sz="2000" spc="-2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2000" spc="-20" dirty="0" smtClean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 eaLnBrk="1" hangingPunct="1">
              <a:spcBef>
                <a:spcPct val="50000"/>
              </a:spcBef>
            </a:pPr>
            <a:endParaRPr lang="ru-RU" altLang="ru-RU" sz="2000" u="sng" spc="-20" dirty="0">
              <a:latin typeface="Times New Roman" panose="02020603050405020304" pitchFamily="18" charset="0"/>
            </a:endParaRPr>
          </a:p>
          <a:p>
            <a:pPr indent="450215" algn="just">
              <a:spcAft>
                <a:spcPts val="0"/>
              </a:spcAft>
            </a:pPr>
            <a:r>
              <a:rPr lang="ru-RU" sz="2000" spc="-2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7. Для </a:t>
            </a:r>
            <a:r>
              <a:rPr lang="ru-RU" sz="2000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регулирования доставки данных </a:t>
            </a:r>
            <a:r>
              <a:rPr lang="ru-RU" sz="2000" u="sng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внутри сети</a:t>
            </a:r>
            <a:r>
              <a:rPr lang="ru-RU" sz="2000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достаточно </a:t>
            </a:r>
            <a:r>
              <a:rPr lang="ru-RU" sz="2000" u="sng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канального уровня</a:t>
            </a:r>
            <a:r>
              <a:rPr lang="ru-RU" sz="2000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и его протоколов (передавать данные можно по физическому (</a:t>
            </a:r>
            <a:r>
              <a:rPr lang="en-US" sz="2000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MAC</a:t>
            </a:r>
            <a:r>
              <a:rPr lang="ru-RU" sz="2000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) адресу), а вот доставкой данных </a:t>
            </a:r>
            <a:r>
              <a:rPr lang="ru-RU" sz="2000" u="sng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между сетями занимается именно сетевой уровень</a:t>
            </a:r>
            <a:r>
              <a:rPr lang="ru-RU" sz="2000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т.к. данный процесс требует определение оптимального маршрута передачи – при этом используется именно сетевой, а не физический, адрес, который состоит из </a:t>
            </a:r>
            <a:r>
              <a:rPr lang="ru-RU" sz="2000" i="1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номера сети</a:t>
            </a:r>
            <a:r>
              <a:rPr lang="ru-RU" sz="2000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и </a:t>
            </a:r>
            <a:r>
              <a:rPr lang="ru-RU" sz="2000" i="1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номера компьютера</a:t>
            </a:r>
            <a:r>
              <a:rPr lang="ru-RU" sz="2000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в этой сети</a:t>
            </a:r>
            <a:r>
              <a:rPr lang="ru-RU" sz="2000" spc="-2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ru-RU" sz="2000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Соответственно сетевой уровень должен уметь выполнять преобразования MAC-адресов в сетевые адреса и обратно</a:t>
            </a:r>
            <a:r>
              <a:rPr lang="ru-RU" sz="2000" spc="-2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sz="2000" spc="-2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Заголовок 1"/>
          <p:cNvSpPr>
            <a:spLocks noGrp="1"/>
          </p:cNvSpPr>
          <p:nvPr>
            <p:ph type="title"/>
          </p:nvPr>
        </p:nvSpPr>
        <p:spPr>
          <a:xfrm>
            <a:off x="1153592" y="221959"/>
            <a:ext cx="8229600" cy="1143000"/>
          </a:xfrm>
        </p:spPr>
        <p:txBody>
          <a:bodyPr/>
          <a:lstStyle/>
          <a:p>
            <a:pPr eaLnBrk="1" hangingPunct="1"/>
            <a:r>
              <a:rPr lang="ru-RU" altLang="ru-RU" sz="3600" b="1" dirty="0" smtClean="0"/>
              <a:t>Сетевой уровень. Аспекты</a:t>
            </a:r>
            <a:endParaRPr lang="ru-RU" altLang="ru-RU" sz="3600" dirty="0" smtClean="0"/>
          </a:p>
        </p:txBody>
      </p:sp>
      <p:sp>
        <p:nvSpPr>
          <p:cNvPr id="2" name="Прямоугольник 1"/>
          <p:cNvSpPr/>
          <p:nvPr/>
        </p:nvSpPr>
        <p:spPr>
          <a:xfrm>
            <a:off x="971600" y="1268760"/>
            <a:ext cx="7632848" cy="49705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457200" algn="just">
              <a:spcBef>
                <a:spcPct val="50000"/>
              </a:spcBef>
            </a:pPr>
            <a:r>
              <a:rPr lang="ru-RU" altLang="ru-RU" sz="2000" dirty="0" smtClean="0">
                <a:latin typeface="Times New Roman" panose="02020603050405020304" pitchFamily="18" charset="0"/>
              </a:rPr>
              <a:t>8. </a:t>
            </a:r>
            <a:r>
              <a:rPr lang="ru-RU" sz="2000" spc="-20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На практике сети соединяются между собой специальными устройствами, называемыми маршрутизаторами. </a:t>
            </a:r>
            <a:r>
              <a:rPr lang="ru-RU" sz="2000" i="1" spc="-20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Маршрутизатор –</a:t>
            </a:r>
            <a:r>
              <a:rPr lang="ru-RU" sz="2000" spc="-20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это устройство, которое собирает информацию о топологии межсетевых соединений и на ее основании пересылает пакеты сетевого уровня в сеть назначения. Для того чтобы передать сообщение от отправителя, находящегося в одной сети, получателю, находящемуся в другой сети, нужно совершить некоторое количество </a:t>
            </a:r>
            <a:r>
              <a:rPr lang="ru-RU" sz="2000" b="1" spc="-20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транзитных передач (</a:t>
            </a:r>
            <a:r>
              <a:rPr lang="en-US" sz="2000" b="1" spc="-20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hops</a:t>
            </a:r>
            <a:r>
              <a:rPr lang="ru-RU" sz="2000" b="1" spc="-20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) между </a:t>
            </a:r>
            <a:r>
              <a:rPr lang="ru-RU" sz="2000" b="1" spc="-20" dirty="0" smtClean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сетями</a:t>
            </a:r>
            <a:r>
              <a:rPr lang="ru-RU" sz="2000" spc="-20" dirty="0" smtClean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2000" spc="-20" dirty="0" smtClean="0">
              <a:solidFill>
                <a:prstClr val="black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0" indent="457200" algn="just">
              <a:spcBef>
                <a:spcPct val="50000"/>
              </a:spcBef>
            </a:pPr>
            <a:endParaRPr lang="ru-RU" altLang="ru-RU" sz="1600" u="sng" spc="-20" dirty="0">
              <a:solidFill>
                <a:prstClr val="black"/>
              </a:solidFill>
              <a:latin typeface="Times New Roman" panose="02020603050405020304" pitchFamily="18" charset="0"/>
            </a:endParaRPr>
          </a:p>
          <a:p>
            <a:pPr indent="450215" algn="just">
              <a:spcAft>
                <a:spcPts val="0"/>
              </a:spcAft>
            </a:pPr>
            <a:r>
              <a:rPr lang="ru-RU" sz="2000" spc="-2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9. Сетевой </a:t>
            </a:r>
            <a:r>
              <a:rPr lang="ru-RU" sz="2000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уровень также отвечает за деление пользователей на группы</a:t>
            </a:r>
            <a:r>
              <a:rPr lang="ru-RU" sz="2000" spc="-2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2000" spc="-20" dirty="0" smtClean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>
              <a:spcAft>
                <a:spcPts val="0"/>
              </a:spcAft>
            </a:pPr>
            <a:endParaRPr lang="ru-RU" sz="2000" spc="-2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>
              <a:spcAft>
                <a:spcPts val="0"/>
              </a:spcAft>
            </a:pPr>
            <a:r>
              <a:rPr lang="ru-RU" sz="2000" spc="-2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10. </a:t>
            </a:r>
            <a:r>
              <a:rPr lang="ru-RU" sz="2000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Сетевой уровень обеспечивает также прозрачную передачу пакетов на транспортный уровень. </a:t>
            </a:r>
            <a:endParaRPr lang="en-US" sz="2000" spc="-2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0" indent="457200" algn="just">
              <a:spcBef>
                <a:spcPct val="50000"/>
              </a:spcBef>
            </a:pPr>
            <a:endParaRPr lang="ru-RU" altLang="ru-RU" u="sng" dirty="0">
              <a:solidFill>
                <a:prstClr val="black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4"/>
          <p:cNvSpPr txBox="1">
            <a:spLocks noChangeArrowheads="1"/>
          </p:cNvSpPr>
          <p:nvPr/>
        </p:nvSpPr>
        <p:spPr bwMode="auto">
          <a:xfrm>
            <a:off x="1008062" y="1412776"/>
            <a:ext cx="7308354" cy="48320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Aft>
                <a:spcPts val="1200"/>
              </a:spcAft>
            </a:pPr>
            <a:r>
              <a:rPr lang="ru-RU" altLang="ru-RU" sz="2000" u="sng" dirty="0">
                <a:latin typeface="Times New Roman" panose="02020603050405020304" pitchFamily="18" charset="0"/>
              </a:rPr>
              <a:t>Сетевой уровень выполняет функции:</a:t>
            </a:r>
            <a:endParaRPr lang="ru-RU" altLang="ru-RU" sz="2000" u="sng" dirty="0">
              <a:latin typeface="Times New Roman" panose="02020603050405020304" pitchFamily="18" charset="0"/>
            </a:endParaRPr>
          </a:p>
          <a:p>
            <a:pPr lvl="1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  <a:tabLst>
                <a:tab pos="228600" algn="l"/>
              </a:tabLst>
            </a:pPr>
            <a:r>
              <a:rPr lang="ru-RU" altLang="ru-RU" sz="2000" dirty="0">
                <a:latin typeface="Times New Roman" panose="02020603050405020304" pitchFamily="18" charset="0"/>
              </a:rPr>
              <a:t> </a:t>
            </a:r>
            <a:r>
              <a:rPr lang="ru-RU" sz="2000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Создание сетевых соединений и идентификация их портов.</a:t>
            </a:r>
            <a:endParaRPr lang="en-US" sz="2000" spc="-2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1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  <a:tabLst>
                <a:tab pos="228600" algn="l"/>
              </a:tabLst>
            </a:pPr>
            <a:r>
              <a:rPr lang="ru-RU" sz="2000" spc="-3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Обнаружение и исправление ошибок (связанных с адресацией и маршрутизацией), возникающих при передаче через коммуникационную сеть.</a:t>
            </a:r>
            <a:endParaRPr lang="en-US" sz="2000" spc="-2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1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  <a:tabLst>
                <a:tab pos="228600" algn="l"/>
              </a:tabLst>
            </a:pPr>
            <a:r>
              <a:rPr lang="ru-RU" sz="2000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Управление потоками пакетов.</a:t>
            </a:r>
            <a:endParaRPr lang="en-US" sz="2000" spc="-2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1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  <a:tabLst>
                <a:tab pos="228600" algn="l"/>
              </a:tabLst>
            </a:pPr>
            <a:r>
              <a:rPr lang="ru-RU" sz="2000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Организация (упорядочение) последовательностей пакетов.</a:t>
            </a:r>
            <a:endParaRPr lang="en-US" sz="2000" spc="-2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1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  <a:tabLst>
                <a:tab pos="228600" algn="l"/>
              </a:tabLst>
            </a:pPr>
            <a:r>
              <a:rPr lang="ru-RU" sz="2000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Маршрутизация и коммутация.</a:t>
            </a:r>
            <a:endParaRPr lang="en-US" sz="2000" spc="-2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1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  <a:tabLst>
                <a:tab pos="228600" algn="l"/>
              </a:tabLst>
            </a:pPr>
            <a:r>
              <a:rPr lang="ru-RU" sz="2000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Сегментирование и объединение пакетов.</a:t>
            </a:r>
            <a:endParaRPr lang="en-US" sz="2000" spc="-2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1" eaLnBrk="1" hangingPunct="1"/>
            <a:endParaRPr lang="ru-RU" altLang="ru-RU" dirty="0">
              <a:latin typeface="Times New Roman" panose="02020603050405020304" pitchFamily="18" charset="0"/>
            </a:endParaRPr>
          </a:p>
        </p:txBody>
      </p:sp>
      <p:sp>
        <p:nvSpPr>
          <p:cNvPr id="5" name="Заголовок 1"/>
          <p:cNvSpPr>
            <a:spLocks noGrp="1"/>
          </p:cNvSpPr>
          <p:nvPr>
            <p:ph type="title"/>
          </p:nvPr>
        </p:nvSpPr>
        <p:spPr>
          <a:xfrm>
            <a:off x="1153592" y="221959"/>
            <a:ext cx="8229600" cy="1143000"/>
          </a:xfrm>
        </p:spPr>
        <p:txBody>
          <a:bodyPr/>
          <a:lstStyle/>
          <a:p>
            <a:pPr eaLnBrk="1" hangingPunct="1"/>
            <a:r>
              <a:rPr lang="ru-RU" altLang="ru-RU" sz="3600" b="1" dirty="0" smtClean="0"/>
              <a:t>Сетевой уровень. Функции</a:t>
            </a:r>
            <a:endParaRPr lang="ru-RU" altLang="ru-RU" sz="36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Заголовок 1"/>
          <p:cNvSpPr>
            <a:spLocks noGrp="1"/>
          </p:cNvSpPr>
          <p:nvPr>
            <p:ph type="title"/>
          </p:nvPr>
        </p:nvSpPr>
        <p:spPr>
          <a:xfrm>
            <a:off x="1002919" y="341785"/>
            <a:ext cx="8229600" cy="1143000"/>
          </a:xfrm>
        </p:spPr>
        <p:txBody>
          <a:bodyPr/>
          <a:lstStyle/>
          <a:p>
            <a:pPr eaLnBrk="1" hangingPunct="1"/>
            <a:r>
              <a:rPr lang="ru-RU" altLang="ru-RU" sz="3600" b="1" dirty="0" smtClean="0"/>
              <a:t>Сетевой уровень. Протоколы</a:t>
            </a:r>
            <a:endParaRPr lang="ru-RU" altLang="ru-RU" sz="3600" dirty="0" smtClean="0"/>
          </a:p>
        </p:txBody>
      </p:sp>
      <p:sp>
        <p:nvSpPr>
          <p:cNvPr id="13320" name="Text Box 9"/>
          <p:cNvSpPr txBox="1">
            <a:spLocks noChangeArrowheads="1"/>
          </p:cNvSpPr>
          <p:nvPr/>
        </p:nvSpPr>
        <p:spPr bwMode="auto">
          <a:xfrm>
            <a:off x="971601" y="1628800"/>
            <a:ext cx="7416823" cy="3170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ru-RU" altLang="ru-RU" sz="2000" dirty="0">
                <a:latin typeface="Times New Roman" panose="02020603050405020304" pitchFamily="18" charset="0"/>
              </a:rPr>
              <a:t>На сетевом уровне определяется </a:t>
            </a:r>
            <a:r>
              <a:rPr lang="ru-RU" altLang="ru-RU" sz="2000" b="1" dirty="0">
                <a:latin typeface="Times New Roman" panose="02020603050405020304" pitchFamily="18" charset="0"/>
              </a:rPr>
              <a:t>два вида протоколов</a:t>
            </a:r>
            <a:r>
              <a:rPr lang="ru-RU" altLang="ru-RU" sz="2000" dirty="0">
                <a:latin typeface="Times New Roman" panose="02020603050405020304" pitchFamily="18" charset="0"/>
              </a:rPr>
              <a:t>. </a:t>
            </a:r>
            <a:endParaRPr lang="ru-RU" altLang="ru-RU" sz="2000" dirty="0">
              <a:latin typeface="Times New Roman" panose="02020603050405020304" pitchFamily="18" charset="0"/>
            </a:endParaRPr>
          </a:p>
          <a:p>
            <a:pPr algn="just" eaLnBrk="1" hangingPunct="1">
              <a:spcBef>
                <a:spcPct val="50000"/>
              </a:spcBef>
              <a:buFontTx/>
              <a:buAutoNum type="arabicPeriod"/>
            </a:pPr>
            <a:r>
              <a:rPr lang="ru-RU" altLang="ru-RU" sz="2000" dirty="0">
                <a:latin typeface="Times New Roman" panose="02020603050405020304" pitchFamily="18" charset="0"/>
              </a:rPr>
              <a:t>Определение </a:t>
            </a:r>
            <a:r>
              <a:rPr lang="ru-RU" altLang="ru-RU" sz="2000" i="1" dirty="0">
                <a:latin typeface="Times New Roman" panose="02020603050405020304" pitchFamily="18" charset="0"/>
              </a:rPr>
              <a:t>правил передачи пакетов</a:t>
            </a:r>
            <a:r>
              <a:rPr lang="ru-RU" altLang="ru-RU" sz="2000" dirty="0">
                <a:latin typeface="Times New Roman" panose="02020603050405020304" pitchFamily="18" charset="0"/>
              </a:rPr>
              <a:t> с данными конечных узлов от узла к маршрутизатору и между маршрутизаторами (именно эти протоколы обычно имеют в виду, когда говорят о протоколах сетевого уровня). </a:t>
            </a:r>
            <a:endParaRPr lang="ru-RU" altLang="ru-RU" sz="2000" dirty="0">
              <a:latin typeface="Times New Roman" panose="02020603050405020304" pitchFamily="18" charset="0"/>
            </a:endParaRPr>
          </a:p>
          <a:p>
            <a:pPr algn="just" eaLnBrk="1" hangingPunct="1">
              <a:spcBef>
                <a:spcPct val="50000"/>
              </a:spcBef>
              <a:buFontTx/>
              <a:buAutoNum type="arabicPeriod"/>
            </a:pPr>
            <a:r>
              <a:rPr lang="ru-RU" altLang="ru-RU" sz="2000" i="1" dirty="0">
                <a:latin typeface="Times New Roman" panose="02020603050405020304" pitchFamily="18" charset="0"/>
              </a:rPr>
              <a:t>Протоколы обмена маршрутной информацией</a:t>
            </a:r>
            <a:r>
              <a:rPr lang="ru-RU" altLang="ru-RU" sz="2000" dirty="0">
                <a:latin typeface="Times New Roman" panose="02020603050405020304" pitchFamily="18" charset="0"/>
              </a:rPr>
              <a:t>. С помощью этих протоколов маршрутизаторы собирают информацию о топологии межсетевых соединений, о состоянии сети, траффике в определенных точках сети, каналах и т.д. </a:t>
            </a:r>
            <a:endParaRPr lang="ru-RU" altLang="ru-RU" sz="2000" dirty="0">
              <a:latin typeface="Times New Roman" panose="02020603050405020304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002919" y="5373216"/>
            <a:ext cx="7385505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>
              <a:spcAft>
                <a:spcPts val="0"/>
              </a:spcAft>
            </a:pPr>
            <a:r>
              <a:rPr lang="ru-RU" sz="2000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Протоколы сетевого уровня реализуются программными модулями операционной системы, а также программными и аппаратными средствами маршрутизаторов.</a:t>
            </a:r>
            <a:endParaRPr lang="en-US" sz="2000" spc="-2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971601" y="5085184"/>
            <a:ext cx="741682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Text Box 5"/>
          <p:cNvSpPr txBox="1">
            <a:spLocks noChangeArrowheads="1"/>
          </p:cNvSpPr>
          <p:nvPr/>
        </p:nvSpPr>
        <p:spPr bwMode="auto">
          <a:xfrm>
            <a:off x="1331640" y="1763688"/>
            <a:ext cx="7345189" cy="43858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000" u="sng" dirty="0">
                <a:latin typeface="Times New Roman" panose="02020603050405020304" pitchFamily="18" charset="0"/>
              </a:rPr>
              <a:t>Наиболее часто на сетевом уровне используются протоколы:</a:t>
            </a:r>
            <a:r>
              <a:rPr lang="ru-RU" altLang="ru-RU" sz="2000" dirty="0">
                <a:latin typeface="Times New Roman" panose="02020603050405020304" pitchFamily="18" charset="0"/>
              </a:rPr>
              <a:t> </a:t>
            </a:r>
            <a:endParaRPr lang="ru-RU" altLang="ru-RU" sz="2000" dirty="0" smtClean="0">
              <a:latin typeface="Times New Roman" panose="02020603050405020304" pitchFamily="18" charset="0"/>
            </a:endParaRPr>
          </a:p>
          <a:p>
            <a:pPr eaLnBrk="1" hangingPunct="1"/>
            <a:endParaRPr lang="ru-RU" altLang="ru-RU" dirty="0">
              <a:latin typeface="Times New Roman" panose="02020603050405020304" pitchFamily="18" charset="0"/>
            </a:endParaRPr>
          </a:p>
          <a:p>
            <a:pPr algn="just" eaLnBrk="1" hangingPunct="1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ru-RU" altLang="ru-RU" dirty="0">
                <a:latin typeface="Times New Roman" panose="02020603050405020304" pitchFamily="18" charset="0"/>
              </a:rPr>
              <a:t> IP (</a:t>
            </a:r>
            <a:r>
              <a:rPr lang="en-US" altLang="ru-RU" dirty="0">
                <a:latin typeface="Times New Roman" panose="02020603050405020304" pitchFamily="18" charset="0"/>
              </a:rPr>
              <a:t>Internet Protocol</a:t>
            </a:r>
            <a:r>
              <a:rPr lang="ru-RU" altLang="ru-RU" dirty="0">
                <a:latin typeface="Times New Roman" panose="02020603050405020304" pitchFamily="18" charset="0"/>
              </a:rPr>
              <a:t>) протокол </a:t>
            </a:r>
            <a:r>
              <a:rPr lang="en-US" altLang="ru-RU" dirty="0">
                <a:latin typeface="Times New Roman" panose="02020603050405020304" pitchFamily="18" charset="0"/>
              </a:rPr>
              <a:t>Internet</a:t>
            </a:r>
            <a:r>
              <a:rPr lang="ru-RU" altLang="ru-RU" dirty="0">
                <a:latin typeface="Times New Roman" panose="02020603050405020304" pitchFamily="18" charset="0"/>
              </a:rPr>
              <a:t>, сетевой протокол стека </a:t>
            </a:r>
            <a:r>
              <a:rPr lang="en-US" altLang="ru-RU" dirty="0">
                <a:latin typeface="Times New Roman" panose="02020603050405020304" pitchFamily="18" charset="0"/>
              </a:rPr>
              <a:t>TCP</a:t>
            </a:r>
            <a:r>
              <a:rPr lang="ru-RU" altLang="ru-RU" dirty="0">
                <a:latin typeface="Times New Roman" panose="02020603050405020304" pitchFamily="18" charset="0"/>
              </a:rPr>
              <a:t>/</a:t>
            </a:r>
            <a:r>
              <a:rPr lang="en-US" altLang="ru-RU" dirty="0">
                <a:latin typeface="Times New Roman" panose="02020603050405020304" pitchFamily="18" charset="0"/>
              </a:rPr>
              <a:t>IP</a:t>
            </a:r>
            <a:r>
              <a:rPr lang="ru-RU" altLang="ru-RU" dirty="0">
                <a:latin typeface="Times New Roman" panose="02020603050405020304" pitchFamily="18" charset="0"/>
              </a:rPr>
              <a:t>, который предоставляет адресную и маршрутную информацию; </a:t>
            </a:r>
            <a:endParaRPr lang="ru-RU" altLang="ru-RU" dirty="0">
              <a:latin typeface="Times New Roman" panose="02020603050405020304" pitchFamily="18" charset="0"/>
            </a:endParaRPr>
          </a:p>
          <a:p>
            <a:pPr algn="just" eaLnBrk="1" hangingPunct="1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ru-RU" altLang="ru-RU" dirty="0">
                <a:latin typeface="Times New Roman" panose="02020603050405020304" pitchFamily="18" charset="0"/>
              </a:rPr>
              <a:t> IPX (</a:t>
            </a:r>
            <a:r>
              <a:rPr lang="en-US" altLang="ru-RU" dirty="0">
                <a:latin typeface="Times New Roman" panose="02020603050405020304" pitchFamily="18" charset="0"/>
              </a:rPr>
              <a:t>Internetwork Packet Exchange</a:t>
            </a:r>
            <a:r>
              <a:rPr lang="ru-RU" altLang="ru-RU" dirty="0">
                <a:latin typeface="Times New Roman" panose="02020603050405020304" pitchFamily="18" charset="0"/>
              </a:rPr>
              <a:t>) протокол межсетевого обмена пакетами, предназначенный для адресации и маршрутизации пакетов в сетях </a:t>
            </a:r>
            <a:r>
              <a:rPr lang="en-US" altLang="ru-RU" dirty="0">
                <a:latin typeface="Times New Roman" panose="02020603050405020304" pitchFamily="18" charset="0"/>
              </a:rPr>
              <a:t>Novell</a:t>
            </a:r>
            <a:r>
              <a:rPr lang="ru-RU" altLang="ru-RU" dirty="0">
                <a:latin typeface="Times New Roman" panose="02020603050405020304" pitchFamily="18" charset="0"/>
              </a:rPr>
              <a:t>; </a:t>
            </a:r>
            <a:endParaRPr lang="ru-RU" altLang="ru-RU" dirty="0">
              <a:latin typeface="Times New Roman" panose="02020603050405020304" pitchFamily="18" charset="0"/>
            </a:endParaRPr>
          </a:p>
          <a:p>
            <a:pPr algn="just" eaLnBrk="1" hangingPunct="1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ru-RU" altLang="ru-RU" dirty="0">
                <a:latin typeface="Times New Roman" panose="02020603050405020304" pitchFamily="18" charset="0"/>
              </a:rPr>
              <a:t> X.25 международный стандарт для глобальных коммуникаций с коммутацией пакетов (частично этот протокол реализован на канальном уровне</a:t>
            </a:r>
            <a:r>
              <a:rPr lang="ru-RU" altLang="ru-RU" dirty="0" smtClean="0">
                <a:latin typeface="Times New Roman" panose="02020603050405020304" pitchFamily="18" charset="0"/>
              </a:rPr>
              <a:t>);</a:t>
            </a:r>
            <a:endParaRPr lang="ru-RU" altLang="ru-RU" dirty="0" smtClean="0">
              <a:latin typeface="Times New Roman" panose="02020603050405020304" pitchFamily="18" charset="0"/>
            </a:endParaRPr>
          </a:p>
          <a:p>
            <a:pPr lvl="0" algn="just" eaLnBrk="1" hangingPunct="1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ru-RU" dirty="0">
                <a:latin typeface="Times New Roman" panose="02020603050405020304" pitchFamily="18" charset="0"/>
              </a:rPr>
              <a:t>CLNP (</a:t>
            </a:r>
            <a:r>
              <a:rPr lang="en-US" dirty="0">
                <a:latin typeface="Times New Roman" panose="02020603050405020304" pitchFamily="18" charset="0"/>
              </a:rPr>
              <a:t>Connection Less Network Protocol</a:t>
            </a:r>
            <a:r>
              <a:rPr lang="ru-RU" dirty="0">
                <a:latin typeface="Times New Roman" panose="02020603050405020304" pitchFamily="18" charset="0"/>
              </a:rPr>
              <a:t>) сетевой протокол без организации соединений. </a:t>
            </a:r>
            <a:endParaRPr lang="en-US" dirty="0">
              <a:latin typeface="Times New Roman" panose="02020603050405020304" pitchFamily="18" charset="0"/>
            </a:endParaRPr>
          </a:p>
          <a:p>
            <a:pPr algn="just" eaLnBrk="1" hangingPunct="1">
              <a:spcBef>
                <a:spcPts val="600"/>
              </a:spcBef>
              <a:spcAft>
                <a:spcPts val="600"/>
              </a:spcAft>
            </a:pPr>
            <a:endParaRPr lang="ru-RU" altLang="ru-RU" dirty="0">
              <a:latin typeface="Times New Roman" panose="02020603050405020304" pitchFamily="18" charset="0"/>
            </a:endParaRPr>
          </a:p>
        </p:txBody>
      </p:sp>
      <p:sp>
        <p:nvSpPr>
          <p:cNvPr id="5" name="Заголовок 1"/>
          <p:cNvSpPr>
            <a:spLocks noGrp="1"/>
          </p:cNvSpPr>
          <p:nvPr>
            <p:ph type="title"/>
          </p:nvPr>
        </p:nvSpPr>
        <p:spPr>
          <a:xfrm>
            <a:off x="1187624" y="476672"/>
            <a:ext cx="8229600" cy="1143000"/>
          </a:xfrm>
        </p:spPr>
        <p:txBody>
          <a:bodyPr/>
          <a:lstStyle/>
          <a:p>
            <a:pPr eaLnBrk="1" hangingPunct="1"/>
            <a:r>
              <a:rPr lang="ru-RU" altLang="ru-RU" sz="3600" b="1" dirty="0" smtClean="0"/>
              <a:t>Сетевой уровень. Протоколы</a:t>
            </a:r>
            <a:endParaRPr lang="ru-RU" altLang="ru-RU" sz="36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/>
          </p:cNvSpPr>
          <p:nvPr>
            <p:ph type="title"/>
          </p:nvPr>
        </p:nvSpPr>
        <p:spPr>
          <a:xfrm>
            <a:off x="971550" y="260350"/>
            <a:ext cx="7200900" cy="1090930"/>
          </a:xfrm>
        </p:spPr>
        <p:txBody>
          <a:bodyPr>
            <a:normAutofit fontScale="90000"/>
          </a:bodyPr>
          <a:lstStyle/>
          <a:p>
            <a:pPr marL="838200" indent="-838200" eaLnBrk="1" hangingPunct="1"/>
            <a:r>
              <a:rPr lang="ru-RU" altLang="ru-RU" sz="3600" b="1" dirty="0" smtClean="0"/>
              <a:t>Канальный уровень. Аспекты</a:t>
            </a:r>
            <a:endParaRPr lang="ru-RU" altLang="ru-RU" sz="3600" b="1" dirty="0" smtClean="0"/>
          </a:p>
        </p:txBody>
      </p:sp>
      <p:sp>
        <p:nvSpPr>
          <p:cNvPr id="15366" name="Text Box 8"/>
          <p:cNvSpPr txBox="1">
            <a:spLocks noChangeArrowheads="1"/>
          </p:cNvSpPr>
          <p:nvPr/>
        </p:nvSpPr>
        <p:spPr bwMode="auto">
          <a:xfrm>
            <a:off x="1403649" y="1408081"/>
            <a:ext cx="7344816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indent="450215" algn="just">
              <a:spcAft>
                <a:spcPts val="0"/>
              </a:spcAft>
            </a:pPr>
            <a:r>
              <a:rPr lang="ru-RU" altLang="ru-RU" dirty="0" smtClean="0">
                <a:latin typeface="Times New Roman" panose="02020603050405020304" pitchFamily="18" charset="0"/>
              </a:rPr>
              <a:t>1. </a:t>
            </a:r>
            <a:r>
              <a:rPr lang="ru-RU" altLang="ru-RU" u="sng" dirty="0" smtClean="0">
                <a:solidFill>
                  <a:srgbClr val="FF3300"/>
                </a:solidFill>
                <a:latin typeface="Times New Roman" panose="02020603050405020304" pitchFamily="18" charset="0"/>
              </a:rPr>
              <a:t>Главная задача канального уровня</a:t>
            </a:r>
            <a:r>
              <a:rPr lang="ru-RU" altLang="ru-RU" dirty="0" smtClean="0">
                <a:latin typeface="Times New Roman" panose="02020603050405020304" pitchFamily="18" charset="0"/>
              </a:rPr>
              <a:t> </a:t>
            </a:r>
            <a:r>
              <a:rPr lang="ru-RU" spc="-2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− </a:t>
            </a:r>
            <a:r>
              <a:rPr lang="ru-RU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брать пакеты, поступающие с сетевого уровня и готовить их к передаче, укладывая в кадр соответствующего размера, который далее передается физическому уровню. Этот уровень обязан определить, где начинается и где заканчивается блок, а также обнаруживать ошибки передачи</a:t>
            </a:r>
            <a:r>
              <a:rPr lang="ru-RU" spc="-2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altLang="ru-RU" dirty="0">
              <a:latin typeface="Times New Roman" panose="02020603050405020304" pitchFamily="18" charset="0"/>
            </a:endParaRPr>
          </a:p>
        </p:txBody>
      </p:sp>
      <p:sp>
        <p:nvSpPr>
          <p:cNvPr id="15367" name="Text Box 9"/>
          <p:cNvSpPr txBox="1">
            <a:spLocks noChangeArrowheads="1"/>
          </p:cNvSpPr>
          <p:nvPr/>
        </p:nvSpPr>
        <p:spPr bwMode="auto">
          <a:xfrm>
            <a:off x="683193" y="1196752"/>
            <a:ext cx="720725" cy="1862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ru-RU" altLang="ru-RU" sz="11500" dirty="0">
                <a:solidFill>
                  <a:srgbClr val="FF3300"/>
                </a:solidFill>
                <a:latin typeface="Times New Roman" panose="02020603050405020304" pitchFamily="18" charset="0"/>
              </a:rPr>
              <a:t>!</a:t>
            </a:r>
            <a:endParaRPr lang="ru-RU" altLang="ru-RU" sz="11500" dirty="0">
              <a:solidFill>
                <a:srgbClr val="FF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1403647" y="3120295"/>
            <a:ext cx="734481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pc="-2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2. Поэтому, </a:t>
            </a:r>
            <a:r>
              <a:rPr lang="ru-RU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единицей информации канального уровня являются </a:t>
            </a:r>
            <a:r>
              <a:rPr lang="ru-RU" i="1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кадры (</a:t>
            </a:r>
            <a:r>
              <a:rPr lang="en-US" i="1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frame</a:t>
            </a:r>
            <a:r>
              <a:rPr lang="ru-RU" i="1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). </a:t>
            </a:r>
            <a:r>
              <a:rPr lang="ru-RU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Фактически, кадры – это логически организованная структура, в которую можно помещать данные.</a:t>
            </a:r>
            <a:endParaRPr lang="en-US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1408204" y="4278281"/>
            <a:ext cx="734026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pc="-2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3. На </a:t>
            </a:r>
            <a:r>
              <a:rPr lang="ru-RU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физическом уровне просто пересылаются биты в виде физических сигналов. При этом не учитывается, что в некоторых сетях, в которых линии связи используются попеременно несколькими парами взаимодействующих компьютеров, физическая среда передачи может быть занята. Поэтому </a:t>
            </a:r>
            <a:r>
              <a:rPr lang="ru-RU" u="sng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одной из задач канального уровня является определение доступ к среде и управление передачей посредством процедуры передачи данных по каналу.</a:t>
            </a:r>
            <a:r>
              <a:rPr lang="ru-RU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6" grpId="0"/>
      <p:bldP spid="15367" grpId="0"/>
      <p:bldP spid="2" grpId="0"/>
      <p:bldP spid="3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/>
          </p:cNvSpPr>
          <p:nvPr>
            <p:ph type="title"/>
          </p:nvPr>
        </p:nvSpPr>
        <p:spPr>
          <a:xfrm>
            <a:off x="1043305" y="188284"/>
            <a:ext cx="7200900" cy="1485900"/>
          </a:xfrm>
        </p:spPr>
        <p:txBody>
          <a:bodyPr>
            <a:normAutofit fontScale="90000"/>
          </a:bodyPr>
          <a:lstStyle/>
          <a:p>
            <a:pPr marL="838200" indent="-838200" eaLnBrk="1" hangingPunct="1"/>
            <a:r>
              <a:rPr lang="ru-RU" altLang="ru-RU" sz="3600" b="1" dirty="0" smtClean="0"/>
              <a:t>Канальный уровень. Аспекты</a:t>
            </a:r>
            <a:endParaRPr lang="ru-RU" altLang="ru-RU" sz="3600" b="1" dirty="0" smtClean="0"/>
          </a:p>
        </p:txBody>
      </p:sp>
      <p:sp>
        <p:nvSpPr>
          <p:cNvPr id="2" name="Прямоугольник 1"/>
          <p:cNvSpPr/>
          <p:nvPr/>
        </p:nvSpPr>
        <p:spPr>
          <a:xfrm>
            <a:off x="971550" y="1412776"/>
            <a:ext cx="748888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>
              <a:spcAft>
                <a:spcPts val="0"/>
              </a:spcAft>
            </a:pPr>
            <a:r>
              <a:rPr lang="ru-RU" spc="-2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4. При </a:t>
            </a:r>
            <a:r>
              <a:rPr lang="ru-RU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больших размерах передаваемых блоков данных канальный уровень делит их на кадры и передает кадры в виде последовательностей. При получении кадров уровень формирует из них переданные блоки данных. Размер блока данных зависит от способа передачи, качества канала, по которому он передается. </a:t>
            </a:r>
            <a:endParaRPr lang="en-US" sz="1800" spc="-2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986370" y="3140968"/>
            <a:ext cx="7474061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/>
            <a:r>
              <a:rPr lang="ru-RU" spc="-2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5. Другой </a:t>
            </a:r>
            <a:r>
              <a:rPr lang="ru-RU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задачей канального уровня является реализация механизмов обнаружения и коррекции ошибок. Канальный уровень обеспечивает корректность передачи каждого кадра, помещая специальную последовательность бит, в начало и конец каждого кадра, чтобы отметить его, а также вычисляет контрольную сумму, суммируя все байты кадра определенным способом и добавляя контрольную сумму к кадру. </a:t>
            </a:r>
            <a:endParaRPr lang="en-US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996108" y="5036983"/>
            <a:ext cx="746886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>
              <a:spcAft>
                <a:spcPts val="0"/>
              </a:spcAft>
            </a:pPr>
            <a:r>
              <a:rPr lang="ru-RU" spc="-2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6. На </a:t>
            </a:r>
            <a:r>
              <a:rPr lang="ru-RU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этом же уровне определяются правила использования физического уровня узлами сети. Физическое (электрическое) представление данных в сетях (биты данных, методы кодирования данных и маркеры) распознаются на этом и только на этом уровне. </a:t>
            </a:r>
            <a:endParaRPr lang="en-US" sz="1800" spc="-2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/>
          </p:cNvSpPr>
          <p:nvPr>
            <p:ph type="title"/>
          </p:nvPr>
        </p:nvSpPr>
        <p:spPr>
          <a:xfrm>
            <a:off x="971550" y="482924"/>
            <a:ext cx="7200900" cy="1485900"/>
          </a:xfrm>
        </p:spPr>
        <p:txBody>
          <a:bodyPr>
            <a:normAutofit fontScale="90000"/>
          </a:bodyPr>
          <a:lstStyle/>
          <a:p>
            <a:pPr marL="838200" indent="-838200" eaLnBrk="1" hangingPunct="1"/>
            <a:r>
              <a:rPr lang="ru-RU" altLang="ru-RU" sz="3600" b="1" dirty="0" smtClean="0"/>
              <a:t>Канальный уровень. Подуровни</a:t>
            </a:r>
            <a:endParaRPr lang="ru-RU" altLang="ru-RU" sz="3600" b="1" dirty="0" smtClean="0"/>
          </a:p>
        </p:txBody>
      </p:sp>
      <p:sp>
        <p:nvSpPr>
          <p:cNvPr id="2" name="Прямоугольник 1"/>
          <p:cNvSpPr/>
          <p:nvPr/>
        </p:nvSpPr>
        <p:spPr>
          <a:xfrm>
            <a:off x="971550" y="1412776"/>
            <a:ext cx="7488882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>
              <a:spcAft>
                <a:spcPts val="0"/>
              </a:spcAft>
            </a:pPr>
            <a:r>
              <a:rPr lang="ru-RU" sz="2000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Спецификации IEEE </a:t>
            </a:r>
            <a:r>
              <a:rPr lang="ru-RU" sz="2000" spc="-2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делят </a:t>
            </a:r>
            <a:r>
              <a:rPr lang="ru-RU" sz="2000" u="sng" spc="-2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канальный уровень на два подуровня</a:t>
            </a:r>
            <a:r>
              <a:rPr lang="ru-RU" sz="2000" spc="-2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ru-RU" sz="2000" spc="-20" dirty="0" smtClean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>
              <a:spcAft>
                <a:spcPts val="0"/>
              </a:spcAft>
            </a:pPr>
            <a:endParaRPr lang="en-US" sz="2000" spc="-2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spcAft>
                <a:spcPts val="0"/>
              </a:spcAft>
              <a:buSzPts val="1400"/>
              <a:buFont typeface="Symbol" panose="05050102010706020507" pitchFamily="18" charset="2"/>
              <a:buChar char=""/>
              <a:tabLst>
                <a:tab pos="228600" algn="l"/>
              </a:tabLst>
            </a:pPr>
            <a:r>
              <a:rPr lang="ru-RU" sz="2000" i="1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LLC</a:t>
            </a:r>
            <a:r>
              <a:rPr lang="ru-RU" sz="2000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en-US" sz="2000" i="1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Logical Link Control</a:t>
            </a:r>
            <a:r>
              <a:rPr lang="ru-RU" sz="2000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) управление логическим каналом осуществляет логический контроль связи. Подуровень LLC обеспечивает обслуживание сетевого уровня и связан с передачей и приемом пользовательских сообщений. </a:t>
            </a:r>
            <a:endParaRPr lang="ru-RU" sz="2000" spc="-20" dirty="0" smtClean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spcAft>
                <a:spcPts val="0"/>
              </a:spcAft>
              <a:buSzPts val="1400"/>
              <a:buFont typeface="Symbol" panose="05050102010706020507" pitchFamily="18" charset="2"/>
              <a:buChar char=""/>
              <a:tabLst>
                <a:tab pos="228600" algn="l"/>
              </a:tabLst>
            </a:pPr>
            <a:endParaRPr lang="en-US" sz="2000" spc="-2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spcAft>
                <a:spcPts val="0"/>
              </a:spcAft>
              <a:buSzPts val="1400"/>
              <a:buFont typeface="Symbol" panose="05050102010706020507" pitchFamily="18" charset="2"/>
              <a:buChar char=""/>
              <a:tabLst>
                <a:tab pos="228600" algn="l"/>
              </a:tabLst>
            </a:pPr>
            <a:r>
              <a:rPr lang="ru-RU" sz="2000" i="1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MAC</a:t>
            </a:r>
            <a:r>
              <a:rPr lang="ru-RU" sz="2000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en-US" sz="2000" i="1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Media Assess Control</a:t>
            </a:r>
            <a:r>
              <a:rPr lang="ru-RU" sz="2000" i="1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r>
              <a:rPr lang="ru-RU" sz="2000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контроль доступа к среде. Подуровень MAC регулирует доступ к разделяемой физической среде (передача маркера, обнаружение коллизий или столкновений) и управляет доступом к каналу связи. Подуровень </a:t>
            </a:r>
            <a:r>
              <a:rPr lang="ru-RU" sz="2000" i="1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LLC</a:t>
            </a:r>
            <a:r>
              <a:rPr lang="ru-RU" sz="2000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находится выше подуровня </a:t>
            </a:r>
            <a:r>
              <a:rPr lang="ru-RU" sz="2000" i="1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МАC.</a:t>
            </a:r>
            <a:endParaRPr lang="en-US" sz="2000" spc="-2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Box 4"/>
          <p:cNvSpPr txBox="1">
            <a:spLocks noChangeArrowheads="1"/>
          </p:cNvSpPr>
          <p:nvPr/>
        </p:nvSpPr>
        <p:spPr bwMode="auto">
          <a:xfrm>
            <a:off x="1043608" y="1700808"/>
            <a:ext cx="7488114" cy="35548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ru-RU" sz="2000" u="sng" dirty="0">
                <a:latin typeface="Times New Roman" panose="02020603050405020304" pitchFamily="18" charset="0"/>
              </a:rPr>
              <a:t>Канальный уровень может выполнять следующие виды функций:</a:t>
            </a:r>
            <a:r>
              <a:rPr lang="ru-RU" altLang="ru-RU" sz="2000" dirty="0">
                <a:latin typeface="Times New Roman" panose="02020603050405020304" pitchFamily="18" charset="0"/>
              </a:rPr>
              <a:t> </a:t>
            </a:r>
            <a:endParaRPr lang="ru-RU" altLang="ru-RU" sz="2000" dirty="0" smtClean="0">
              <a:latin typeface="Times New Roman" panose="02020603050405020304" pitchFamily="18" charset="0"/>
            </a:endParaRPr>
          </a:p>
          <a:p>
            <a:pPr algn="just" eaLnBrk="1" hangingPunct="1"/>
            <a:endParaRPr lang="ru-RU" altLang="ru-RU" sz="2000" dirty="0">
              <a:latin typeface="Times New Roman" panose="02020603050405020304" pitchFamily="18" charset="0"/>
            </a:endParaRPr>
          </a:p>
          <a:p>
            <a:pPr lvl="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  <a:tabLst>
                <a:tab pos="228600" algn="l"/>
              </a:tabLst>
            </a:pPr>
            <a:r>
              <a:rPr lang="ru-RU" altLang="ru-RU" sz="2000" dirty="0" smtClean="0">
                <a:latin typeface="Times New Roman" panose="02020603050405020304" pitchFamily="18" charset="0"/>
              </a:rPr>
              <a:t> </a:t>
            </a:r>
            <a:r>
              <a:rPr lang="ru-RU" sz="2000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Организация (установление, управление, расторжение) канальных соединений и идентификация их портов.</a:t>
            </a:r>
            <a:endParaRPr lang="en-US" sz="2000" spc="-2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  <a:tabLst>
                <a:tab pos="228600" algn="l"/>
              </a:tabLst>
            </a:pPr>
            <a:r>
              <a:rPr lang="ru-RU" sz="2000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Формирование и передача кадров.</a:t>
            </a:r>
            <a:endParaRPr lang="en-US" sz="2000" spc="-2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  <a:tabLst>
                <a:tab pos="228600" algn="l"/>
              </a:tabLst>
            </a:pPr>
            <a:r>
              <a:rPr lang="ru-RU" sz="2000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Обнаружение и исправление ошибок.</a:t>
            </a:r>
            <a:endParaRPr lang="en-US" sz="2000" spc="-2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  <a:tabLst>
                <a:tab pos="228600" algn="l"/>
              </a:tabLst>
            </a:pPr>
            <a:r>
              <a:rPr lang="ru-RU" sz="2000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Управление потоками данных.</a:t>
            </a:r>
            <a:endParaRPr lang="en-US" sz="2000" spc="-2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  <a:tabLst>
                <a:tab pos="228600" algn="l"/>
              </a:tabLst>
            </a:pPr>
            <a:r>
              <a:rPr lang="ru-RU" sz="2000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Обеспечение прозрачности логических каналов (передачи по ним данных, закодированных любым способом).</a:t>
            </a:r>
            <a:endParaRPr lang="en-US" sz="2000" spc="-2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Rectangle 2"/>
          <p:cNvSpPr>
            <a:spLocks noGrp="1"/>
          </p:cNvSpPr>
          <p:nvPr>
            <p:ph type="title"/>
          </p:nvPr>
        </p:nvSpPr>
        <p:spPr>
          <a:xfrm>
            <a:off x="179512" y="332656"/>
            <a:ext cx="8280920" cy="1485900"/>
          </a:xfrm>
        </p:spPr>
        <p:txBody>
          <a:bodyPr>
            <a:normAutofit/>
          </a:bodyPr>
          <a:lstStyle/>
          <a:p>
            <a:pPr marL="838200" eaLnBrk="1" hangingPunct="1"/>
            <a:r>
              <a:rPr lang="ru-RU" altLang="ru-RU" sz="3600" b="1" dirty="0" smtClean="0"/>
              <a:t>Канальный уровень. Функции</a:t>
            </a:r>
            <a:endParaRPr lang="ru-RU" altLang="ru-RU" sz="3600" b="1" u="sng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Text Box 5"/>
          <p:cNvSpPr txBox="1">
            <a:spLocks noChangeArrowheads="1"/>
          </p:cNvSpPr>
          <p:nvPr/>
        </p:nvSpPr>
        <p:spPr bwMode="auto">
          <a:xfrm>
            <a:off x="1043608" y="1412776"/>
            <a:ext cx="7632848" cy="51706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42900" lvl="0" indent="-342900" algn="just">
              <a:spcBef>
                <a:spcPts val="600"/>
              </a:spcBef>
              <a:spcAft>
                <a:spcPts val="600"/>
              </a:spcAft>
              <a:buSzPts val="1400"/>
              <a:buFont typeface="Wingdings" panose="05000000000000000000" pitchFamily="2" charset="2"/>
              <a:buChar char="Ø"/>
              <a:tabLst>
                <a:tab pos="228600" algn="l"/>
              </a:tabLst>
            </a:pPr>
            <a:r>
              <a:rPr lang="ru-RU" spc="-2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HDLC </a:t>
            </a:r>
            <a:r>
              <a:rPr lang="ru-RU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High Level Data Link Control</a:t>
            </a:r>
            <a:r>
              <a:rPr lang="ru-RU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) протокол управления каналом передачи данных высокого уровня, для последовательных соединений;</a:t>
            </a:r>
            <a:endParaRPr lang="en-US" spc="-2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spcBef>
                <a:spcPts val="600"/>
              </a:spcBef>
              <a:spcAft>
                <a:spcPts val="600"/>
              </a:spcAft>
              <a:buSzPts val="1400"/>
              <a:buFont typeface="Wingdings" panose="05000000000000000000" pitchFamily="2" charset="2"/>
              <a:buChar char="Ø"/>
              <a:tabLst>
                <a:tab pos="228600" algn="l"/>
              </a:tabLst>
            </a:pPr>
            <a:r>
              <a:rPr lang="ru-RU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PPP (</a:t>
            </a:r>
            <a:r>
              <a:rPr lang="ru-RU" spc="-2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Point-To-Point</a:t>
            </a:r>
            <a:r>
              <a:rPr lang="ru-RU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pc="-2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Protocol</a:t>
            </a:r>
            <a:r>
              <a:rPr lang="ru-RU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протокол прямого соединения между двумя узлами);</a:t>
            </a:r>
            <a:endParaRPr lang="en-US" spc="-2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spcBef>
                <a:spcPts val="600"/>
              </a:spcBef>
              <a:spcAft>
                <a:spcPts val="600"/>
              </a:spcAft>
              <a:buSzPts val="1400"/>
              <a:buFont typeface="Wingdings" panose="05000000000000000000" pitchFamily="2" charset="2"/>
              <a:buChar char="Ø"/>
              <a:tabLst>
                <a:tab pos="228600" algn="l"/>
              </a:tabLst>
            </a:pPr>
            <a:r>
              <a:rPr lang="ru-RU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SLIP (</a:t>
            </a:r>
            <a:r>
              <a:rPr lang="ru-RU" spc="-2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Serial</a:t>
            </a:r>
            <a:r>
              <a:rPr lang="ru-RU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pc="-2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Line</a:t>
            </a:r>
            <a:r>
              <a:rPr lang="ru-RU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pc="-2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Internet</a:t>
            </a:r>
            <a:r>
              <a:rPr lang="ru-RU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pc="-2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Protocol</a:t>
            </a:r>
            <a:r>
              <a:rPr lang="ru-RU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по сути, предшественник PPP, который по-прежнему используется в микроконтроллерах);</a:t>
            </a:r>
            <a:endParaRPr lang="en-US" spc="-2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spcBef>
                <a:spcPts val="600"/>
              </a:spcBef>
              <a:spcAft>
                <a:spcPts val="600"/>
              </a:spcAft>
              <a:buSzPts val="1400"/>
              <a:buFont typeface="Wingdings" panose="05000000000000000000" pitchFamily="2" charset="2"/>
              <a:buChar char="Ø"/>
              <a:tabLst>
                <a:tab pos="228600" algn="l"/>
              </a:tabLst>
            </a:pPr>
            <a:r>
              <a:rPr lang="en-US" spc="-2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Ethernet</a:t>
            </a:r>
            <a:r>
              <a:rPr lang="ru-RU" spc="-2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сетевая технология по стандарту </a:t>
            </a:r>
            <a:r>
              <a:rPr lang="en-US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IEEE</a:t>
            </a:r>
            <a:r>
              <a:rPr lang="ru-RU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802.3 для сетей, использующая шинную топологию и коллективный доступ с прослушиванием несущей и обнаружением конфликтов;</a:t>
            </a:r>
            <a:endParaRPr lang="en-US" spc="-2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spcBef>
                <a:spcPts val="600"/>
              </a:spcBef>
              <a:spcAft>
                <a:spcPts val="600"/>
              </a:spcAft>
              <a:buSzPts val="1400"/>
              <a:buFont typeface="Wingdings" panose="05000000000000000000" pitchFamily="2" charset="2"/>
              <a:buChar char="Ø"/>
              <a:tabLst>
                <a:tab pos="228600" algn="l"/>
              </a:tabLst>
            </a:pPr>
            <a:r>
              <a:rPr lang="en-US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Token ring </a:t>
            </a:r>
            <a:r>
              <a:rPr lang="ru-RU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сетевая технология по стандарту </a:t>
            </a:r>
            <a:r>
              <a:rPr lang="en-US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IEEE</a:t>
            </a:r>
            <a:r>
              <a:rPr lang="ru-RU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802.5, использующая кольцевую топологию и метод доступа к кольцу с передачей маркера;</a:t>
            </a:r>
            <a:endParaRPr lang="en-US" spc="-2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spcBef>
                <a:spcPts val="600"/>
              </a:spcBef>
              <a:spcAft>
                <a:spcPts val="600"/>
              </a:spcAft>
              <a:buSzPts val="1400"/>
              <a:buFont typeface="Wingdings" panose="05000000000000000000" pitchFamily="2" charset="2"/>
              <a:buChar char="Ø"/>
              <a:tabLst>
                <a:tab pos="228600" algn="l"/>
              </a:tabLst>
            </a:pPr>
            <a:r>
              <a:rPr lang="ru-RU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FDDI (</a:t>
            </a:r>
            <a:r>
              <a:rPr lang="en-US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Fiber Distributed Date Interface Station</a:t>
            </a:r>
            <a:r>
              <a:rPr lang="ru-RU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) сетевая технология по стандарту </a:t>
            </a:r>
            <a:r>
              <a:rPr lang="en-US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IEEE</a:t>
            </a:r>
            <a:r>
              <a:rPr lang="ru-RU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802.6, использующая оптоволоконный носитель;</a:t>
            </a:r>
            <a:endParaRPr lang="en-US" spc="-2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spcBef>
                <a:spcPts val="600"/>
              </a:spcBef>
              <a:spcAft>
                <a:spcPts val="600"/>
              </a:spcAft>
              <a:buSzPts val="1400"/>
              <a:buFont typeface="Wingdings" panose="05000000000000000000" pitchFamily="2" charset="2"/>
              <a:buChar char="Ø"/>
              <a:tabLst>
                <a:tab pos="228600" algn="l"/>
              </a:tabLst>
            </a:pPr>
            <a:r>
              <a:rPr lang="ru-RU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X.25 международный стандарт для глобальных коммуникаций с коммутацией </a:t>
            </a:r>
            <a:r>
              <a:rPr lang="ru-RU" spc="-2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пакетов</a:t>
            </a:r>
            <a:r>
              <a:rPr lang="ru-RU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spc="-2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Rectangle 2"/>
          <p:cNvSpPr>
            <a:spLocks noGrp="1"/>
          </p:cNvSpPr>
          <p:nvPr>
            <p:ph type="title"/>
          </p:nvPr>
        </p:nvSpPr>
        <p:spPr>
          <a:xfrm>
            <a:off x="323528" y="116632"/>
            <a:ext cx="8280920" cy="1485900"/>
          </a:xfrm>
        </p:spPr>
        <p:txBody>
          <a:bodyPr>
            <a:normAutofit fontScale="90000"/>
          </a:bodyPr>
          <a:lstStyle/>
          <a:p>
            <a:pPr marL="838200" eaLnBrk="1" hangingPunct="1"/>
            <a:r>
              <a:rPr lang="ru-RU" altLang="ru-RU" sz="3600" b="1" dirty="0" smtClean="0"/>
              <a:t>Канальный уровень. Протоколы и технологии</a:t>
            </a:r>
            <a:endParaRPr lang="ru-RU" altLang="ru-RU" sz="3600" b="1" u="sng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/>
          </p:cNvSpPr>
          <p:nvPr>
            <p:ph type="title"/>
          </p:nvPr>
        </p:nvSpPr>
        <p:spPr>
          <a:xfrm>
            <a:off x="323215" y="116840"/>
            <a:ext cx="8281035" cy="755650"/>
          </a:xfrm>
        </p:spPr>
        <p:txBody>
          <a:bodyPr>
            <a:normAutofit fontScale="90000"/>
          </a:bodyPr>
          <a:lstStyle/>
          <a:p>
            <a:pPr marL="838200" eaLnBrk="1" hangingPunct="1"/>
            <a:r>
              <a:rPr lang="ru-RU" altLang="ru-RU" sz="3600" b="1" dirty="0" smtClean="0"/>
              <a:t>Канальный уровень. Протоколы и технологии</a:t>
            </a:r>
            <a:endParaRPr lang="ru-RU" altLang="ru-RU" sz="3600" b="1" u="sng" dirty="0" smtClean="0"/>
          </a:p>
        </p:txBody>
      </p:sp>
      <p:sp>
        <p:nvSpPr>
          <p:cNvPr id="2" name="Прямоугольник 1"/>
          <p:cNvSpPr/>
          <p:nvPr/>
        </p:nvSpPr>
        <p:spPr>
          <a:xfrm>
            <a:off x="1187624" y="1602532"/>
            <a:ext cx="7416824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>
              <a:spcAft>
                <a:spcPts val="0"/>
              </a:spcAft>
            </a:pPr>
            <a:r>
              <a:rPr lang="ru-RU" sz="2400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В локальных сетях протоколы канального уровня используются компьютерами, мостами, коммутаторами и маршрутизаторами. В компьютерах функции канального уровня реализуются совместными усилиями сетевых адаптеров и их драйверов.</a:t>
            </a:r>
            <a:endParaRPr lang="en-US" sz="2400" spc="-2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/>
          </p:cNvSpPr>
          <p:nvPr>
            <p:ph type="title"/>
          </p:nvPr>
        </p:nvSpPr>
        <p:spPr>
          <a:xfrm>
            <a:off x="852488" y="426368"/>
            <a:ext cx="8229600" cy="1143000"/>
          </a:xfrm>
        </p:spPr>
        <p:txBody>
          <a:bodyPr>
            <a:normAutofit/>
          </a:bodyPr>
          <a:lstStyle/>
          <a:p>
            <a:pPr marL="838200" indent="-838200" eaLnBrk="1" hangingPunct="1"/>
            <a:r>
              <a:rPr lang="ru-RU" altLang="ru-RU" sz="3600" b="1" dirty="0" smtClean="0"/>
              <a:t>Физический уровень. Аспекты</a:t>
            </a:r>
            <a:endParaRPr lang="ru-RU" altLang="ru-RU" sz="4000" b="1" dirty="0" smtClean="0"/>
          </a:p>
        </p:txBody>
      </p:sp>
      <p:sp>
        <p:nvSpPr>
          <p:cNvPr id="17411" name="Text Box 4"/>
          <p:cNvSpPr txBox="1">
            <a:spLocks noChangeArrowheads="1"/>
          </p:cNvSpPr>
          <p:nvPr/>
        </p:nvSpPr>
        <p:spPr bwMode="auto">
          <a:xfrm>
            <a:off x="852488" y="1341562"/>
            <a:ext cx="7751762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indent="457200" algn="just" eaLnBrk="1" hangingPunct="1">
              <a:spcBef>
                <a:spcPct val="50000"/>
              </a:spcBef>
            </a:pPr>
            <a:r>
              <a:rPr lang="ru-RU" altLang="ru-RU" dirty="0" smtClean="0">
                <a:latin typeface="Times New Roman" panose="02020603050405020304" pitchFamily="18" charset="0"/>
              </a:rPr>
              <a:t>1. Физический </a:t>
            </a:r>
            <a:r>
              <a:rPr lang="ru-RU" altLang="ru-RU" dirty="0">
                <a:latin typeface="Times New Roman" panose="02020603050405020304" pitchFamily="18" charset="0"/>
              </a:rPr>
              <a:t>уровень предназначен для сопряжения с </a:t>
            </a:r>
            <a:r>
              <a:rPr lang="ru-RU" altLang="ru-RU" i="1" dirty="0">
                <a:latin typeface="Times New Roman" panose="02020603050405020304" pitchFamily="18" charset="0"/>
              </a:rPr>
              <a:t>физическими средствами соединения</a:t>
            </a:r>
            <a:r>
              <a:rPr lang="ru-RU" altLang="ru-RU" dirty="0">
                <a:latin typeface="Times New Roman" panose="02020603050405020304" pitchFamily="18" charset="0"/>
              </a:rPr>
              <a:t>. </a:t>
            </a:r>
            <a:endParaRPr lang="ru-RU" altLang="ru-RU" dirty="0">
              <a:latin typeface="Times New Roman" panose="02020603050405020304" pitchFamily="18" charset="0"/>
            </a:endParaRPr>
          </a:p>
        </p:txBody>
      </p:sp>
      <p:sp>
        <p:nvSpPr>
          <p:cNvPr id="17412" name="Text Box 6"/>
          <p:cNvSpPr txBox="1">
            <a:spLocks noChangeArrowheads="1"/>
          </p:cNvSpPr>
          <p:nvPr/>
        </p:nvSpPr>
        <p:spPr bwMode="auto">
          <a:xfrm>
            <a:off x="852488" y="4632518"/>
            <a:ext cx="7751762" cy="18928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indent="450215" algn="just">
              <a:spcAft>
                <a:spcPts val="0"/>
              </a:spcAft>
            </a:pPr>
            <a:r>
              <a:rPr lang="ru-RU" altLang="ru-RU" dirty="0" smtClean="0">
                <a:latin typeface="Times New Roman" panose="02020603050405020304" pitchFamily="18" charset="0"/>
              </a:rPr>
              <a:t>2. Физический </a:t>
            </a:r>
            <a:r>
              <a:rPr lang="ru-RU" altLang="ru-RU" dirty="0">
                <a:latin typeface="Times New Roman" panose="02020603050405020304" pitchFamily="18" charset="0"/>
              </a:rPr>
              <a:t>уровень состоит из </a:t>
            </a:r>
            <a:r>
              <a:rPr lang="ru-RU" altLang="ru-RU" i="1" u="sng" dirty="0">
                <a:latin typeface="Times New Roman" panose="02020603050405020304" pitchFamily="18" charset="0"/>
              </a:rPr>
              <a:t>Подуровня стыковки со средой</a:t>
            </a:r>
            <a:r>
              <a:rPr lang="ru-RU" altLang="ru-RU" dirty="0">
                <a:latin typeface="Times New Roman" panose="02020603050405020304" pitchFamily="18" charset="0"/>
              </a:rPr>
              <a:t> и </a:t>
            </a:r>
            <a:r>
              <a:rPr lang="ru-RU" altLang="ru-RU" i="1" u="sng" dirty="0">
                <a:latin typeface="Times New Roman" panose="02020603050405020304" pitchFamily="18" charset="0"/>
              </a:rPr>
              <a:t>Подуровня преобразования передачи</a:t>
            </a:r>
            <a:r>
              <a:rPr lang="ru-RU" altLang="ru-RU" i="1" u="sng" dirty="0" smtClean="0">
                <a:latin typeface="Times New Roman" panose="02020603050405020304" pitchFamily="18" charset="0"/>
              </a:rPr>
              <a:t>. </a:t>
            </a:r>
            <a:r>
              <a:rPr lang="ru-RU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Первый из них обеспечивает сопряжение потока данных с используемым физическим каналом связи. Второй осуществляет преобразования, связанные с применяемыми протоколами. </a:t>
            </a:r>
            <a:endParaRPr lang="en-US" spc="-2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 eaLnBrk="1" hangingPunct="1">
              <a:spcBef>
                <a:spcPct val="50000"/>
              </a:spcBef>
            </a:pPr>
            <a:endParaRPr lang="ru-RU" altLang="ru-RU" i="1" u="sng" dirty="0">
              <a:latin typeface="Times New Roman" panose="02020603050405020304" pitchFamily="18" charset="0"/>
            </a:endParaRPr>
          </a:p>
        </p:txBody>
      </p:sp>
      <p:sp>
        <p:nvSpPr>
          <p:cNvPr id="17413" name="Text Box 7"/>
          <p:cNvSpPr txBox="1">
            <a:spLocks noChangeArrowheads="1"/>
          </p:cNvSpPr>
          <p:nvPr/>
        </p:nvSpPr>
        <p:spPr bwMode="auto">
          <a:xfrm>
            <a:off x="1258888" y="2200796"/>
            <a:ext cx="7416800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ru-RU" i="1" u="sng" dirty="0">
                <a:latin typeface="Times New Roman" panose="02020603050405020304" pitchFamily="18" charset="0"/>
              </a:rPr>
              <a:t>Физические средства соединения</a:t>
            </a:r>
            <a:r>
              <a:rPr lang="ru-RU" altLang="ru-RU" dirty="0">
                <a:latin typeface="Times New Roman" panose="02020603050405020304" pitchFamily="18" charset="0"/>
              </a:rPr>
              <a:t> – это совокупность </a:t>
            </a:r>
            <a:r>
              <a:rPr lang="ru-RU" altLang="ru-RU" i="1" dirty="0">
                <a:latin typeface="Times New Roman" panose="02020603050405020304" pitchFamily="18" charset="0"/>
              </a:rPr>
              <a:t>физической среды</a:t>
            </a:r>
            <a:r>
              <a:rPr lang="ru-RU" altLang="ru-RU" dirty="0">
                <a:latin typeface="Times New Roman" panose="02020603050405020304" pitchFamily="18" charset="0"/>
              </a:rPr>
              <a:t>, аппаратных и программных средств, обеспечивающая передачу сигналов между системами. </a:t>
            </a:r>
            <a:endParaRPr lang="ru-RU" altLang="ru-RU" dirty="0">
              <a:latin typeface="Times New Roman" panose="02020603050405020304" pitchFamily="18" charset="0"/>
            </a:endParaRPr>
          </a:p>
          <a:p>
            <a:pPr algn="just" eaLnBrk="1" hangingPunct="1"/>
            <a:r>
              <a:rPr lang="ru-RU" altLang="ru-RU" i="1" u="sng" dirty="0">
                <a:latin typeface="Times New Roman" panose="02020603050405020304" pitchFamily="18" charset="0"/>
              </a:rPr>
              <a:t>Физическая среда</a:t>
            </a:r>
            <a:r>
              <a:rPr lang="ru-RU" altLang="ru-RU" dirty="0">
                <a:latin typeface="Times New Roman" panose="02020603050405020304" pitchFamily="18" charset="0"/>
              </a:rPr>
              <a:t> – это материальная субстанция, через которую осуществляется передача сигналов</a:t>
            </a:r>
            <a:r>
              <a:rPr lang="ru-RU" altLang="ru-RU" dirty="0" smtClean="0">
                <a:latin typeface="Times New Roman" panose="02020603050405020304" pitchFamily="18" charset="0"/>
              </a:rPr>
              <a:t>. </a:t>
            </a:r>
            <a:r>
              <a:rPr lang="ru-RU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Физическая среда является основой, на которой строятся физические средства соединения. В качестве физической среды широко используются эфир, металлы, оптическое стекло и кварц.</a:t>
            </a:r>
            <a:endParaRPr lang="ru-RU" altLang="ru-RU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/>
          </p:cNvSpPr>
          <p:nvPr>
            <p:ph type="title"/>
          </p:nvPr>
        </p:nvSpPr>
        <p:spPr>
          <a:xfrm>
            <a:off x="1331640" y="332656"/>
            <a:ext cx="8229600" cy="1143000"/>
          </a:xfrm>
        </p:spPr>
        <p:txBody>
          <a:bodyPr>
            <a:normAutofit/>
          </a:bodyPr>
          <a:lstStyle/>
          <a:p>
            <a:pPr marL="838200" indent="-838200" eaLnBrk="1" hangingPunct="1"/>
            <a:r>
              <a:rPr lang="ru-RU" altLang="ru-RU" sz="3600" b="1" dirty="0" smtClean="0"/>
              <a:t>Физический уровень. Аспекты</a:t>
            </a:r>
            <a:endParaRPr lang="ru-RU" altLang="ru-RU" sz="4000" b="1" dirty="0" smtClean="0"/>
          </a:p>
        </p:txBody>
      </p:sp>
      <p:sp>
        <p:nvSpPr>
          <p:cNvPr id="17411" name="Text Box 4"/>
          <p:cNvSpPr txBox="1">
            <a:spLocks noChangeArrowheads="1"/>
          </p:cNvSpPr>
          <p:nvPr/>
        </p:nvSpPr>
        <p:spPr bwMode="auto">
          <a:xfrm>
            <a:off x="971600" y="1341562"/>
            <a:ext cx="7632650" cy="24468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indent="457200" algn="just" eaLnBrk="1" hangingPunct="1">
              <a:spcBef>
                <a:spcPct val="50000"/>
              </a:spcBef>
            </a:pPr>
            <a:r>
              <a:rPr lang="ru-RU" spc="-2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3. Физический </a:t>
            </a:r>
            <a:r>
              <a:rPr lang="ru-RU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уровень обеспечивает физический интерфейс с каналом передачи данных, а также описывает процедуры передачи сигналов в канал и получения их из канала. </a:t>
            </a:r>
            <a:endParaRPr lang="ru-RU" spc="-20" dirty="0" smtClean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7200" algn="just" eaLnBrk="1" hangingPunct="1">
              <a:spcBef>
                <a:spcPct val="50000"/>
              </a:spcBef>
            </a:pPr>
            <a:r>
              <a:rPr lang="ru-RU" spc="-2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4. На </a:t>
            </a:r>
            <a:r>
              <a:rPr lang="ru-RU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этом уровне определяются электрические, механические, функциональные и процедурные параметры для физической связи в системах. </a:t>
            </a:r>
            <a:r>
              <a:rPr lang="ru-RU" spc="-2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 Фактически, физический </a:t>
            </a:r>
            <a:r>
              <a:rPr lang="ru-RU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уровень получает пакеты данных от вышележащего канального уровня и преобразует их в оптические или электрические сигналы, соответствующие 0 и 1 бинарного потока. </a:t>
            </a:r>
            <a:endParaRPr lang="ru-RU" altLang="ru-RU" dirty="0">
              <a:latin typeface="Times New Roman" panose="02020603050405020304" pitchFamily="18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71600" y="4365104"/>
            <a:ext cx="7632650" cy="18620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>
              <a:spcAft>
                <a:spcPts val="0"/>
              </a:spcAft>
            </a:pPr>
            <a:r>
              <a:rPr lang="ru-RU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Механические и электрические / оптические свойства среды передачи определяются на физическом уровне и включают: </a:t>
            </a:r>
            <a:endParaRPr lang="en-US" spc="-2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spcBef>
                <a:spcPts val="600"/>
              </a:spcBef>
              <a:spcAft>
                <a:spcPts val="600"/>
              </a:spcAft>
              <a:buSzPts val="1400"/>
              <a:buFont typeface="Wingdings" panose="05000000000000000000" pitchFamily="2" charset="2"/>
              <a:buChar char="Ø"/>
              <a:tabLst>
                <a:tab pos="228600" algn="l"/>
              </a:tabLst>
            </a:pPr>
            <a:r>
              <a:rPr lang="ru-RU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тип кабелей и разъемов; </a:t>
            </a:r>
            <a:endParaRPr lang="en-US" spc="-2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spcBef>
                <a:spcPts val="600"/>
              </a:spcBef>
              <a:spcAft>
                <a:spcPts val="600"/>
              </a:spcAft>
              <a:buSzPts val="1400"/>
              <a:buFont typeface="Wingdings" panose="05000000000000000000" pitchFamily="2" charset="2"/>
              <a:buChar char="Ø"/>
              <a:tabLst>
                <a:tab pos="228600" algn="l"/>
              </a:tabLst>
            </a:pPr>
            <a:r>
              <a:rPr lang="ru-RU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разводку контактов в разъемах;</a:t>
            </a:r>
            <a:endParaRPr lang="en-US" spc="-2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spcBef>
                <a:spcPts val="600"/>
              </a:spcBef>
              <a:spcAft>
                <a:spcPts val="600"/>
              </a:spcAft>
              <a:buSzPts val="1400"/>
              <a:buFont typeface="Wingdings" panose="05000000000000000000" pitchFamily="2" charset="2"/>
              <a:buChar char="Ø"/>
              <a:tabLst>
                <a:tab pos="228600" algn="l"/>
              </a:tabLst>
            </a:pPr>
            <a:r>
              <a:rPr lang="ru-RU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схему кодирования сигналов для значений 0 и 1.</a:t>
            </a:r>
            <a:endParaRPr lang="en-US" sz="1800" spc="-2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971600" y="4005064"/>
            <a:ext cx="76326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/>
          </p:cNvSpPr>
          <p:nvPr>
            <p:ph type="title"/>
          </p:nvPr>
        </p:nvSpPr>
        <p:spPr>
          <a:xfrm>
            <a:off x="852488" y="210344"/>
            <a:ext cx="8229600" cy="1143000"/>
          </a:xfrm>
        </p:spPr>
        <p:txBody>
          <a:bodyPr>
            <a:normAutofit/>
          </a:bodyPr>
          <a:lstStyle/>
          <a:p>
            <a:pPr marL="838200" indent="-838200" eaLnBrk="1" hangingPunct="1"/>
            <a:r>
              <a:rPr lang="ru-RU" altLang="ru-RU" sz="3600" b="1" dirty="0" smtClean="0"/>
              <a:t>Физический уровень. Функции</a:t>
            </a:r>
            <a:endParaRPr lang="ru-RU" altLang="ru-RU" sz="4000" b="1" dirty="0" smtClean="0"/>
          </a:p>
        </p:txBody>
      </p:sp>
      <p:sp>
        <p:nvSpPr>
          <p:cNvPr id="17415" name="Text Box 10"/>
          <p:cNvSpPr txBox="1">
            <a:spLocks noChangeArrowheads="1"/>
          </p:cNvSpPr>
          <p:nvPr/>
        </p:nvSpPr>
        <p:spPr bwMode="auto">
          <a:xfrm>
            <a:off x="1043608" y="1353344"/>
            <a:ext cx="8569325" cy="347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ts val="1200"/>
              </a:spcBef>
              <a:spcAft>
                <a:spcPts val="1200"/>
              </a:spcAft>
            </a:pPr>
            <a:r>
              <a:rPr lang="ru-RU" altLang="ru-RU" sz="2000" u="sng" dirty="0">
                <a:latin typeface="Times New Roman" panose="02020603050405020304" pitchFamily="18" charset="0"/>
              </a:rPr>
              <a:t>Физический уровень выполняет следующие функции</a:t>
            </a:r>
            <a:r>
              <a:rPr lang="ru-RU" altLang="ru-RU" sz="2000" dirty="0">
                <a:latin typeface="Times New Roman" panose="02020603050405020304" pitchFamily="18" charset="0"/>
              </a:rPr>
              <a:t>: </a:t>
            </a:r>
            <a:endParaRPr lang="ru-RU" altLang="ru-RU" sz="2000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ru-RU" altLang="ru-RU" sz="2000" dirty="0">
                <a:latin typeface="Times New Roman" panose="02020603050405020304" pitchFamily="18" charset="0"/>
              </a:rPr>
              <a:t> Установление и разъединение физических соединений.</a:t>
            </a:r>
            <a:endParaRPr lang="ru-RU" altLang="ru-RU" sz="2000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ru-RU" altLang="ru-RU" sz="2000" dirty="0">
                <a:latin typeface="Times New Roman" panose="02020603050405020304" pitchFamily="18" charset="0"/>
              </a:rPr>
              <a:t> Передача сигналов в последовательном коде и прием.</a:t>
            </a:r>
            <a:endParaRPr lang="ru-RU" altLang="ru-RU" sz="2000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ru-RU" altLang="ru-RU" sz="2000" dirty="0">
                <a:latin typeface="Times New Roman" panose="02020603050405020304" pitchFamily="18" charset="0"/>
              </a:rPr>
              <a:t> Прослушивание, в нужных случаях, каналов.</a:t>
            </a:r>
            <a:endParaRPr lang="ru-RU" altLang="ru-RU" sz="2000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ru-RU" altLang="ru-RU" sz="2000" dirty="0">
                <a:latin typeface="Times New Roman" panose="02020603050405020304" pitchFamily="18" charset="0"/>
              </a:rPr>
              <a:t> Идентификация каналов.</a:t>
            </a:r>
            <a:endParaRPr lang="ru-RU" altLang="ru-RU" sz="2000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ru-RU" altLang="ru-RU" sz="2000" dirty="0">
                <a:latin typeface="Times New Roman" panose="02020603050405020304" pitchFamily="18" charset="0"/>
              </a:rPr>
              <a:t> Оповещение о появлении неисправностей и отказов.</a:t>
            </a:r>
            <a:endParaRPr lang="ru-RU" altLang="ru-RU" sz="20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/>
          </p:cNvSpPr>
          <p:nvPr>
            <p:ph type="title"/>
          </p:nvPr>
        </p:nvSpPr>
        <p:spPr>
          <a:xfrm>
            <a:off x="1259632" y="332656"/>
            <a:ext cx="8229600" cy="1143000"/>
          </a:xfrm>
        </p:spPr>
        <p:txBody>
          <a:bodyPr>
            <a:normAutofit/>
          </a:bodyPr>
          <a:lstStyle/>
          <a:p>
            <a:pPr marL="838200" indent="-838200" eaLnBrk="1" hangingPunct="1"/>
            <a:r>
              <a:rPr lang="ru-RU" altLang="ru-RU" sz="3600" b="1" dirty="0" smtClean="0"/>
              <a:t>Физический уровень. Функции</a:t>
            </a:r>
            <a:endParaRPr lang="ru-RU" altLang="ru-RU" sz="4000" b="1" dirty="0" smtClean="0"/>
          </a:p>
        </p:txBody>
      </p:sp>
      <p:sp>
        <p:nvSpPr>
          <p:cNvPr id="17415" name="Text Box 10"/>
          <p:cNvSpPr txBox="1">
            <a:spLocks noChangeArrowheads="1"/>
          </p:cNvSpPr>
          <p:nvPr/>
        </p:nvSpPr>
        <p:spPr bwMode="auto">
          <a:xfrm>
            <a:off x="1043609" y="1353344"/>
            <a:ext cx="7416824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indent="342900" algn="just" eaLnBrk="1" hangingPunct="1">
              <a:spcBef>
                <a:spcPts val="1200"/>
              </a:spcBef>
              <a:spcAft>
                <a:spcPts val="1200"/>
              </a:spcAft>
            </a:pPr>
            <a:r>
              <a:rPr lang="ru-RU" sz="2000" b="1" u="sng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Оповещение о появлении неисправностей и отказов </a:t>
            </a:r>
            <a:r>
              <a:rPr lang="ru-RU" sz="2000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связано с тем, что на физическом уровне происходит обнаружение определенного класса событий, мешающих нормальной работе сети (столкновение кадров, посланных сразу несколькими системами, обрыв канала, отключение питания, потеря механического контакта и т. д.).</a:t>
            </a:r>
            <a:endParaRPr lang="ru-RU" altLang="ru-RU" sz="2000" dirty="0">
              <a:latin typeface="Times New Roman" panose="02020603050405020304" pitchFamily="18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1043609" y="3789040"/>
            <a:ext cx="7416824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42900" algn="just">
              <a:spcBef>
                <a:spcPts val="1200"/>
              </a:spcBef>
              <a:spcAft>
                <a:spcPts val="1200"/>
              </a:spcAft>
            </a:pPr>
            <a:r>
              <a:rPr lang="ru-RU" sz="2000" b="1" u="sng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Прослушивание канала </a:t>
            </a:r>
            <a:r>
              <a:rPr lang="ru-RU" sz="2000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необходимо в тех случаях, когда к одному каналу подключается группа систем, но одновременно передавать сигналы разрешается только одной из них. Поэтому прослушивание канала позволяет определить, свободен ли он для передачи. </a:t>
            </a:r>
            <a:endParaRPr lang="en-US" sz="2000" spc="-2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5" grpId="0"/>
      <p:bldP spid="2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Text Box 6"/>
          <p:cNvSpPr txBox="1">
            <a:spLocks noChangeArrowheads="1"/>
          </p:cNvSpPr>
          <p:nvPr/>
        </p:nvSpPr>
        <p:spPr bwMode="auto">
          <a:xfrm>
            <a:off x="1110680" y="1340768"/>
            <a:ext cx="7488832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indent="457200" algn="just" eaLnBrk="1" hangingPunct="1">
              <a:spcBef>
                <a:spcPct val="50000"/>
              </a:spcBef>
            </a:pPr>
            <a:r>
              <a:rPr lang="ru-RU" sz="2000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Функции физического уровня реализуются во всех устройствах, подключенных к сети. </a:t>
            </a:r>
            <a:r>
              <a:rPr lang="ru-RU" sz="2000" b="1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Со стороны компьютера функции физического уровня выполняются сетевым адаптером</a:t>
            </a:r>
            <a:r>
              <a:rPr lang="ru-RU" sz="2000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ru-RU" sz="2000" spc="-2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Повторители и концентраторы </a:t>
            </a:r>
            <a:r>
              <a:rPr lang="ru-RU" sz="2000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являются единственным типом </a:t>
            </a:r>
            <a:r>
              <a:rPr lang="ru-RU" sz="2000" spc="-2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коммутационного оборудования</a:t>
            </a:r>
            <a:r>
              <a:rPr lang="ru-RU" sz="2000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которое работает только на физическом уровне.</a:t>
            </a:r>
            <a:endParaRPr lang="ru-RU" altLang="ru-RU" sz="2000" dirty="0">
              <a:latin typeface="Times New Roman" panose="02020603050405020304" pitchFamily="18" charset="0"/>
            </a:endParaRPr>
          </a:p>
        </p:txBody>
      </p:sp>
      <p:sp>
        <p:nvSpPr>
          <p:cNvPr id="12" name="Rectangle 2"/>
          <p:cNvSpPr>
            <a:spLocks noGrp="1"/>
          </p:cNvSpPr>
          <p:nvPr>
            <p:ph type="title"/>
          </p:nvPr>
        </p:nvSpPr>
        <p:spPr>
          <a:xfrm>
            <a:off x="1259632" y="332656"/>
            <a:ext cx="8229600" cy="1143000"/>
          </a:xfrm>
        </p:spPr>
        <p:txBody>
          <a:bodyPr>
            <a:normAutofit/>
          </a:bodyPr>
          <a:lstStyle/>
          <a:p>
            <a:pPr eaLnBrk="1" hangingPunct="1"/>
            <a:r>
              <a:rPr lang="ru-RU" altLang="ru-RU" sz="3600" b="1" dirty="0" smtClean="0"/>
              <a:t>Физический уровень. Функции.</a:t>
            </a:r>
            <a:br>
              <a:rPr lang="ru-RU" altLang="ru-RU" sz="3600" b="1" dirty="0" smtClean="0"/>
            </a:br>
            <a:endParaRPr lang="ru-RU" altLang="ru-RU" sz="4000" b="1" dirty="0" smtClean="0"/>
          </a:p>
        </p:txBody>
      </p:sp>
      <p:sp>
        <p:nvSpPr>
          <p:cNvPr id="4" name="Прямоугольник 3"/>
          <p:cNvSpPr/>
          <p:nvPr/>
        </p:nvSpPr>
        <p:spPr>
          <a:xfrm>
            <a:off x="1110680" y="5301208"/>
            <a:ext cx="7488832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>
              <a:spcAft>
                <a:spcPts val="0"/>
              </a:spcAft>
            </a:pPr>
            <a:r>
              <a:rPr lang="ru-RU" sz="2000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Преобразование данных в сигналы, передающие по кабелю в глобальных сетях выполняют модемы. В локальных сетях для преобразования данных применяют сетевые адаптеры, обеспечивающие скоростную передачу данных в цифровой форме. </a:t>
            </a:r>
            <a:endParaRPr lang="en-US" sz="2000" spc="-2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1110680" y="3626152"/>
            <a:ext cx="7488832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>
              <a:spcAft>
                <a:spcPts val="0"/>
              </a:spcAft>
            </a:pPr>
            <a:r>
              <a:rPr lang="ru-RU" sz="2000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На физическом уровне должна быть </a:t>
            </a:r>
            <a:r>
              <a:rPr lang="ru-RU" sz="2000" b="1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определена схема кодирования для представления двоичных значений </a:t>
            </a:r>
            <a:r>
              <a:rPr lang="ru-RU" sz="2000" spc="-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с целью их передачи по каналу связи. Во многих локальных сетях используется манчестерское кодирование.</a:t>
            </a:r>
            <a:endParaRPr lang="en-US" sz="2000" spc="-2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6" grpId="0"/>
      <p:bldP spid="4" grpId="0"/>
      <p:bldP spid="5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4"/>
          <p:cNvSpPr txBox="1">
            <a:spLocks noChangeArrowheads="1"/>
          </p:cNvSpPr>
          <p:nvPr/>
        </p:nvSpPr>
        <p:spPr bwMode="auto">
          <a:xfrm>
            <a:off x="1187624" y="1988840"/>
            <a:ext cx="3024336" cy="3170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indent="457200" algn="just" eaLnBrk="1" hangingPunct="1">
              <a:spcBef>
                <a:spcPct val="50000"/>
              </a:spcBef>
            </a:pPr>
            <a:r>
              <a:rPr lang="ru-RU" altLang="ru-RU" sz="2000" dirty="0">
                <a:latin typeface="Times New Roman" panose="02020603050405020304" pitchFamily="18" charset="0"/>
              </a:rPr>
              <a:t>В ряде случаев для более четкого </a:t>
            </a:r>
            <a:r>
              <a:rPr lang="ru-RU" altLang="ru-RU" sz="2000" dirty="0" smtClean="0">
                <a:latin typeface="Times New Roman" panose="02020603050405020304" pitchFamily="18" charset="0"/>
              </a:rPr>
              <a:t>опре-деления </a:t>
            </a:r>
            <a:r>
              <a:rPr lang="ru-RU" altLang="ru-RU" sz="2000" dirty="0">
                <a:latin typeface="Times New Roman" panose="02020603050405020304" pitchFamily="18" charset="0"/>
              </a:rPr>
              <a:t>структуры </a:t>
            </a:r>
            <a:r>
              <a:rPr lang="ru-RU" altLang="ru-RU" sz="2000" dirty="0" smtClean="0">
                <a:latin typeface="Times New Roman" panose="02020603050405020304" pitchFamily="18" charset="0"/>
              </a:rPr>
              <a:t>физи-ческий </a:t>
            </a:r>
            <a:r>
              <a:rPr lang="ru-RU" altLang="ru-RU" sz="2000" dirty="0">
                <a:latin typeface="Times New Roman" panose="02020603050405020304" pitchFamily="18" charset="0"/>
              </a:rPr>
              <a:t>уровень </a:t>
            </a:r>
            <a:r>
              <a:rPr lang="ru-RU" altLang="ru-RU" sz="2000" dirty="0" smtClean="0">
                <a:latin typeface="Times New Roman" panose="02020603050405020304" pitchFamily="18" charset="0"/>
              </a:rPr>
              <a:t>разби-вается </a:t>
            </a:r>
            <a:r>
              <a:rPr lang="ru-RU" altLang="ru-RU" sz="2000" dirty="0">
                <a:latin typeface="Times New Roman" panose="02020603050405020304" pitchFamily="18" charset="0"/>
              </a:rPr>
              <a:t>на несколько подуровней. Например, физический уровень беспроводной сети делится на три подуровня. </a:t>
            </a:r>
            <a:endParaRPr lang="ru-RU" altLang="ru-RU" sz="2000" dirty="0">
              <a:latin typeface="Times New Roman" panose="02020603050405020304" pitchFamily="18" charset="0"/>
            </a:endParaRPr>
          </a:p>
        </p:txBody>
      </p:sp>
      <p:pic>
        <p:nvPicPr>
          <p:cNvPr id="18435" name="Picture 5" descr="Fu1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016" y="2132856"/>
            <a:ext cx="3775767" cy="259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ectangle 2"/>
          <p:cNvSpPr>
            <a:spLocks noGrp="1"/>
          </p:cNvSpPr>
          <p:nvPr>
            <p:ph type="title"/>
          </p:nvPr>
        </p:nvSpPr>
        <p:spPr>
          <a:xfrm>
            <a:off x="1259632" y="332656"/>
            <a:ext cx="8229600" cy="1143000"/>
          </a:xfrm>
        </p:spPr>
        <p:txBody>
          <a:bodyPr>
            <a:normAutofit/>
          </a:bodyPr>
          <a:lstStyle/>
          <a:p>
            <a:pPr eaLnBrk="1" hangingPunct="1"/>
            <a:r>
              <a:rPr lang="ru-RU" altLang="ru-RU" sz="3600" b="1" dirty="0" smtClean="0"/>
              <a:t>Физический уровень. </a:t>
            </a:r>
            <a:br>
              <a:rPr lang="ru-RU" altLang="ru-RU" sz="3600" b="1" dirty="0" smtClean="0"/>
            </a:br>
            <a:r>
              <a:rPr lang="ru-RU" altLang="ru-RU" sz="3600" b="1" dirty="0" smtClean="0"/>
              <a:t>Деление на подуровни</a:t>
            </a:r>
            <a:endParaRPr lang="ru-RU" altLang="ru-RU" sz="4000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4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Text Box 6"/>
          <p:cNvSpPr txBox="1">
            <a:spLocks noChangeArrowheads="1"/>
          </p:cNvSpPr>
          <p:nvPr/>
        </p:nvSpPr>
        <p:spPr bwMode="auto">
          <a:xfrm>
            <a:off x="971600" y="1628800"/>
            <a:ext cx="7488064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indent="457200" algn="just" eaLnBrk="1" hangingPunct="1">
              <a:spcBef>
                <a:spcPct val="50000"/>
              </a:spcBef>
            </a:pPr>
            <a:r>
              <a:rPr lang="ru-RU" altLang="ru-RU" sz="2000" dirty="0">
                <a:latin typeface="Times New Roman" panose="02020603050405020304" pitchFamily="18" charset="0"/>
              </a:rPr>
              <a:t>Физический уровень может обеспечивать как </a:t>
            </a:r>
            <a:r>
              <a:rPr lang="ru-RU" altLang="ru-RU" sz="2000" u="sng" dirty="0">
                <a:latin typeface="Times New Roman" panose="02020603050405020304" pitchFamily="18" charset="0"/>
              </a:rPr>
              <a:t>асинхронную (последовательную)</a:t>
            </a:r>
            <a:r>
              <a:rPr lang="ru-RU" altLang="ru-RU" sz="2000" dirty="0">
                <a:latin typeface="Times New Roman" panose="02020603050405020304" pitchFamily="18" charset="0"/>
              </a:rPr>
              <a:t> так и </a:t>
            </a:r>
            <a:r>
              <a:rPr lang="ru-RU" altLang="ru-RU" sz="2000" u="sng" dirty="0">
                <a:latin typeface="Times New Roman" panose="02020603050405020304" pitchFamily="18" charset="0"/>
              </a:rPr>
              <a:t>синхронную (параллельную)</a:t>
            </a:r>
            <a:r>
              <a:rPr lang="ru-RU" altLang="ru-RU" sz="2000" dirty="0">
                <a:latin typeface="Times New Roman" panose="02020603050405020304" pitchFamily="18" charset="0"/>
              </a:rPr>
              <a:t> </a:t>
            </a:r>
            <a:r>
              <a:rPr lang="ru-RU" altLang="ru-RU" sz="2000" dirty="0" smtClean="0">
                <a:latin typeface="Times New Roman" panose="02020603050405020304" pitchFamily="18" charset="0"/>
              </a:rPr>
              <a:t>передачу.</a:t>
            </a:r>
            <a:endParaRPr lang="ru-RU" altLang="ru-RU" sz="2000" dirty="0">
              <a:latin typeface="Times New Roman" panose="02020603050405020304" pitchFamily="18" charset="0"/>
            </a:endParaRPr>
          </a:p>
        </p:txBody>
      </p:sp>
      <p:sp>
        <p:nvSpPr>
          <p:cNvPr id="12" name="Rectangle 2"/>
          <p:cNvSpPr>
            <a:spLocks noGrp="1"/>
          </p:cNvSpPr>
          <p:nvPr>
            <p:ph type="title"/>
          </p:nvPr>
        </p:nvSpPr>
        <p:spPr>
          <a:xfrm>
            <a:off x="1259632" y="332656"/>
            <a:ext cx="8229600" cy="1143000"/>
          </a:xfrm>
        </p:spPr>
        <p:txBody>
          <a:bodyPr>
            <a:normAutofit/>
          </a:bodyPr>
          <a:lstStyle/>
          <a:p>
            <a:pPr eaLnBrk="1" hangingPunct="1"/>
            <a:r>
              <a:rPr lang="ru-RU" altLang="ru-RU" sz="3600" b="1" dirty="0" smtClean="0"/>
              <a:t>Физический уровень. </a:t>
            </a:r>
            <a:br>
              <a:rPr lang="ru-RU" altLang="ru-RU" sz="3600" b="1" dirty="0" smtClean="0"/>
            </a:br>
            <a:r>
              <a:rPr lang="ru-RU" altLang="ru-RU" sz="3600" b="1" dirty="0" smtClean="0"/>
              <a:t>Технологии</a:t>
            </a:r>
            <a:endParaRPr lang="ru-RU" altLang="ru-RU" sz="4000" b="1" dirty="0" smtClean="0"/>
          </a:p>
        </p:txBody>
      </p:sp>
      <p:sp>
        <p:nvSpPr>
          <p:cNvPr id="6" name="Text Box 12"/>
          <p:cNvSpPr txBox="1">
            <a:spLocks noChangeArrowheads="1"/>
          </p:cNvSpPr>
          <p:nvPr/>
        </p:nvSpPr>
        <p:spPr bwMode="auto">
          <a:xfrm>
            <a:off x="971600" y="2852936"/>
            <a:ext cx="7488064" cy="37548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indent="457200" algn="just" eaLnBrk="1" hangingPunct="1">
              <a:spcBef>
                <a:spcPts val="600"/>
              </a:spcBef>
              <a:spcAft>
                <a:spcPts val="600"/>
              </a:spcAft>
            </a:pPr>
            <a:r>
              <a:rPr lang="ru-RU" altLang="ru-RU" dirty="0">
                <a:latin typeface="Times New Roman" panose="02020603050405020304" pitchFamily="18" charset="0"/>
              </a:rPr>
              <a:t>К числу наиболее распространенных </a:t>
            </a:r>
            <a:r>
              <a:rPr lang="ru-RU" altLang="ru-RU" u="sng" dirty="0">
                <a:latin typeface="Times New Roman" panose="02020603050405020304" pitchFamily="18" charset="0"/>
              </a:rPr>
              <a:t>спецификаций физического уровня</a:t>
            </a:r>
            <a:r>
              <a:rPr lang="ru-RU" altLang="ru-RU" dirty="0">
                <a:latin typeface="Times New Roman" panose="02020603050405020304" pitchFamily="18" charset="0"/>
              </a:rPr>
              <a:t> относятся: </a:t>
            </a:r>
            <a:endParaRPr lang="ru-RU" altLang="ru-RU" dirty="0">
              <a:latin typeface="Times New Roman" panose="02020603050405020304" pitchFamily="18" charset="0"/>
            </a:endParaRPr>
          </a:p>
          <a:p>
            <a:pPr algn="just" eaLnBrk="1" hangingPunct="1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ru-RU" altLang="ru-RU" dirty="0">
                <a:latin typeface="Times New Roman" panose="02020603050405020304" pitchFamily="18" charset="0"/>
              </a:rPr>
              <a:t> </a:t>
            </a:r>
            <a:r>
              <a:rPr lang="en-US" altLang="ru-RU" dirty="0">
                <a:latin typeface="Times New Roman" panose="02020603050405020304" pitchFamily="18" charset="0"/>
              </a:rPr>
              <a:t>Ethernet</a:t>
            </a:r>
            <a:r>
              <a:rPr lang="ru-RU" altLang="ru-RU" dirty="0">
                <a:latin typeface="Times New Roman" panose="02020603050405020304" pitchFamily="18" charset="0"/>
              </a:rPr>
              <a:t> – сетевая технология по стандарту </a:t>
            </a:r>
            <a:r>
              <a:rPr lang="en-US" altLang="ru-RU" dirty="0">
                <a:latin typeface="Times New Roman" panose="02020603050405020304" pitchFamily="18" charset="0"/>
              </a:rPr>
              <a:t>IEEE</a:t>
            </a:r>
            <a:r>
              <a:rPr lang="ru-RU" altLang="ru-RU" dirty="0">
                <a:latin typeface="Times New Roman" panose="02020603050405020304" pitchFamily="18" charset="0"/>
              </a:rPr>
              <a:t> 802.3 для сетей, использующая шинную топологию и коллективный доступ с прослушиванием несущей и обнаружением конфликтов;</a:t>
            </a:r>
            <a:endParaRPr lang="en-US" altLang="ru-RU" dirty="0">
              <a:latin typeface="Times New Roman" panose="02020603050405020304" pitchFamily="18" charset="0"/>
            </a:endParaRPr>
          </a:p>
          <a:p>
            <a:pPr algn="just" eaLnBrk="1" hangingPunct="1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ru-RU" altLang="ru-RU" dirty="0">
                <a:latin typeface="Times New Roman" panose="02020603050405020304" pitchFamily="18" charset="0"/>
              </a:rPr>
              <a:t> </a:t>
            </a:r>
            <a:r>
              <a:rPr lang="en-US" altLang="ru-RU" dirty="0">
                <a:latin typeface="Times New Roman" panose="02020603050405020304" pitchFamily="18" charset="0"/>
              </a:rPr>
              <a:t>Token ring</a:t>
            </a:r>
            <a:r>
              <a:rPr lang="ru-RU" altLang="ru-RU" dirty="0">
                <a:latin typeface="Times New Roman" panose="02020603050405020304" pitchFamily="18" charset="0"/>
              </a:rPr>
              <a:t> – сетевая технология по стандарту </a:t>
            </a:r>
            <a:r>
              <a:rPr lang="en-US" altLang="ru-RU" dirty="0">
                <a:latin typeface="Times New Roman" panose="02020603050405020304" pitchFamily="18" charset="0"/>
              </a:rPr>
              <a:t>IEEE</a:t>
            </a:r>
            <a:r>
              <a:rPr lang="ru-RU" altLang="ru-RU" dirty="0">
                <a:latin typeface="Times New Roman" panose="02020603050405020304" pitchFamily="18" charset="0"/>
              </a:rPr>
              <a:t> 802.5, использующая кольцевую топологию и метод доступа к кольцу с передачей маркера</a:t>
            </a:r>
            <a:r>
              <a:rPr lang="ru-RU" altLang="ru-RU" dirty="0" smtClean="0">
                <a:latin typeface="Times New Roman" panose="02020603050405020304" pitchFamily="18" charset="0"/>
              </a:rPr>
              <a:t>;</a:t>
            </a:r>
            <a:endParaRPr lang="ru-RU" altLang="ru-RU" dirty="0" smtClean="0">
              <a:latin typeface="Times New Roman" panose="02020603050405020304" pitchFamily="18" charset="0"/>
            </a:endParaRPr>
          </a:p>
          <a:p>
            <a:pPr marL="285750" lvl="0" indent="-285750" algn="just" eaLnBrk="1" hangingPunct="1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ru-RU" dirty="0">
                <a:latin typeface="Times New Roman" panose="02020603050405020304" pitchFamily="18" charset="0"/>
              </a:rPr>
              <a:t>FDDI (</a:t>
            </a:r>
            <a:r>
              <a:rPr lang="ru-RU" dirty="0" err="1">
                <a:latin typeface="Times New Roman" panose="02020603050405020304" pitchFamily="18" charset="0"/>
              </a:rPr>
              <a:t>Fiber</a:t>
            </a:r>
            <a:r>
              <a:rPr lang="ru-RU" dirty="0">
                <a:latin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</a:rPr>
              <a:t>Distributed</a:t>
            </a:r>
            <a:r>
              <a:rPr lang="ru-RU" dirty="0">
                <a:latin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</a:rPr>
              <a:t>Date</a:t>
            </a:r>
            <a:r>
              <a:rPr lang="ru-RU" dirty="0">
                <a:latin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</a:rPr>
              <a:t>Interface</a:t>
            </a:r>
            <a:r>
              <a:rPr lang="ru-RU" dirty="0">
                <a:latin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</a:rPr>
              <a:t>Station</a:t>
            </a:r>
            <a:r>
              <a:rPr lang="ru-RU" dirty="0">
                <a:latin typeface="Times New Roman" panose="02020603050405020304" pitchFamily="18" charset="0"/>
              </a:rPr>
              <a:t>) сетевая технология по стандарту IEEE 802.6, использующая оптоволоконный носитель.</a:t>
            </a:r>
            <a:endParaRPr lang="en-US" dirty="0">
              <a:latin typeface="Times New Roman" panose="02020603050405020304" pitchFamily="18" charset="0"/>
            </a:endParaRPr>
          </a:p>
          <a:p>
            <a:pPr algn="just" eaLnBrk="1" hangingPunct="1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ru-RU" altLang="ru-RU" dirty="0" smtClean="0">
                <a:latin typeface="Times New Roman" panose="02020603050405020304" pitchFamily="18" charset="0"/>
              </a:rPr>
              <a:t> </a:t>
            </a:r>
            <a:r>
              <a:rPr lang="ru-RU" altLang="ru-RU" dirty="0">
                <a:latin typeface="Times New Roman" panose="02020603050405020304" pitchFamily="18" charset="0"/>
              </a:rPr>
              <a:t>и т.д.</a:t>
            </a:r>
            <a:endParaRPr lang="ru-RU" altLang="ru-RU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6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5" name="TextBox 4"/>
          <p:cNvSpPr txBox="1">
            <a:spLocks noChangeArrowheads="1"/>
          </p:cNvSpPr>
          <p:nvPr/>
        </p:nvSpPr>
        <p:spPr bwMode="auto">
          <a:xfrm>
            <a:off x="539552" y="116632"/>
            <a:ext cx="8285039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 sz="2800" b="1" dirty="0">
                <a:latin typeface="Calibri" panose="020F0502020204030204" pitchFamily="34" charset="0"/>
              </a:rPr>
              <a:t>Краткое описание функций уровней модели OSI</a:t>
            </a:r>
            <a:endParaRPr lang="ru-RU" altLang="ru-RU" sz="2800" dirty="0">
              <a:latin typeface="Calibri" panose="020F0502020204030204" pitchFamily="34" charset="0"/>
            </a:endParaRPr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/>
        </p:nvGraphicFramePr>
        <p:xfrm>
          <a:off x="945138" y="764704"/>
          <a:ext cx="7852991" cy="594404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62686"/>
                <a:gridCol w="3268340"/>
                <a:gridCol w="3121965"/>
              </a:tblGrid>
              <a:tr h="524473">
                <a:tc>
                  <a:txBody>
                    <a:bodyPr/>
                    <a:lstStyle/>
                    <a:p>
                      <a:pPr marL="180340" algn="ctr">
                        <a:spcAft>
                          <a:spcPts val="0"/>
                        </a:spcAft>
                      </a:pPr>
                      <a:r>
                        <a:rPr lang="ru-RU" sz="1400" spc="-2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Наименование</a:t>
                      </a:r>
                      <a:endParaRPr lang="ru-RU" sz="1400" spc="-2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180340" algn="ctr">
                        <a:spcAft>
                          <a:spcPts val="0"/>
                        </a:spcAft>
                      </a:pPr>
                      <a:r>
                        <a:rPr lang="ru-RU" sz="1400" spc="-2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уровня</a:t>
                      </a:r>
                      <a:endParaRPr lang="ru-RU" sz="1400" spc="-2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536" marR="27536" marT="6355" marB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0340" algn="ctr">
                        <a:spcAft>
                          <a:spcPts val="0"/>
                        </a:spcAft>
                      </a:pPr>
                      <a:r>
                        <a:rPr lang="ru-RU" sz="1400" spc="-2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Функция</a:t>
                      </a:r>
                      <a:endParaRPr lang="ru-RU" sz="1400" spc="-2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536" marR="27536" marT="635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0340" algn="ctr">
                        <a:spcAft>
                          <a:spcPts val="0"/>
                        </a:spcAft>
                      </a:pPr>
                      <a:r>
                        <a:rPr lang="ru-RU" sz="1400" spc="-2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Тип данных</a:t>
                      </a:r>
                      <a:r>
                        <a:rPr lang="en-US" sz="1400" spc="-2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(PDU, protocol data units)</a:t>
                      </a:r>
                      <a:endParaRPr lang="ru-RU" sz="1400" spc="-2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653515">
                <a:tc>
                  <a:txBody>
                    <a:bodyPr/>
                    <a:lstStyle/>
                    <a:p>
                      <a:pPr marL="180340" algn="just">
                        <a:spcAft>
                          <a:spcPts val="0"/>
                        </a:spcAft>
                      </a:pPr>
                      <a:r>
                        <a:rPr lang="ru-RU" sz="1400" spc="-2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Прикладной</a:t>
                      </a:r>
                      <a:endParaRPr lang="ru-RU" sz="1400" spc="-2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536" marR="27536" marT="6355" marB="0"/>
                </a:tc>
                <a:tc>
                  <a:txBody>
                    <a:bodyPr/>
                    <a:lstStyle/>
                    <a:p>
                      <a:pPr marL="107950" algn="just">
                        <a:spcAft>
                          <a:spcPts val="0"/>
                        </a:spcAft>
                      </a:pPr>
                      <a:r>
                        <a:rPr lang="ru-RU" sz="1400" spc="-2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Представляет набор интерфейсов, позволяющий получить доступ к сетевым службам. Согласует требования к процессу передачи и т.д.</a:t>
                      </a:r>
                      <a:endParaRPr lang="ru-RU" sz="1400" spc="-2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536" marR="27536" marT="6355" marB="0"/>
                </a:tc>
                <a:tc>
                  <a:txBody>
                    <a:bodyPr/>
                    <a:lstStyle/>
                    <a:p>
                      <a:pPr marL="180340" algn="just">
                        <a:spcAft>
                          <a:spcPts val="0"/>
                        </a:spcAft>
                      </a:pPr>
                      <a:r>
                        <a:rPr lang="ru-RU" sz="1400" spc="-2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Сообщение (</a:t>
                      </a:r>
                      <a:r>
                        <a:rPr lang="en-US" sz="1400" spc="-2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message)</a:t>
                      </a:r>
                      <a:endParaRPr lang="ru-RU" sz="1400" spc="-2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</a:tr>
              <a:tr h="470172">
                <a:tc>
                  <a:txBody>
                    <a:bodyPr/>
                    <a:lstStyle/>
                    <a:p>
                      <a:pPr marL="180340" algn="just">
                        <a:spcAft>
                          <a:spcPts val="0"/>
                        </a:spcAft>
                      </a:pPr>
                      <a:r>
                        <a:rPr lang="ru-RU" sz="1400" spc="-2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Представления</a:t>
                      </a:r>
                      <a:endParaRPr lang="ru-RU" sz="1400" spc="-2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536" marR="27536" marT="6355" marB="0"/>
                </a:tc>
                <a:tc>
                  <a:txBody>
                    <a:bodyPr/>
                    <a:lstStyle/>
                    <a:p>
                      <a:pPr marL="107950" algn="just">
                        <a:spcAft>
                          <a:spcPts val="0"/>
                        </a:spcAft>
                      </a:pPr>
                      <a:r>
                        <a:rPr lang="ru-RU" sz="1400" spc="-2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Преобразует данные, например, в общий формат, засекречивает и т.д.</a:t>
                      </a:r>
                      <a:endParaRPr lang="ru-RU" sz="1400" spc="-2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536" marR="27536" marT="6355" marB="0"/>
                </a:tc>
                <a:tc>
                  <a:txBody>
                    <a:bodyPr/>
                    <a:lstStyle/>
                    <a:p>
                      <a:pPr marL="180340" algn="just">
                        <a:spcAft>
                          <a:spcPts val="0"/>
                        </a:spcAft>
                      </a:pPr>
                      <a:r>
                        <a:rPr lang="ru-RU" sz="1400" spc="-2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Сообщение (</a:t>
                      </a:r>
                      <a:r>
                        <a:rPr lang="en-US" sz="1400" spc="-2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message)</a:t>
                      </a:r>
                      <a:endParaRPr lang="ru-RU" sz="1400" spc="-2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</a:tr>
              <a:tr h="461868">
                <a:tc>
                  <a:txBody>
                    <a:bodyPr/>
                    <a:lstStyle/>
                    <a:p>
                      <a:pPr marL="180340" algn="just">
                        <a:spcAft>
                          <a:spcPts val="0"/>
                        </a:spcAft>
                      </a:pPr>
                      <a:r>
                        <a:rPr lang="ru-RU" sz="1400" spc="-2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Сеансовый</a:t>
                      </a:r>
                      <a:endParaRPr lang="ru-RU" sz="1400" spc="-2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536" marR="27536" marT="6355" marB="0"/>
                </a:tc>
                <a:tc>
                  <a:txBody>
                    <a:bodyPr/>
                    <a:lstStyle/>
                    <a:p>
                      <a:pPr marL="107950" algn="just">
                        <a:spcAft>
                          <a:spcPts val="0"/>
                        </a:spcAft>
                      </a:pPr>
                      <a:r>
                        <a:rPr lang="ru-RU" sz="1400" spc="-2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Поддержка взаимодействия (сеанса) между процессами</a:t>
                      </a:r>
                      <a:endParaRPr lang="ru-RU" sz="1400" spc="-2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536" marR="27536" marT="6355" marB="0"/>
                </a:tc>
                <a:tc>
                  <a:txBody>
                    <a:bodyPr/>
                    <a:lstStyle/>
                    <a:p>
                      <a:pPr marL="180340" algn="just">
                        <a:spcAft>
                          <a:spcPts val="0"/>
                        </a:spcAft>
                      </a:pPr>
                      <a:r>
                        <a:rPr lang="ru-RU" sz="1400" spc="-2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Сообщение (</a:t>
                      </a:r>
                      <a:r>
                        <a:rPr lang="en-US" sz="1400" spc="-2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message)</a:t>
                      </a:r>
                      <a:endParaRPr lang="ru-RU" sz="1400" spc="-2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</a:tr>
              <a:tr h="868159">
                <a:tc>
                  <a:txBody>
                    <a:bodyPr/>
                    <a:lstStyle/>
                    <a:p>
                      <a:pPr marL="180340" algn="just">
                        <a:spcAft>
                          <a:spcPts val="0"/>
                        </a:spcAft>
                      </a:pPr>
                      <a:r>
                        <a:rPr lang="ru-RU" sz="1400" spc="-2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Транспортный</a:t>
                      </a:r>
                      <a:endParaRPr lang="ru-RU" sz="1400" spc="-2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536" marR="27536" marT="6355" marB="0"/>
                </a:tc>
                <a:tc>
                  <a:txBody>
                    <a:bodyPr/>
                    <a:lstStyle/>
                    <a:p>
                      <a:pPr marL="107950" algn="just">
                        <a:spcAft>
                          <a:spcPts val="0"/>
                        </a:spcAft>
                      </a:pPr>
                      <a:r>
                        <a:rPr lang="ru-RU" sz="1400" spc="-2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Управляет передачей данных по сети, обеспечивает требуемый уровень надежности (исправление ошибок, подтверждение передачи и т.д.)</a:t>
                      </a:r>
                      <a:endParaRPr lang="ru-RU" sz="1400" spc="-2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536" marR="27536" marT="6355" marB="0"/>
                </a:tc>
                <a:tc>
                  <a:txBody>
                    <a:bodyPr/>
                    <a:lstStyle/>
                    <a:p>
                      <a:pPr marL="180340" algn="just">
                        <a:spcAft>
                          <a:spcPts val="0"/>
                        </a:spcAft>
                      </a:pPr>
                      <a:r>
                        <a:rPr lang="ru-RU" sz="1400" spc="-2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Блоки / Дейтаграммы </a:t>
                      </a:r>
                      <a:endParaRPr lang="ru-RU" sz="1400" spc="-20" dirty="0" smtClean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180340" algn="just">
                        <a:spcAft>
                          <a:spcPts val="0"/>
                        </a:spcAft>
                      </a:pPr>
                      <a:r>
                        <a:rPr lang="ru-RU" sz="1400" spc="-2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Разбиение</a:t>
                      </a:r>
                      <a:r>
                        <a:rPr lang="ru-RU" sz="1400" spc="-20" baseline="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сообщения на блоки фактически является </a:t>
                      </a:r>
                      <a:r>
                        <a:rPr lang="ru-RU" sz="1400" spc="-2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началом </a:t>
                      </a:r>
                      <a:r>
                        <a:rPr lang="ru-RU" sz="1400" spc="-2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процесса формирования </a:t>
                      </a:r>
                      <a:r>
                        <a:rPr lang="ru-RU" sz="1400" spc="-2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пакета</a:t>
                      </a:r>
                      <a:endParaRPr lang="ru-RU" sz="1400" spc="-2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</a:tr>
              <a:tr h="940986">
                <a:tc>
                  <a:txBody>
                    <a:bodyPr/>
                    <a:lstStyle/>
                    <a:p>
                      <a:pPr marL="180340" algn="just">
                        <a:spcAft>
                          <a:spcPts val="0"/>
                        </a:spcAft>
                      </a:pPr>
                      <a:r>
                        <a:rPr lang="ru-RU" sz="1400" spc="-2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Сетевой</a:t>
                      </a:r>
                      <a:endParaRPr lang="ru-RU" sz="1400" spc="-2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536" marR="27536" marT="6355" marB="0"/>
                </a:tc>
                <a:tc>
                  <a:txBody>
                    <a:bodyPr/>
                    <a:lstStyle/>
                    <a:p>
                      <a:pPr marL="107950" algn="just">
                        <a:spcAft>
                          <a:spcPts val="0"/>
                        </a:spcAft>
                      </a:pPr>
                      <a:r>
                        <a:rPr lang="ru-RU" sz="1400" spc="-2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Маршрутизация, управление потоками данных, адресации сообщений для доставки, преобразование логических сетевых адресов и имен в соответствующие им физические</a:t>
                      </a:r>
                      <a:endParaRPr lang="ru-RU" sz="1400" spc="-2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536" marR="27536" marT="6355" marB="0"/>
                </a:tc>
                <a:tc>
                  <a:txBody>
                    <a:bodyPr/>
                    <a:lstStyle/>
                    <a:p>
                      <a:pPr marL="180340" algn="just">
                        <a:spcAft>
                          <a:spcPts val="0"/>
                        </a:spcAft>
                      </a:pPr>
                      <a:r>
                        <a:rPr lang="ru-RU" sz="1400" spc="-2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Пакет </a:t>
                      </a:r>
                      <a:r>
                        <a:rPr lang="ru-RU" sz="1400" spc="-2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400" kern="1200" spc="-2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packet</a:t>
                      </a:r>
                      <a:r>
                        <a:rPr lang="ru-RU" sz="1400" spc="-2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ru-RU" sz="1400" spc="-2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</a:tr>
              <a:tr h="613269">
                <a:tc>
                  <a:txBody>
                    <a:bodyPr/>
                    <a:lstStyle/>
                    <a:p>
                      <a:pPr marL="180340" algn="just">
                        <a:spcAft>
                          <a:spcPts val="0"/>
                        </a:spcAft>
                      </a:pPr>
                      <a:r>
                        <a:rPr lang="ru-RU" sz="1400" spc="-2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Канальный</a:t>
                      </a:r>
                      <a:endParaRPr lang="ru-RU" sz="1400" spc="-2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536" marR="27536" marT="6355" marB="0"/>
                </a:tc>
                <a:tc>
                  <a:txBody>
                    <a:bodyPr/>
                    <a:lstStyle/>
                    <a:p>
                      <a:pPr marL="107950" algn="just">
                        <a:spcAft>
                          <a:spcPts val="0"/>
                        </a:spcAft>
                      </a:pPr>
                      <a:r>
                        <a:rPr lang="ru-RU" sz="1400" spc="-2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Управляет формирование кадров (LLC) и доступом к среде (MAC)</a:t>
                      </a:r>
                      <a:endParaRPr lang="ru-RU" sz="1400" spc="-2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536" marR="27536" marT="6355" marB="0"/>
                </a:tc>
                <a:tc>
                  <a:txBody>
                    <a:bodyPr/>
                    <a:lstStyle/>
                    <a:p>
                      <a:pPr marL="180340" algn="just">
                        <a:spcAft>
                          <a:spcPts val="0"/>
                        </a:spcAft>
                      </a:pPr>
                      <a:r>
                        <a:rPr lang="ru-RU" sz="1400" spc="-2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Кадр (</a:t>
                      </a:r>
                      <a:r>
                        <a:rPr lang="en-US" sz="1400" spc="-2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frame)</a:t>
                      </a:r>
                      <a:endParaRPr lang="ru-RU" sz="1400" spc="-2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</a:tr>
              <a:tr h="868159">
                <a:tc>
                  <a:txBody>
                    <a:bodyPr/>
                    <a:lstStyle/>
                    <a:p>
                      <a:pPr marL="180340" algn="just">
                        <a:spcAft>
                          <a:spcPts val="0"/>
                        </a:spcAft>
                      </a:pPr>
                      <a:r>
                        <a:rPr lang="ru-RU" sz="1400" spc="-2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Физический</a:t>
                      </a:r>
                      <a:endParaRPr lang="ru-RU" sz="1400" spc="-2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536" marR="27536" marT="6355" marB="0"/>
                </a:tc>
                <a:tc>
                  <a:txBody>
                    <a:bodyPr/>
                    <a:lstStyle/>
                    <a:p>
                      <a:pPr marL="107950" algn="just">
                        <a:spcAft>
                          <a:spcPts val="0"/>
                        </a:spcAft>
                      </a:pPr>
                      <a:r>
                        <a:rPr lang="ru-RU" sz="1400" spc="-2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Битовые протоколы передачи данных. Передача и приём потока байтов через физическое устройство. Контроль (физический, технический) за процессом передачи</a:t>
                      </a:r>
                      <a:endParaRPr lang="ru-RU" sz="1400" spc="-2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7536" marR="27536" marT="6355" marB="0"/>
                </a:tc>
                <a:tc>
                  <a:txBody>
                    <a:bodyPr/>
                    <a:lstStyle/>
                    <a:p>
                      <a:pPr marL="180340" algn="just">
                        <a:spcAft>
                          <a:spcPts val="0"/>
                        </a:spcAft>
                      </a:pPr>
                      <a:r>
                        <a:rPr lang="ru-RU" sz="1400" spc="-2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 «входе» кадр в виде набора бит данных, на «выходе» – физический сигнал</a:t>
                      </a:r>
                      <a:endParaRPr lang="ru-RU" sz="1400" spc="-2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/>
          </p:cNvSpPr>
          <p:nvPr>
            <p:ph type="title"/>
          </p:nvPr>
        </p:nvSpPr>
        <p:spPr>
          <a:xfrm>
            <a:off x="1040275" y="438149"/>
            <a:ext cx="7200900" cy="1485900"/>
          </a:xfrm>
        </p:spPr>
        <p:txBody>
          <a:bodyPr>
            <a:normAutofit/>
          </a:bodyPr>
          <a:lstStyle/>
          <a:p>
            <a:pPr eaLnBrk="1" hangingPunct="1"/>
            <a:r>
              <a:rPr lang="ru-RU" altLang="ru-RU" sz="3600" b="1" dirty="0" err="1" smtClean="0"/>
              <a:t>Сетезависимые</a:t>
            </a:r>
            <a:r>
              <a:rPr lang="ru-RU" altLang="ru-RU" sz="3600" b="1" dirty="0" smtClean="0"/>
              <a:t> протоколы </a:t>
            </a:r>
            <a:br>
              <a:rPr lang="ru-RU" altLang="ru-RU" sz="3600" b="1" dirty="0" smtClean="0"/>
            </a:br>
            <a:endParaRPr lang="ru-RU" altLang="ru-RU" sz="3600" b="1" dirty="0" smtClean="0"/>
          </a:p>
        </p:txBody>
      </p:sp>
      <p:sp>
        <p:nvSpPr>
          <p:cNvPr id="19459" name="Text Box 4"/>
          <p:cNvSpPr txBox="1">
            <a:spLocks noChangeArrowheads="1"/>
          </p:cNvSpPr>
          <p:nvPr/>
        </p:nvSpPr>
        <p:spPr bwMode="auto">
          <a:xfrm>
            <a:off x="1021425" y="1428750"/>
            <a:ext cx="7561213" cy="1465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indent="457200" algn="just" eaLnBrk="1" hangingPunct="1">
              <a:spcBef>
                <a:spcPct val="50000"/>
              </a:spcBef>
            </a:pPr>
            <a:r>
              <a:rPr lang="ru-RU" altLang="ru-RU" u="sng" dirty="0">
                <a:solidFill>
                  <a:srgbClr val="FF3300"/>
                </a:solidFill>
                <a:latin typeface="Times New Roman" panose="02020603050405020304" pitchFamily="18" charset="0"/>
              </a:rPr>
              <a:t>Три нижних уровня физический, канальный и сетевой</a:t>
            </a:r>
            <a:r>
              <a:rPr lang="ru-RU" altLang="ru-RU" dirty="0">
                <a:latin typeface="Times New Roman" panose="02020603050405020304" pitchFamily="18" charset="0"/>
              </a:rPr>
              <a:t> являются </a:t>
            </a:r>
            <a:r>
              <a:rPr lang="ru-RU" altLang="ru-RU" dirty="0" err="1">
                <a:latin typeface="Times New Roman" panose="02020603050405020304" pitchFamily="18" charset="0"/>
              </a:rPr>
              <a:t>сетезависимыми</a:t>
            </a:r>
            <a:r>
              <a:rPr lang="ru-RU" altLang="ru-RU" dirty="0">
                <a:latin typeface="Times New Roman" panose="02020603050405020304" pitchFamily="18" charset="0"/>
              </a:rPr>
              <a:t>, протоколы этих уровней тесно связаны с технической реализацией сети, с используемым коммуникационным оборудованием. Например, переход на оборудование FDDI означает смену протоколов физического и канального уровня во всех узлах сети.</a:t>
            </a:r>
            <a:r>
              <a:rPr lang="ru-RU" altLang="ru-RU" dirty="0"/>
              <a:t> </a:t>
            </a:r>
            <a:endParaRPr lang="ru-RU" altLang="ru-RU" dirty="0"/>
          </a:p>
        </p:txBody>
      </p:sp>
      <p:sp>
        <p:nvSpPr>
          <p:cNvPr id="19460" name="Text Box 5"/>
          <p:cNvSpPr txBox="1">
            <a:spLocks noChangeArrowheads="1"/>
          </p:cNvSpPr>
          <p:nvPr/>
        </p:nvSpPr>
        <p:spPr bwMode="auto">
          <a:xfrm>
            <a:off x="1619250" y="3141663"/>
            <a:ext cx="6769100" cy="1465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indent="457200" algn="just" eaLnBrk="1" hangingPunct="1">
              <a:spcBef>
                <a:spcPct val="50000"/>
              </a:spcBef>
            </a:pPr>
            <a:r>
              <a:rPr lang="ru-RU" altLang="ru-RU" u="sng" dirty="0">
                <a:solidFill>
                  <a:srgbClr val="FF3300"/>
                </a:solidFill>
                <a:latin typeface="Times New Roman" panose="02020603050405020304" pitchFamily="18" charset="0"/>
              </a:rPr>
              <a:t>Три верхних уровня сеансовый, уровень представления и прикладной</a:t>
            </a:r>
            <a:r>
              <a:rPr lang="ru-RU" altLang="ru-RU" dirty="0">
                <a:latin typeface="Times New Roman" panose="02020603050405020304" pitchFamily="18" charset="0"/>
              </a:rPr>
              <a:t> ориентированы на приложения и мало зависят от технических особенностей построения сети. На протоколы этих уровней не влияют никакие изменения в топологии сети, замена оборудования или переход на другую сетевую технологию. </a:t>
            </a:r>
            <a:endParaRPr lang="ru-RU" altLang="ru-RU" dirty="0">
              <a:latin typeface="Times New Roman" panose="02020603050405020304" pitchFamily="18" charset="0"/>
            </a:endParaRPr>
          </a:p>
        </p:txBody>
      </p:sp>
      <p:sp>
        <p:nvSpPr>
          <p:cNvPr id="19461" name="Text Box 6"/>
          <p:cNvSpPr txBox="1">
            <a:spLocks noChangeArrowheads="1"/>
          </p:cNvSpPr>
          <p:nvPr/>
        </p:nvSpPr>
        <p:spPr bwMode="auto">
          <a:xfrm>
            <a:off x="1021424" y="4941888"/>
            <a:ext cx="7366925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indent="457200" algn="just" eaLnBrk="1" hangingPunct="1">
              <a:spcBef>
                <a:spcPct val="50000"/>
              </a:spcBef>
            </a:pPr>
            <a:r>
              <a:rPr lang="ru-RU" altLang="ru-RU" u="sng" dirty="0">
                <a:solidFill>
                  <a:srgbClr val="FF3300"/>
                </a:solidFill>
                <a:latin typeface="Times New Roman" panose="02020603050405020304" pitchFamily="18" charset="0"/>
              </a:rPr>
              <a:t>Транспортный уровень является промежуточным</a:t>
            </a:r>
            <a:r>
              <a:rPr lang="ru-RU" altLang="ru-RU" dirty="0">
                <a:latin typeface="Times New Roman" panose="02020603050405020304" pitchFamily="18" charset="0"/>
              </a:rPr>
              <a:t>, он скрывает все детали функционирования нижних уровней от верхних уровней. Это позволяет разрабатывать приложения, не зависящие от технических средств, непосредственно занимающихся транспортировкой сообщений. </a:t>
            </a:r>
            <a:endParaRPr lang="ru-RU" altLang="ru-RU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9" grpId="0"/>
      <p:bldP spid="19460" grpId="0"/>
      <p:bldP spid="19461" grpId="0"/>
    </p:bldLst>
  </p:timing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Уголки</Template>
  <TotalTime>0</TotalTime>
  <Words>27932</Words>
  <Application>WPS Presentation</Application>
  <PresentationFormat>Экран (4:3)</PresentationFormat>
  <Paragraphs>434</Paragraphs>
  <Slides>44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44</vt:i4>
      </vt:variant>
    </vt:vector>
  </HeadingPairs>
  <TitlesOfParts>
    <vt:vector size="54" baseType="lpstr">
      <vt:lpstr>Arial</vt:lpstr>
      <vt:lpstr>SimSun</vt:lpstr>
      <vt:lpstr>Wingdings</vt:lpstr>
      <vt:lpstr>Franklin Gothic Book</vt:lpstr>
      <vt:lpstr>Calibri</vt:lpstr>
      <vt:lpstr>Times New Roman</vt:lpstr>
      <vt:lpstr>Symbol</vt:lpstr>
      <vt:lpstr>Microsoft YaHei</vt:lpstr>
      <vt:lpstr>Arial Unicode MS</vt:lpstr>
      <vt:lpstr>Crop</vt:lpstr>
      <vt:lpstr>Семиуровневая модель OSI</vt:lpstr>
      <vt:lpstr>PowerPoint 演示文稿</vt:lpstr>
      <vt:lpstr>PowerPoint 演示文稿</vt:lpstr>
      <vt:lpstr>PowerPoint 演示文稿</vt:lpstr>
      <vt:lpstr>Взаимодействие уровней модели OSI</vt:lpstr>
      <vt:lpstr>Взаимодействие уровней модели OSI</vt:lpstr>
      <vt:lpstr>Взаимодействие уровней модели OSI. Вывод</vt:lpstr>
      <vt:lpstr>Прикладной уровень. Аспекты</vt:lpstr>
      <vt:lpstr>Прикладной уровень</vt:lpstr>
      <vt:lpstr>Прикладной уровень</vt:lpstr>
      <vt:lpstr>PowerPoint 演示文稿</vt:lpstr>
      <vt:lpstr>PowerPoint 演示文稿</vt:lpstr>
      <vt:lpstr>Уровень представления данных. Аспекты</vt:lpstr>
      <vt:lpstr>Уровень представления данных. Аспекты</vt:lpstr>
      <vt:lpstr>Уровень представления данных</vt:lpstr>
      <vt:lpstr>Сеансовый уровень. Аспекты</vt:lpstr>
      <vt:lpstr>Сеансовый уровень. Аспекты</vt:lpstr>
      <vt:lpstr>Сеансовый уровень. Функции</vt:lpstr>
      <vt:lpstr>Сеансовый уровень. Протоколы</vt:lpstr>
      <vt:lpstr>Транспортный уровень. Аспекты </vt:lpstr>
      <vt:lpstr>Транспортный уровень. Аспекты </vt:lpstr>
      <vt:lpstr>Транспортный уровень. Функции </vt:lpstr>
      <vt:lpstr>PowerPoint 演示文稿</vt:lpstr>
      <vt:lpstr>Сетевой уровень. Аспекты</vt:lpstr>
      <vt:lpstr>Сетевой уровень. Аспекты</vt:lpstr>
      <vt:lpstr>Сетевой уровень. Аспекты</vt:lpstr>
      <vt:lpstr>Сетевой уровень. Функции</vt:lpstr>
      <vt:lpstr>Сетевой уровень. Протоколы</vt:lpstr>
      <vt:lpstr>Сетевой уровень. Протоколы</vt:lpstr>
      <vt:lpstr>Канальный уровень. Аспекты</vt:lpstr>
      <vt:lpstr>Канальный уровень. Аспекты</vt:lpstr>
      <vt:lpstr>Канальный уровень. Подуровни</vt:lpstr>
      <vt:lpstr>Канальный уровень. Функции</vt:lpstr>
      <vt:lpstr>Канальный уровень. Протоколы и технологии</vt:lpstr>
      <vt:lpstr>Канальный уровень. Протоколы и технологии</vt:lpstr>
      <vt:lpstr>Физический уровень. Аспекты</vt:lpstr>
      <vt:lpstr>Физический уровень. Аспекты</vt:lpstr>
      <vt:lpstr>Физический уровень. Функции</vt:lpstr>
      <vt:lpstr>Физический уровень. Функции</vt:lpstr>
      <vt:lpstr>Физический уровень. Функции. </vt:lpstr>
      <vt:lpstr>Физический уровень.  Деление на подуровни</vt:lpstr>
      <vt:lpstr>Физический уровень.  Технологии</vt:lpstr>
      <vt:lpstr>PowerPoint 演示文稿</vt:lpstr>
      <vt:lpstr>Сетезависимые протоколы 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Семиуровневая модель OSI</dc:title>
  <dc:creator>DmitriM</dc:creator>
  <cp:lastModifiedBy>Диана Подшивале�</cp:lastModifiedBy>
  <cp:revision>41</cp:revision>
  <dcterms:created xsi:type="dcterms:W3CDTF">2010-10-02T07:20:00Z</dcterms:created>
  <dcterms:modified xsi:type="dcterms:W3CDTF">2024-10-18T17:53:47Z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6BE1E6D815A64909AEBEC3C3E020351B_12</vt:lpwstr>
  </property>
  <property fmtid="{D5CDD505-2E9C-101B-9397-08002B2CF9AE}" pid="3" name="KSOProductBuildVer">
    <vt:lpwstr>1033-12.2.0.18283</vt:lpwstr>
  </property>
</Properties>
</file>
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3" r:id="rId5"/>
    <p:sldId id="257" r:id="rId6"/>
    <p:sldId id="262" r:id="rId7"/>
    <p:sldId id="265" r:id="rId8"/>
    <p:sldId id="266" r:id="rId9"/>
    <p:sldId id="264" r:id="rId10"/>
    <p:sldId id="285" r:id="rId11"/>
    <p:sldId id="267" r:id="rId12"/>
    <p:sldId id="268" r:id="rId13"/>
    <p:sldId id="269" r:id="rId14"/>
    <p:sldId id="270" r:id="rId15"/>
    <p:sldId id="271" r:id="rId16"/>
    <p:sldId id="286" r:id="rId17"/>
    <p:sldId id="272" r:id="rId18"/>
    <p:sldId id="259" r:id="rId19"/>
    <p:sldId id="273" r:id="rId20"/>
    <p:sldId id="287" r:id="rId21"/>
    <p:sldId id="274" r:id="rId22"/>
    <p:sldId id="288" r:id="rId23"/>
    <p:sldId id="275" r:id="rId24"/>
    <p:sldId id="289" r:id="rId25"/>
    <p:sldId id="276" r:id="rId26"/>
    <p:sldId id="277" r:id="rId27"/>
    <p:sldId id="290" r:id="rId28"/>
    <p:sldId id="278" r:id="rId29"/>
    <p:sldId id="279" r:id="rId30"/>
    <p:sldId id="260" r:id="rId31"/>
    <p:sldId id="280" r:id="rId32"/>
    <p:sldId id="281" r:id="rId33"/>
    <p:sldId id="282" r:id="rId34"/>
    <p:sldId id="261" r:id="rId35"/>
    <p:sldId id="283" r:id="rId36"/>
    <p:sldId id="284" r:id="rId37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A48D692-B15D-46F3-80E7-B62303CDE14D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38948C9-04C3-4205-9A87-4AD71231617A}" type="slidenum">
              <a:rPr lang="ru-RU" altLang="ru-RU" smtClean="0"/>
            </a:fld>
            <a:endParaRPr lang="ru-RU" altLang="ru-RU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7CAA7-1C42-4DC6-A44D-8132D99D3F1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DDEFC-D224-4015-8D9B-4458A684F33C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938818-4F77-4B34-915E-A42F912F74A9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FD337FB-270D-4C78-A83D-1FA8A1D05AE7}" type="slidenum">
              <a:rPr lang="ru-RU" altLang="ru-RU" smtClean="0"/>
            </a:fld>
            <a:endParaRPr lang="ru-RU" altLang="ru-RU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C855E-761E-4ACD-994D-61DCB5A9BA68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67B1AA-96E9-4408-BC2E-44876F086EBB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543BCC-2956-405B-B182-82F508A3D332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96A13-5359-4B9F-B3EE-369B02C45854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6BE188-763D-4081-AA90-D83F50F395B9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B0CE4-52FB-4CA9-AC97-4EDBE541AE89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C3A69A-55EF-4807-A803-D8F67D44D37B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C0DF7F-A3C3-4827-9E4A-A61F46C44933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0FF2120-40D9-44E0-9872-55612D1C63D2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59475FF-0345-42F6-A405-EB98D396BC5C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36A13D0-CD1B-4629-A60D-26AAC0765F4B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3C07601-3474-41D8-860E-DFC348B3998D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B5214B-5FC0-486E-9284-56E05233E4DB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BABA4-F7F3-469A-A73F-0399F6630F6E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95FCFD-3B15-45F2-807F-8C5A7334BF91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6811F-7829-4ACD-BDEA-8BAF02CC61CF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03995A9-85DE-4582-93EE-42508E36B14A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A4ECA7A-E512-44A6-8A7D-8AEC34F6ABE4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altLang="ru-RU" sz="6000" smtClean="0"/>
              <a:t>Сетевое оборудование</a:t>
            </a:r>
            <a:endParaRPr lang="ru-RU" altLang="ru-RU" sz="6000" smtClean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560840" cy="863823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адаптеры</a:t>
            </a:r>
            <a:endParaRPr lang="ru-RU" altLang="ru-RU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900113" y="1484313"/>
            <a:ext cx="7704137" cy="5016758"/>
          </a:xfrm>
          <a:prstGeom prst="rect">
            <a:avLst/>
          </a:prstGeom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адаптеры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это сетевое оборудование, обеспечивающее функционирование сети на физическом и канальном уровнях.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Сетевой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адаптер относится к периферийному устройству компьютера, непосредственно взаимодействующему со средой передачи данных, которая прямо или через другое коммуникационное оборудование связывает его с другими компьютерами. Это устройство решает задачи надежного обмена двоичными данными, представленными соответствующими сигналами (электрическими, оптическими и др.), по внешним линиям связи.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любой контроллер компьютера, сетевой адаптер работает под управлением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драйвера операционной системы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 распределение функций между сетевым адаптером и драйвером может изменяться от реализации к реализации.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640017" cy="744066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адаптеры</a:t>
            </a:r>
            <a:endParaRPr lang="ru-RU" altLang="ru-RU" dirty="0" smtClean="0"/>
          </a:p>
        </p:txBody>
      </p:sp>
      <p:sp>
        <p:nvSpPr>
          <p:cNvPr id="4099" name="Прямоугольник 2"/>
          <p:cNvSpPr>
            <a:spLocks noChangeArrowheads="1"/>
          </p:cNvSpPr>
          <p:nvPr/>
        </p:nvSpPr>
        <p:spPr bwMode="auto">
          <a:xfrm>
            <a:off x="1043608" y="860698"/>
            <a:ext cx="7640017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ПК в сети надо правильно установить и настроить сетевой адаптер. Для адаптеров, отвечающих 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стандарту </a:t>
            </a:r>
            <a:r>
              <a:rPr lang="en-US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PnP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plug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настройка производится автоматически. В ином случае необходимо настроить линию 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запроса на прерывание, </a:t>
            </a:r>
            <a:r>
              <a:rPr lang="en-US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IRQ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Request Line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ввода/вывода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address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043608" y="2060848"/>
          <a:ext cx="7848872" cy="4609124"/>
        </p:xfrm>
        <a:graphic>
          <a:graphicData uri="http://schemas.openxmlformats.org/drawingml/2006/table">
            <a:tbl>
              <a:tblPr/>
              <a:tblGrid>
                <a:gridCol w="5544616"/>
                <a:gridCol w="1008112"/>
                <a:gridCol w="1296144"/>
              </a:tblGrid>
              <a:tr h="6480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Стандартное применение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Запрос на прерывание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Диапазон </a:t>
                      </a:r>
                      <a:b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ввода/вывода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3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Системный таймер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IRQ0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6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Клавиатура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6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Вторичный контроллер IRQ или видеокарта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IRQ2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Прерывание от асинхронного последовательного порта СОМ2 и СОМ4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IRQ3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2F0 до 2FF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1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Прерывание от асинхронного последовательного порта СОМ1 и СОМ3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IRQ4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3F0 до 3FF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6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свободен (может быть занят параллельным портом LPT2)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IRQ5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9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флоппи-диска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IRQ6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6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Прерывание от параллельного принтерного порта LPT1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IRQ7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Аппаратный таймер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IRQ8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6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свободен 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IRQ9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370 до 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свободен (может быть занят первичным контроллером SCSI)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IRQ10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4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свободен (может быть занят вторичным контроллером SCSI)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IRQ11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IRQ11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6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Мышь PS/2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IRQ12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IRQ12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5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Прерывание от сопроцессора 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IRQ13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IRQ13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Прерывание от первичного контроллера жесткого диска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IRQ14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IRQ14</a:t>
                      </a:r>
                      <a:endParaRPr kumimoji="0" lang="ru-RU" alt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свободен (может быть занят вторичным контроллером жесткого диска IDE)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IRQ15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IRQ15</a:t>
                      </a:r>
                      <a:endParaRPr kumimoji="0" lang="ru-RU" alt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691" marR="44691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Прямоугольник 1"/>
          <p:cNvSpPr>
            <a:spLocks noChangeArrowheads="1"/>
          </p:cNvSpPr>
          <p:nvPr/>
        </p:nvSpPr>
        <p:spPr bwMode="auto">
          <a:xfrm>
            <a:off x="899592" y="1412875"/>
            <a:ext cx="7560840" cy="3011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400"/>
              </a:spcBef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сетевая карта обнаруживает конфликт, если двум устройствам назначен один и тот же ресурс (запрос на прерывание или адрес ввода/вывода). Сетевые карты поддерживают различные типы сетевых соединений.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400"/>
              </a:spcBef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Физический интерфейс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между самой сетевой картой и сетью называют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трансивером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transceiver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это устройство, которое как получает, так и посылает данные. Трансиверы на сетевых картах могут получать и посылать цифровые и аналоговые сигналы.</a:t>
            </a:r>
            <a:endParaRPr lang="ru-RU" altLang="ru-RU" sz="2000" dirty="0"/>
          </a:p>
        </p:txBody>
      </p:sp>
      <p:sp>
        <p:nvSpPr>
          <p:cNvPr id="5123" name="Заголовок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992690" cy="863823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адаптеры</a:t>
            </a:r>
            <a:endParaRPr lang="ru-RU" alt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914400" y="260648"/>
            <a:ext cx="7258000" cy="908720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Функции сетевых адаптеров</a:t>
            </a:r>
            <a:endParaRPr lang="ru-RU" altLang="ru-RU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043608" y="1341438"/>
            <a:ext cx="7200280" cy="507831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Tx/>
              <a:buAutoNum type="arabicPeriod"/>
            </a:pP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Гальваническая развязка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коаксиальным кабелем, витой парой или оптоволокном.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 (передача) данных.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передаются из ОЗУ ПК в адаптер или из адаптера в память ПК через программируемый канал ввода/вывода, канал прямого доступа или разделяемую память.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Буферизация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согласования скоростей пересылки данных в адаптер или из него со скоростью обмена по сети используются буфера. Во время обработки в сетевом адаптере данные хранятся в буфере. Буфер позволяет адаптеру осуществлять доступ ко всему пакету информации. Использование буферов необходимо для согласования между собой скоростей обработки информации различными компонентами компьютерной сети.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Tx/>
              <a:buAutoNum type="arabicPeriod"/>
            </a:pP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каналу связи.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Набор правил, обеспечивающих доступ к среде передачи. Выявление конфликтных ситуаций и контроль состояния сети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827584" y="116632"/>
            <a:ext cx="7859216" cy="764704"/>
          </a:xfrm>
        </p:spPr>
        <p:txBody>
          <a:bodyPr>
            <a:noAutofit/>
          </a:bodyPr>
          <a:lstStyle/>
          <a:p>
            <a:pPr eaLnBrk="1" hangingPunct="1"/>
            <a:r>
              <a:rPr lang="ru-RU" altLang="ru-RU" sz="3600" b="1" dirty="0" smtClean="0"/>
              <a:t>Функции сетевых адаптеров</a:t>
            </a:r>
            <a:endParaRPr lang="ru-RU" altLang="ru-RU" sz="3600" b="1" dirty="0" smtClean="0"/>
          </a:p>
        </p:txBody>
      </p:sp>
      <p:sp>
        <p:nvSpPr>
          <p:cNvPr id="7171" name="Прямоугольник 1"/>
          <p:cNvSpPr>
            <a:spLocks noChangeArrowheads="1"/>
          </p:cNvSpPr>
          <p:nvPr/>
        </p:nvSpPr>
        <p:spPr bwMode="auto">
          <a:xfrm>
            <a:off x="971600" y="1052513"/>
            <a:ext cx="7488832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Идентификация своего адреса в принимаемом пакете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Физический адрес адаптера может определяться установкой переключателей, храниться  в специальном регистре или прошиваться в ППЗУ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Преобразование параллельного кода в последовательный код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передаче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и из последовательного кода в параллельный при приеме. В режиме передачи данные передаются по каналу связи в последовательном коде.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Кодирование и декодирование данных.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этом этапе должны быть сформированы электрические сигналы, используемые для представления данных. Большинство сетевых адаптеров для этой цели используют 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манчестерское кодирование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Этот метод не требует передачи синхронизирующих сигналов для распознавания единиц и нулей по уровням сигналов, а вместо этого для представления 1 и 0 используется перемена полярности сигнала.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Передача или прием импульсов.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режиме передачи закодированные электрические импульсы данных передаются в кабель (при приеме импульсы направляются на декодирование). </a:t>
            </a: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899592" y="0"/>
            <a:ext cx="7787208" cy="836712"/>
          </a:xfrm>
        </p:spPr>
        <p:txBody>
          <a:bodyPr>
            <a:noAutofit/>
          </a:bodyPr>
          <a:lstStyle/>
          <a:p>
            <a:pPr eaLnBrk="1" hangingPunct="1"/>
            <a:r>
              <a:rPr lang="ru-RU" altLang="ru-RU" sz="3600" b="1" dirty="0" smtClean="0"/>
              <a:t>Принципы сетевых адаптеров</a:t>
            </a:r>
            <a:endParaRPr lang="ru-RU" altLang="ru-RU" sz="3600" b="1" dirty="0" smtClean="0"/>
          </a:p>
        </p:txBody>
      </p:sp>
      <p:sp>
        <p:nvSpPr>
          <p:cNvPr id="8195" name="Прямоугольник 2"/>
          <p:cNvSpPr>
            <a:spLocks noChangeArrowheads="1"/>
          </p:cNvSpPr>
          <p:nvPr/>
        </p:nvSpPr>
        <p:spPr bwMode="auto">
          <a:xfrm>
            <a:off x="899592" y="1341438"/>
            <a:ext cx="7632848" cy="2900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300"/>
              </a:spcBef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адаптеры вместе с сетевым программным обеспечением способны распознавать и обрабатывать некоторые ошибки, которые могут возникнуть из-за электрических помех, коллизий или плохой работы оборудования.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300"/>
              </a:spcBef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современные сетевые адаптеры поддерживают технологию </a:t>
            </a:r>
            <a:r>
              <a:rPr lang="en-US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 and Play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Если сетевую карту установить в компьютер, то при первой загрузке система определит тип адаптера и запросит для него драйверы (либо установит их автоматически).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115616" y="144016"/>
            <a:ext cx="7571184" cy="764704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Типы сетевых адаптеров</a:t>
            </a:r>
            <a:endParaRPr lang="ru-RU" altLang="ru-RU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052513"/>
            <a:ext cx="7344172" cy="5262979"/>
          </a:xfrm>
          <a:prstGeom prst="rect">
            <a:avLst/>
          </a:prstGeom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адаптеры различаются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типу и разрядности используемой в компьютере внутренней шины данных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ISA, PCI, PCI-E.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Сетевые адаптеры также различаются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типу принятой в сети</a:t>
            </a: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 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FDDI и т. п. Как правило, конкретная модель сетевого адаптера работает по определенной сетевой технологии (например,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 связи с тем, что для каждой технологии сейчас имеется возможность использования различных сред передачи данных (тот же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коаксиальный кабель, неэкранированную витую пару и оптоволоконный кабель), сетевой адаптер может поддерживать как одну, так и одновременно несколько сред. </a:t>
            </a:r>
            <a:endParaRPr lang="ru-RU" alt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055878" y="288032"/>
            <a:ext cx="7630922" cy="836712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Типы сетевых адаптеров</a:t>
            </a:r>
            <a:endParaRPr lang="ru-RU" altLang="ru-RU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055878" y="1412776"/>
            <a:ext cx="76327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типы сетевых адаптеров отличаются следующими </a:t>
            </a:r>
            <a:r>
              <a:rPr lang="ru-RU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параметрами:</a:t>
            </a:r>
            <a:endParaRPr lang="ru-RU" sz="24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доступа к среде;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скорость передачи;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объем буфера для пакета;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 шины;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быстродействие шины;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совместимость с различными микропроцессорами;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использование прямого доступа к памяти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адресация портов ввода/вывода и запросов прерывания;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конструкция разъема.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971550" y="167356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Повторители и концентраторы</a:t>
            </a:r>
            <a:endParaRPr lang="ru-RU" altLang="ru-RU" dirty="0" smtClean="0"/>
          </a:p>
        </p:txBody>
      </p:sp>
      <p:sp>
        <p:nvSpPr>
          <p:cNvPr id="10243" name="Прямоугольник 2"/>
          <p:cNvSpPr>
            <a:spLocks noChangeArrowheads="1"/>
          </p:cNvSpPr>
          <p:nvPr/>
        </p:nvSpPr>
        <p:spPr bwMode="auto">
          <a:xfrm>
            <a:off x="971550" y="1628775"/>
            <a:ext cx="73453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функция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повторителя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repeater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следует из его названия, – повторение сигналов, поступающих на его порт. Повторитель улучшает электрические характеристики сигналов и их синхронность, и за счет этого появляется возможность увеличивать общую длину кабеля между самыми удаленными в сети узлами.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848" y="3789040"/>
            <a:ext cx="3504065" cy="161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47732" y="3642990"/>
            <a:ext cx="36242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eaLnBrk="1" hangingPunct="1"/>
            <a:r>
              <a:rPr lang="ru-RU" alt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Многопортовый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повторитель часто называют концентратором (</a:t>
            </a:r>
            <a:r>
              <a:rPr lang="en-US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concentrator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или </a:t>
            </a:r>
            <a:r>
              <a:rPr lang="ru-RU" altLang="ru-RU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хабом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отражает тот факт, что данное устройство реализует не только функцию повторения сигналов, но и концентрирует в одном центральном устройстве функции объединения компьютеров в сеть. 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1089025" y="188640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Повторители и концентраторы</a:t>
            </a:r>
            <a:endParaRPr lang="ru-RU" altLang="ru-RU" dirty="0" smtClean="0"/>
          </a:p>
        </p:txBody>
      </p:sp>
      <p:sp>
        <p:nvSpPr>
          <p:cNvPr id="11267" name="Прямоугольник 4"/>
          <p:cNvSpPr>
            <a:spLocks noChangeArrowheads="1"/>
          </p:cNvSpPr>
          <p:nvPr/>
        </p:nvSpPr>
        <p:spPr bwMode="auto">
          <a:xfrm>
            <a:off x="1093362" y="3717032"/>
            <a:ext cx="722788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Отрезки кабеля, соединяющие два компьютера или какие-либо два других сетевых устройства, называются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физическими сегментами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поэтому концентраторы и повторители, которые используются для добавления новых физических сегментов, являются средством физической (но не логической) структуризации сети.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Прямоугольник 5"/>
          <p:cNvSpPr>
            <a:spLocks noChangeArrowheads="1"/>
          </p:cNvSpPr>
          <p:nvPr/>
        </p:nvSpPr>
        <p:spPr bwMode="auto">
          <a:xfrm>
            <a:off x="1089025" y="1814513"/>
            <a:ext cx="72009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Концентратор представляет собой сетевое устройство, действующее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физическом уровне сетевой модели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188640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/>
              <a:t>Принципы работы концентратора</a:t>
            </a:r>
            <a:endParaRPr lang="ru-RU" sz="3600" dirty="0" smtClean="0"/>
          </a:p>
        </p:txBody>
      </p:sp>
      <p:sp>
        <p:nvSpPr>
          <p:cNvPr id="12291" name="Прямоугольник 2"/>
          <p:cNvSpPr>
            <a:spLocks noChangeArrowheads="1"/>
          </p:cNvSpPr>
          <p:nvPr/>
        </p:nvSpPr>
        <p:spPr bwMode="auto">
          <a:xfrm>
            <a:off x="1028700" y="1700213"/>
            <a:ext cx="728821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Концентратор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устройство, у которого суммарная пропускная способность входных каналов выше пропускной способности выходного канала.</a:t>
            </a:r>
            <a:endParaRPr lang="ru-RU" altLang="ru-RU" sz="2000" dirty="0"/>
          </a:p>
        </p:txBody>
      </p:sp>
      <p:sp>
        <p:nvSpPr>
          <p:cNvPr id="12292" name="Прямоугольник 3"/>
          <p:cNvSpPr>
            <a:spLocks noChangeArrowheads="1"/>
          </p:cNvSpPr>
          <p:nvPr/>
        </p:nvSpPr>
        <p:spPr bwMode="auto">
          <a:xfrm>
            <a:off x="1028700" y="2967038"/>
            <a:ext cx="728821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31800"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потоки входных данных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концентраторе больше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выходного потока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главной его задачей является концентрация данных. При этом возможны ситуации, когда число блоков данных, поступающих на входы концентратора, превышает его возможности.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концентратор ликвидирует часть этих блоков.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3" name="Прямоугольник 6"/>
          <p:cNvSpPr>
            <a:spLocks noChangeArrowheads="1"/>
          </p:cNvSpPr>
          <p:nvPr/>
        </p:nvSpPr>
        <p:spPr bwMode="auto">
          <a:xfrm>
            <a:off x="1028701" y="5157192"/>
            <a:ext cx="72447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Ядром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концентратора является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объединения входной информации чаще всего используется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множественный доступ с разделением времени. </a:t>
            </a:r>
            <a:endParaRPr lang="ru-RU" alt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188640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Принципы работы концентратора</a:t>
            </a:r>
            <a:endParaRPr lang="ru-RU" dirty="0" smtClean="0"/>
          </a:p>
        </p:txBody>
      </p:sp>
      <p:sp>
        <p:nvSpPr>
          <p:cNvPr id="13315" name="Прямоугольник 4"/>
          <p:cNvSpPr>
            <a:spLocks noChangeArrowheads="1"/>
          </p:cNvSpPr>
          <p:nvPr/>
        </p:nvSpPr>
        <p:spPr bwMode="auto">
          <a:xfrm>
            <a:off x="1028700" y="1700213"/>
            <a:ext cx="7215188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Концентраторы образуют из отдельных физических отрезков кабеля общую среду передачи данных – 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логический сегмент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Логический сегмент также называют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доменом коллизий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поскольку при попытке одновременной передачи данных любых двух компьютеров этого сегмента, хотя бы и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принадлежащих разным физическим сегментам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возникает блокировка передающей среды. Следует особо подчеркнуть, что, какую бы сложную структуру ни образовывали концентраторы, например, путем иерархического соединения, все компьютеры, подключенные к ним, образуют единый логический сегмент, в котором любая пара взаимодействующих компьютеров полностью блокирует возможность обмена данными для других компьютеров.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116632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Вспомогательные функции концентратора</a:t>
            </a:r>
            <a:endParaRPr lang="ru-RU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1028700" y="1557338"/>
            <a:ext cx="7323138" cy="4462760"/>
          </a:xfrm>
          <a:prstGeom prst="rect">
            <a:avLst/>
          </a:prstGeom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производители концентраторов реализуют в своих устройствах различные наборы вспомогательных функций, но наиболее часто встречаются следующие: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сегментов с различными физическими средами (например, коаксиал, витая пара и оптоволокно) в единый логический сегмент;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автосегментация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портов – автоматическое отключение порта при его некорректном поведении (повреждение кабеля, интенсивная генерация пакетов ошибочной длины и т. п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116632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Вспомогательные функции концентратора</a:t>
            </a:r>
            <a:endParaRPr lang="ru-RU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1028700" y="1772816"/>
            <a:ext cx="7323138" cy="3877985"/>
          </a:xfrm>
          <a:prstGeom prst="rect">
            <a:avLst/>
          </a:prstGeom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  <a:buFont typeface="Symbol" panose="05050102010706020507" pitchFamily="18" charset="2"/>
              <a:buChar char=""/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 концентраторами резервных связей, которые используются при отказе основных;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800"/>
              </a:spcBef>
              <a:buFont typeface="Symbol" panose="05050102010706020507" pitchFamily="18" charset="2"/>
              <a:buChar char="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передаваемых по сети данных от несанкционированного доступа (например, путем искажения поля данных в кадрах, повторяемых на портах, не содержащих компьютера с адресом назначения);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800"/>
              </a:spcBef>
              <a:buFont typeface="Symbol" panose="05050102010706020507" pitchFamily="18" charset="2"/>
              <a:buChar char="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средств управления сетями – протокола SNMP, баз управляющей информации MIB.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200900" cy="14859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err="1" smtClean="0"/>
              <a:t>Многосегментные</a:t>
            </a:r>
            <a:r>
              <a:rPr lang="ru-RU" b="1" dirty="0" smtClean="0"/>
              <a:t> концентраторы</a:t>
            </a:r>
            <a:endParaRPr lang="ru-RU" dirty="0" smtClean="0"/>
          </a:p>
        </p:txBody>
      </p:sp>
      <p:sp>
        <p:nvSpPr>
          <p:cNvPr id="15363" name="Прямоугольник 3"/>
          <p:cNvSpPr>
            <a:spLocks noChangeArrowheads="1"/>
          </p:cNvSpPr>
          <p:nvPr/>
        </p:nvSpPr>
        <p:spPr bwMode="auto">
          <a:xfrm>
            <a:off x="1043608" y="1772816"/>
            <a:ext cx="730823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Многосегментные</a:t>
            </a: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концентраторы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нужны для создания разделяемых сегментов, состав которых может легко изменяться.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endParaRPr lang="ru-RU" alt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таких концентраторах имеется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несвязанных внутренних шин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предназначены для создания нескольких разделяемых сред. Например, концентратор имеет три внутренние шины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Если в таком концентраторе 72 порта, то каждый из этих портов может быть связан с любой из трех внутренних шин. Между собой компьютеры, подключенные к разным сегментам, общаться через концентратор не могут, так как шины внутри концентратора никак не связаны.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endParaRPr lang="ru-RU" alt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многосегментных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концентраторов позволяют выполнять операцию соединения порта с одной из внутренних шин чисто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программным способом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например, с помощью локального конфигурирования через консольный порт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281868"/>
            <a:ext cx="6661298" cy="798984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16387" name="Прямоугольник 2"/>
          <p:cNvSpPr>
            <a:spLocks noChangeArrowheads="1"/>
          </p:cNvSpPr>
          <p:nvPr/>
        </p:nvSpPr>
        <p:spPr bwMode="auto">
          <a:xfrm>
            <a:off x="1079500" y="1080852"/>
            <a:ext cx="75249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ретрансляционная система, соединяющая каналы передачи данных. </a:t>
            </a:r>
            <a:endParaRPr lang="ru-RU" altLang="ru-RU" sz="2000" dirty="0"/>
          </a:p>
        </p:txBody>
      </p:sp>
      <p:sp>
        <p:nvSpPr>
          <p:cNvPr id="16388" name="Прямоугольник 3"/>
          <p:cNvSpPr>
            <a:spLocks noChangeArrowheads="1"/>
          </p:cNvSpPr>
          <p:nvPr/>
        </p:nvSpPr>
        <p:spPr bwMode="auto">
          <a:xfrm>
            <a:off x="1079499" y="1808163"/>
            <a:ext cx="752494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соответствии с базовой эталонной моделью взаимодействия открытых систем мост описывается протоколами физического и канального уровней, над которыми располагаются канальные процессы. Мост опирается на пару связываемых им физических средств соединения, которые в этой модели представляют физические каналы. </a:t>
            </a:r>
            <a:endParaRPr lang="ru-RU" altLang="ru-RU" sz="2000" dirty="0"/>
          </a:p>
        </p:txBody>
      </p:sp>
      <p:pic>
        <p:nvPicPr>
          <p:cNvPr id="16389" name="Picture 2" descr="R3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942" y="3501008"/>
            <a:ext cx="561657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260648"/>
            <a:ext cx="6840760" cy="792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Мосты</a:t>
            </a:r>
            <a:endParaRPr lang="ru-RU" dirty="0" smtClean="0"/>
          </a:p>
        </p:txBody>
      </p:sp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1187624" y="1166813"/>
            <a:ext cx="7272164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его быстродействующий аналог  </a:t>
            </a: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hub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делят общую среду передачи данных на логические сегменты.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Логический сегмент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образуется путем объединения нескольких физических сегментов (отрезков кабеля) с помощью одного или нескольких концентраторов. Каждый логический сегмент подключается к отдельному порту моста/коммутатора. При поступлении кадра на какой-либо из портов мост/коммутатор повторяет этот кадр, но не на всех портах, как это делает концентратор, а только на том порту, к которому подключен сегмент, содержащий компьютер-адресат.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200900" cy="936104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Мосты</a:t>
            </a:r>
            <a:endParaRPr lang="ru-RU" dirty="0" smtClean="0"/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1043608" y="1700808"/>
            <a:ext cx="707117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Мосты могут соединять сегменты, использующие разные типы носителей, например 10</a:t>
            </a:r>
            <a:r>
              <a:rPr lang="en-US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100BaseT, 1000</a:t>
            </a:r>
            <a:r>
              <a:rPr lang="en-US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(витая пара), 10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(тонкий коаксиальный кабель) и 1000</a:t>
            </a:r>
            <a:r>
              <a:rPr lang="en-US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BaseFX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отповолокно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Они могут соединять сети с разными методами доступа к каналу, например, сети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(метод доступа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CSMA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Ring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(метод доступа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TPMA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295991"/>
            <a:ext cx="7632774" cy="86337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18435" name="Прямоугольник 4"/>
          <p:cNvSpPr>
            <a:spLocks noChangeArrowheads="1"/>
          </p:cNvSpPr>
          <p:nvPr/>
        </p:nvSpPr>
        <p:spPr bwMode="auto">
          <a:xfrm>
            <a:off x="1115616" y="1268413"/>
            <a:ext cx="748863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Мосты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только для связи локальных сетей с глобальными, то есть как средства удаленного доступа, поскольку в этом случае необходимость в параллельной передаче между несколькими парами портов просто не возникает.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8437" name="Объект 5"/>
          <p:cNvGraphicFramePr>
            <a:graphicFrameLocks noChangeAspect="1"/>
          </p:cNvGraphicFramePr>
          <p:nvPr/>
        </p:nvGraphicFramePr>
        <p:xfrm>
          <a:off x="1115616" y="3876080"/>
          <a:ext cx="7581615" cy="1837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Visio" r:id="rId1" imgW="7188200" imgH="1752600" progId="Visio.Drawing.11">
                  <p:embed/>
                </p:oleObj>
              </mc:Choice>
              <mc:Fallback>
                <p:oleObj name="Visio" r:id="rId1" imgW="7188200" imgH="1752600" progId="Visio.Drawing.11">
                  <p:embed/>
                  <p:pic>
                    <p:nvPicPr>
                      <p:cNvPr id="0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contrast="1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876080"/>
                        <a:ext cx="7581615" cy="1837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295991"/>
            <a:ext cx="7632774" cy="86337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38" name="Прямоугольник 6"/>
          <p:cNvSpPr>
            <a:spLocks noChangeArrowheads="1"/>
          </p:cNvSpPr>
          <p:nvPr/>
        </p:nvSpPr>
        <p:spPr bwMode="auto">
          <a:xfrm>
            <a:off x="1115616" y="1628800"/>
            <a:ext cx="7498159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 мосты наделяются дополнительными функциями. Такие мосты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обладают определенным интеллектом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(интеллектом в сетях называют действия, выполняемые устройствами) и фильтруют сквозь себя блоки данных, адресованные абонентским системам, расположенным в той же сети. </a:t>
            </a:r>
            <a:endParaRPr lang="ru-RU" alt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Блоки, проходящие через интеллектуальный мост, дважды проверяются, на входе и выходе. Это позволяет предотвращать появление ошибок внутри моста.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7" y="417513"/>
            <a:ext cx="7488833" cy="779239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1043606" y="1506538"/>
            <a:ext cx="755588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Мосты не имеют механизмов управления потоками блоков данных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оказаться, что входной поток блоков окажется большим, чем выходной. В этом случае мост не справится с обработкой входного потока, и его буферы могут переполняться. Чтобы этого не произошло, избыточные блоки выбрасываются. </a:t>
            </a:r>
            <a:endParaRPr lang="ru-RU" alt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7" y="417513"/>
            <a:ext cx="7488833" cy="779239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1038263" y="1700808"/>
            <a:ext cx="758604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мосты оперируют данными на высоком уровне и имеют совершенно определенное назначение.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Во-первых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они предназначены для соединения сетевых сегментов, имеющих различные физические среды, например, для соединения сегмента с оптоволоконным кабелем и сегмента с коаксиальным кабелем.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Во-вторых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мосты также могут быть использованы для связи сегментов, имеющих различные протоколы низкого уровня (физического и канального).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итоге, наиболее частое использование мостов – соединение глобальной сети с локальной.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0113" y="346869"/>
            <a:ext cx="7869237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Коммутатор</a:t>
            </a:r>
            <a:endParaRPr lang="ru-RU" dirty="0" smtClean="0"/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0484" name="Прямоугольник 5"/>
          <p:cNvSpPr>
            <a:spLocks noChangeArrowheads="1"/>
          </p:cNvSpPr>
          <p:nvPr/>
        </p:nvSpPr>
        <p:spPr bwMode="auto">
          <a:xfrm>
            <a:off x="900113" y="1324743"/>
            <a:ext cx="763232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устройство, осуществляющее выбор одного из возможных вариантов направления передачи данных.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структура коммутатора аналогична структуре моста, т.е. современные коммутаторы оперируют не только на физическом, но и на канальном уровне модели OSI.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11" b="24283"/>
          <a:stretch>
            <a:fillRect/>
          </a:stretch>
        </p:blipFill>
        <p:spPr bwMode="auto">
          <a:xfrm>
            <a:off x="2345531" y="3111560"/>
            <a:ext cx="43815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Прямоугольник 6"/>
          <p:cNvSpPr>
            <a:spLocks noChangeArrowheads="1"/>
          </p:cNvSpPr>
          <p:nvPr/>
        </p:nvSpPr>
        <p:spPr bwMode="auto">
          <a:xfrm>
            <a:off x="900113" y="4934036"/>
            <a:ext cx="763232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В коммуникационной сети коммутатор является ретрансляционной системой (система, предназначенная для передачи данных или преобразования протоколов), обладающей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свойством прозрачности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т. е. коммутация осуществляется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какой-либо обработки данных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7" y="549275"/>
            <a:ext cx="7488833" cy="79149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Коммутатор</a:t>
            </a:r>
            <a:endParaRPr lang="ru-RU" dirty="0" smtClean="0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1508" name="Прямоугольник 2"/>
          <p:cNvSpPr>
            <a:spLocks noChangeArrowheads="1"/>
          </p:cNvSpPr>
          <p:nvPr/>
        </p:nvSpPr>
        <p:spPr bwMode="auto">
          <a:xfrm>
            <a:off x="1043608" y="1628775"/>
            <a:ext cx="742729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имеет буферов и не может накапливать данные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alt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endParaRPr lang="ru-RU" alt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использовании коммутатора скорости передачи сигналов в соединяемых каналах передачи данных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должны быть одинаковыми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Канальные процессы, реализуемые коммутатором, выполняются специальными интегральными схемами.</a:t>
            </a:r>
            <a:endParaRPr lang="ru-RU" alt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7" y="369007"/>
            <a:ext cx="7488834" cy="79149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Коммутатор</a:t>
            </a:r>
            <a:endParaRPr lang="ru-RU" dirty="0" smtClean="0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1509" name="Прямоугольник 3"/>
          <p:cNvSpPr>
            <a:spLocks noChangeArrowheads="1"/>
          </p:cNvSpPr>
          <p:nvPr/>
        </p:nvSpPr>
        <p:spPr bwMode="auto">
          <a:xfrm>
            <a:off x="1043607" y="1628800"/>
            <a:ext cx="748883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 может соединять серверы в кластер и служить основой для объединения нескольких рабочих групп (разных логических сегментов сети). Он направляет пакеты данных между узлами сети. </a:t>
            </a:r>
            <a:endParaRPr lang="ru-RU" alt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коммутируемый сегмент получает доступ к каналу передачи данных без конкуренции и видит только тот трафик, который направляется в его сегмент. Коммутатор должен предоставлять каждому порту возможность соединения с максимальной скоростью без конкуренции со стороны других портов (в отличие от совместно используемого концентратора). </a:t>
            </a:r>
            <a:endParaRPr lang="ru-RU" alt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в коммутаторах имеются один или два высокоскоростных порта, а также хорошие инструментальные средства управления.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9638" y="188640"/>
            <a:ext cx="7859712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Коммутатор</a:t>
            </a:r>
            <a:endParaRPr lang="ru-RU" dirty="0" smtClean="0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532" name="Прямоугольник 5"/>
          <p:cNvSpPr>
            <a:spLocks noChangeArrowheads="1"/>
          </p:cNvSpPr>
          <p:nvPr/>
        </p:nvSpPr>
        <p:spPr bwMode="auto">
          <a:xfrm>
            <a:off x="909638" y="1196752"/>
            <a:ext cx="74898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 локальной сети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 switch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устройство, обеспечивающее взаимодействие сегментов одной либо группы локальных сетей.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3" name="Прямоугольник 6"/>
          <p:cNvSpPr>
            <a:spLocks noChangeArrowheads="1"/>
          </p:cNvSpPr>
          <p:nvPr/>
        </p:nvSpPr>
        <p:spPr bwMode="auto">
          <a:xfrm>
            <a:off x="909638" y="2420714"/>
            <a:ext cx="74898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 локальной сети, как и обычный коммутатор, обеспечивает взаимодействие подключенных к нему локальных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сетей.</a:t>
            </a:r>
            <a:endParaRPr lang="ru-RU" altLang="ru-RU" sz="2000" dirty="0"/>
          </a:p>
        </p:txBody>
      </p:sp>
      <p:sp>
        <p:nvSpPr>
          <p:cNvPr id="22534" name="Rectangle 2"/>
          <p:cNvSpPr>
            <a:spLocks noChangeArrowheads="1"/>
          </p:cNvSpPr>
          <p:nvPr/>
        </p:nvSpPr>
        <p:spPr bwMode="auto">
          <a:xfrm>
            <a:off x="1331913" y="3789363"/>
            <a:ext cx="1086008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2535" name="Объект 8"/>
          <p:cNvGraphicFramePr>
            <a:graphicFrameLocks noChangeAspect="1"/>
          </p:cNvGraphicFramePr>
          <p:nvPr/>
        </p:nvGraphicFramePr>
        <p:xfrm>
          <a:off x="1331913" y="4005064"/>
          <a:ext cx="67087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Visio" r:id="rId1" imgW="6883400" imgH="2298700" progId="Visio.Drawing.11">
                  <p:embed/>
                </p:oleObj>
              </mc:Choice>
              <mc:Fallback>
                <p:oleObj name="Visio" r:id="rId1" imgW="6883400" imgH="2298700" progId="Visio.Drawing.11">
                  <p:embed/>
                  <p:pic>
                    <p:nvPicPr>
                      <p:cNvPr id="0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05064"/>
                        <a:ext cx="67087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6150" y="549275"/>
            <a:ext cx="7823200" cy="7921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Коммутатор и </a:t>
            </a:r>
            <a:r>
              <a:rPr lang="ru-RU" b="1" dirty="0" smtClean="0"/>
              <a:t>мост</a:t>
            </a:r>
            <a:endParaRPr lang="ru-RU" dirty="0" smtClean="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900113" y="2565400"/>
            <a:ext cx="1015523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1331913" y="3789363"/>
            <a:ext cx="1086008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3557" name="Прямоугольник 2"/>
          <p:cNvSpPr>
            <a:spLocks noChangeArrowheads="1"/>
          </p:cNvSpPr>
          <p:nvPr/>
        </p:nvSpPr>
        <p:spPr bwMode="auto">
          <a:xfrm>
            <a:off x="946150" y="1557338"/>
            <a:ext cx="74168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сходство мостов и коммутаторов, ключевая разница между ними состоит в том, что </a:t>
            </a: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 в каждый момент времени может осуществлять передачу кадров только между одной парой портов, а коммутатор одновременно поддерживает потоки данных между всеми своими портами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Другими словами, мост передает кадры последовательно, а коммутатор параллельно.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8" name="Прямоугольник 3"/>
          <p:cNvSpPr>
            <a:spLocks noChangeArrowheads="1"/>
          </p:cNvSpPr>
          <p:nvPr/>
        </p:nvSpPr>
        <p:spPr bwMode="auto">
          <a:xfrm>
            <a:off x="957501" y="4293096"/>
            <a:ext cx="7416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Коммутаторы – это наиболее быстродействующие современные коммуникационные устройства, они позволяют соединять высокоскоростные сегменты без блокирования (уменьшения пропускной способности) межсегментного трафика.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200900" cy="792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Маршрутизатор</a:t>
            </a:r>
            <a:endParaRPr lang="ru-RU" dirty="0" smtClean="0"/>
          </a:p>
        </p:txBody>
      </p:sp>
      <p:pic>
        <p:nvPicPr>
          <p:cNvPr id="24579" name="Picture 2" descr="Marshrutizator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40968"/>
            <a:ext cx="5949950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43608" y="1417638"/>
            <a:ext cx="7344742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ретрансляционная система, соединяющая две коммуникационные сети либо их части.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Каждый маршрутизатор реализует протоколы физического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(1А, 1B), канального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(2А, 2B) и сетевого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(3A, 3B) уровней.</a:t>
            </a:r>
            <a:endParaRPr lang="ru-RU" alt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476672"/>
            <a:ext cx="7200900" cy="86409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Маршрутизатор</a:t>
            </a:r>
            <a:endParaRPr lang="ru-RU" dirty="0" smtClean="0"/>
          </a:p>
        </p:txBody>
      </p:sp>
      <p:sp>
        <p:nvSpPr>
          <p:cNvPr id="25603" name="Прямоугольник 3"/>
          <p:cNvSpPr>
            <a:spLocks noChangeArrowheads="1"/>
          </p:cNvSpPr>
          <p:nvPr/>
        </p:nvSpPr>
        <p:spPr bwMode="auto">
          <a:xfrm>
            <a:off x="1028700" y="1700808"/>
            <a:ext cx="735965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работает с несколькими каналами, направляя в какой-нибудь из них очередной блок данных.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Маршрутизаторы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обмениваются информацией об изменениях структуры сетей, трафике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Благодаря этому, выбирается оптимальный маршрут следования блока данных в разных сетях от абонентской системы-отправителя к системе-получателю. Маршрутизаторы обеспечивают также соединение административно независимых коммуникационных сетей.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14174"/>
            <a:ext cx="7200900" cy="936104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Маршрутизаторы и </a:t>
            </a:r>
            <a:r>
              <a:rPr lang="ru-RU" b="1" dirty="0" smtClean="0"/>
              <a:t>мосты</a:t>
            </a:r>
            <a:endParaRPr lang="ru-RU" dirty="0" smtClean="0"/>
          </a:p>
        </p:txBody>
      </p:sp>
      <p:sp>
        <p:nvSpPr>
          <p:cNvPr id="26627" name="Прямоугольник 2"/>
          <p:cNvSpPr>
            <a:spLocks noChangeArrowheads="1"/>
          </p:cNvSpPr>
          <p:nvPr/>
        </p:nvSpPr>
        <p:spPr bwMode="auto">
          <a:xfrm>
            <a:off x="1115616" y="1269314"/>
            <a:ext cx="7200900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Маршрутизаторы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превосходят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мосты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своей способностью фильтровать и направлять пакеты данных на сети.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маршрутизаторы работают на сетевом уровне, они могут соединять сети, использующие разную сетевую архитектуру, методы доступа к каналам связи и протоколы.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Маршрутизаторы не обладают такой способностью к анализу сообщений как мосты, но зато могут принимать решение о выборе оптимального пути для данных между двумя сетевыми сегментами.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Мосты принимают решение по поводу адресации каждого из поступивших пакетов данных, переправлять его через мост или нет в зависимости от адреса назначения. Маршрутизаторы же выбирают из таблицы маршрутов наилучший для данного пакета.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04664"/>
            <a:ext cx="7200900" cy="86409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 smtClean="0"/>
              <a:t>Маршрутизаторы и </a:t>
            </a:r>
            <a:r>
              <a:rPr lang="ru-RU" b="1" dirty="0" smtClean="0"/>
              <a:t>мосты</a:t>
            </a:r>
            <a:endParaRPr lang="ru-RU" dirty="0" smtClean="0"/>
          </a:p>
        </p:txBody>
      </p:sp>
      <p:sp>
        <p:nvSpPr>
          <p:cNvPr id="27651" name="Прямоугольник 3"/>
          <p:cNvSpPr>
            <a:spLocks noChangeArrowheads="1"/>
          </p:cNvSpPr>
          <p:nvPr/>
        </p:nvSpPr>
        <p:spPr bwMode="auto">
          <a:xfrm>
            <a:off x="1043608" y="1628800"/>
            <a:ext cx="7273305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топологии или протокола уровня доступа к сети не имеет значения для маршрутизаторов, так как они работают на уровень выше, чем мосты (сетевой уровень модели OSI). Маршрутизаторы часто используются для связи между сегментами с одинаковыми протоколами высокого уровня.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отметить, что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маршрутизаторов требуется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и тот же протокол во всех сегментах, с которыми он связан. При связывании сетей с различными протоколами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лучше использовать мосты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управления загруженностью трафика сегмента сети также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использовать мосты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043781" y="279275"/>
            <a:ext cx="7200900" cy="845469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Шлюзы</a:t>
            </a:r>
            <a:endParaRPr lang="ru-RU" altLang="ru-RU" dirty="0" smtClean="0"/>
          </a:p>
        </p:txBody>
      </p:sp>
      <p:pic>
        <p:nvPicPr>
          <p:cNvPr id="28675" name="Picture 2" descr="Shluz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49" y="2204864"/>
            <a:ext cx="5643563" cy="457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Прямоугольник 1"/>
          <p:cNvSpPr>
            <a:spLocks noChangeArrowheads="1"/>
          </p:cNvSpPr>
          <p:nvPr/>
        </p:nvSpPr>
        <p:spPr bwMode="auto">
          <a:xfrm>
            <a:off x="1043781" y="1417638"/>
            <a:ext cx="73445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– ретрансляционная система, обеспечивающая взаимодействие информационных сетей.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>
            <a:spLocks noGrp="1"/>
          </p:cNvSpPr>
          <p:nvPr>
            <p:ph type="title"/>
          </p:nvPr>
        </p:nvSpPr>
        <p:spPr>
          <a:xfrm>
            <a:off x="998538" y="404664"/>
            <a:ext cx="7200900" cy="936104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Шлюзы</a:t>
            </a:r>
            <a:endParaRPr lang="ru-RU" altLang="ru-RU" dirty="0" smtClean="0"/>
          </a:p>
        </p:txBody>
      </p:sp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998538" y="1283559"/>
            <a:ext cx="7488238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наиболее сложной ретрансляционной системой, обеспечивающей взаимодействие сетей с различными наборами протоколов всех семи уровней. В свою очередь, наборы протоколов могут опираться на различные типы физических средств соединения.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тех случаях, когда соединяются информационные сети, в них часть уровней может иметь одни и те же протоколы. Тогда сети соединяются не при помощи шлюза, а на основе более простых ретрансляционных систем, именуемых маршрутизаторами и мостами.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996951" y="4748133"/>
            <a:ext cx="74898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Шлюзы оперируют на верхних уровнях модели OSI (сеансовом, представительском и прикладном) и представляют наиболее развитый метод подсоединения сетевых сегментов и компьютерных сетей.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в сетевых шлюзах возникает при объединении двух систем, имеющих различную архитектуру.</a:t>
            </a:r>
            <a:endParaRPr lang="ru-RU" alt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smtClean="0"/>
              <a:t>Шлюзы</a:t>
            </a:r>
            <a:endParaRPr lang="ru-RU" altLang="ru-RU" smtClean="0"/>
          </a:p>
        </p:txBody>
      </p:sp>
      <p:sp>
        <p:nvSpPr>
          <p:cNvPr id="30723" name="Прямоугольник 1"/>
          <p:cNvSpPr>
            <a:spLocks noChangeArrowheads="1"/>
          </p:cNvSpPr>
          <p:nvPr/>
        </p:nvSpPr>
        <p:spPr bwMode="auto">
          <a:xfrm>
            <a:off x="1042988" y="1844675"/>
            <a:ext cx="72009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шлюза обычно используется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выделенный компьютер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 котором запущено программное обеспечение шлюза и производятся преобразования, позволяющие взаимодействовать нескольким системам в сети.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Другой функцией шлюзов является преобразование протоколов. При получении сообщения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IPX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SPX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клиента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шлюз преобразует сообщения в протокол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17958</Words>
  <Application>WPS Presentation</Application>
  <PresentationFormat>Экран (4:3)</PresentationFormat>
  <Paragraphs>314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SimSun</vt:lpstr>
      <vt:lpstr>Wingdings</vt:lpstr>
      <vt:lpstr>Franklin Gothic Book</vt:lpstr>
      <vt:lpstr>Times New Roman</vt:lpstr>
      <vt:lpstr>Calibri</vt:lpstr>
      <vt:lpstr>Microsoft YaHei</vt:lpstr>
      <vt:lpstr>Arial Unicode MS</vt:lpstr>
      <vt:lpstr>Symbol</vt:lpstr>
      <vt:lpstr>Crop</vt:lpstr>
      <vt:lpstr>Visio.Drawing.11</vt:lpstr>
      <vt:lpstr>Visio.Drawing.11</vt:lpstr>
      <vt:lpstr>Сетевое оборудование</vt:lpstr>
      <vt:lpstr>Сетевые адаптеры</vt:lpstr>
      <vt:lpstr>Сетевые адаптеры</vt:lpstr>
      <vt:lpstr>Сетевые адаптеры</vt:lpstr>
      <vt:lpstr>Функции сетевых адаптеров</vt:lpstr>
      <vt:lpstr>Функции сетевых адаптеров</vt:lpstr>
      <vt:lpstr>Принципы сетевых адаптеров</vt:lpstr>
      <vt:lpstr>Типы сетевых адаптеров</vt:lpstr>
      <vt:lpstr>Типы сетевых адаптеров</vt:lpstr>
      <vt:lpstr>Повторители и концентраторы</vt:lpstr>
      <vt:lpstr>Повторители и концентраторы</vt:lpstr>
      <vt:lpstr>Принципы работы концентратора</vt:lpstr>
      <vt:lpstr>Принципы работы концентратора</vt:lpstr>
      <vt:lpstr>Вспомогательные функции концентратора</vt:lpstr>
      <vt:lpstr>Вспомогательные функции концентратора</vt:lpstr>
      <vt:lpstr>Многосегментные концентраторы</vt:lpstr>
      <vt:lpstr>Мост</vt:lpstr>
      <vt:lpstr>Мосты</vt:lpstr>
      <vt:lpstr>Мосты</vt:lpstr>
      <vt:lpstr>Мост</vt:lpstr>
      <vt:lpstr>Мост</vt:lpstr>
      <vt:lpstr>Мост</vt:lpstr>
      <vt:lpstr>Мост</vt:lpstr>
      <vt:lpstr>Коммутатор</vt:lpstr>
      <vt:lpstr>Коммутатор</vt:lpstr>
      <vt:lpstr>Коммутатор</vt:lpstr>
      <vt:lpstr>Коммутатор</vt:lpstr>
      <vt:lpstr>Коммутатор и мост</vt:lpstr>
      <vt:lpstr>Маршрутизатор</vt:lpstr>
      <vt:lpstr>Маршрутизатор</vt:lpstr>
      <vt:lpstr>Маршрутизаторы и мосты</vt:lpstr>
      <vt:lpstr>Маршрутизаторы и мосты</vt:lpstr>
      <vt:lpstr>Шлюзы</vt:lpstr>
      <vt:lpstr>Шлюзы</vt:lpstr>
      <vt:lpstr>Шлюзы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оборудование</dc:title>
  <dc:creator>Преподаватели</dc:creator>
  <cp:lastModifiedBy>Диана Подшивале�</cp:lastModifiedBy>
  <cp:revision>19</cp:revision>
  <dcterms:created xsi:type="dcterms:W3CDTF">2010-12-18T09:03:00Z</dcterms:created>
  <dcterms:modified xsi:type="dcterms:W3CDTF">2024-12-24T06:52:49Z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11267516ACF3407C8F10315574620672_12</vt:lpwstr>
  </property>
  <property fmtid="{D5CDD505-2E9C-101B-9397-08002B2CF9AE}" pid="3" name="KSOProductBuildVer">
    <vt:lpwstr>1033-12.2.0.19307</vt:lpwstr>
  </property>
</Properties>
</file>
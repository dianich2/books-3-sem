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405" r:id="rId3"/>
    <p:sldId id="435" r:id="rId4"/>
    <p:sldId id="443" r:id="rId5"/>
    <p:sldId id="441" r:id="rId6"/>
    <p:sldId id="437" r:id="rId7"/>
    <p:sldId id="438" r:id="rId8"/>
    <p:sldId id="444" r:id="rId9"/>
    <p:sldId id="439" r:id="rId10"/>
    <p:sldId id="436" r:id="rId11"/>
    <p:sldId id="442" r:id="rId12"/>
    <p:sldId id="440" r:id="rId13"/>
    <p:sldId id="445" r:id="rId14"/>
    <p:sldId id="412" r:id="rId15"/>
    <p:sldId id="413" r:id="rId16"/>
    <p:sldId id="415" r:id="rId17"/>
    <p:sldId id="416" r:id="rId18"/>
    <p:sldId id="417" r:id="rId19"/>
    <p:sldId id="418" r:id="rId20"/>
    <p:sldId id="419" r:id="rId21"/>
    <p:sldId id="421" r:id="rId22"/>
    <p:sldId id="422" r:id="rId23"/>
    <p:sldId id="420" r:id="rId24"/>
    <p:sldId id="423" r:id="rId25"/>
    <p:sldId id="44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60"/>
  </p:normalViewPr>
  <p:slideViewPr>
    <p:cSldViewPr snapToGrid="0">
      <p:cViewPr varScale="1">
        <p:scale>
          <a:sx n="120" d="100"/>
          <a:sy n="120" d="100"/>
        </p:scale>
        <p:origin x="1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C1C69-A0CF-442E-BB10-2D22215100E4}" type="datetimeFigureOut">
              <a:rPr lang="ru-RU" smtClean="0"/>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7CA31A-CAC2-4ADE-B33D-7876F7023925}" type="slidenum">
              <a:rPr lang="ru-RU" smtClean="0"/>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p:cNvSpPr>
            <a:spLocks noGrp="1"/>
          </p:cNvSpPr>
          <p:nvPr>
            <p:ph type="dt" sz="half" idx="10"/>
          </p:nvPr>
        </p:nvSpPr>
        <p:spPr/>
        <p:txBody>
          <a:bodyPr/>
          <a:lstStyle/>
          <a:p>
            <a:fld id="{CFFFA7C5-D9DB-44D1-A5F4-11AC54B42FAF}" type="datetimeFigureOut">
              <a:rPr lang="en-US" smtClean="0"/>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Объект 2"/>
          <p:cNvSpPr>
            <a:spLocks noGrp="1"/>
          </p:cNvSpPr>
          <p:nvPr>
            <p:ph idx="1"/>
          </p:nvPr>
        </p:nvSpPr>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Дата 3"/>
          <p:cNvSpPr>
            <a:spLocks noGrp="1"/>
          </p:cNvSpPr>
          <p:nvPr>
            <p:ph type="dt" sz="half" idx="10"/>
          </p:nvPr>
        </p:nvSpPr>
        <p:spPr/>
        <p:txBody>
          <a:bodyPr/>
          <a:lstStyle/>
          <a:p>
            <a:fld id="{CFFFA7C5-D9DB-44D1-A5F4-11AC54B42FAF}" type="datetimeFigureOut">
              <a:rPr lang="en-US" smtClean="0"/>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endParaRPr lang="ru-RU"/>
          </a:p>
        </p:txBody>
      </p:sp>
      <p:sp>
        <p:nvSpPr>
          <p:cNvPr id="4" name="Дата 3"/>
          <p:cNvSpPr>
            <a:spLocks noGrp="1"/>
          </p:cNvSpPr>
          <p:nvPr>
            <p:ph type="dt" sz="half" idx="10"/>
          </p:nvPr>
        </p:nvSpPr>
        <p:spPr/>
        <p:txBody>
          <a:bodyPr/>
          <a:lstStyle/>
          <a:p>
            <a:fld id="{CFFFA7C5-D9DB-44D1-A5F4-11AC54B42FAF}" type="datetimeFigureOut">
              <a:rPr lang="en-US" smtClean="0"/>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5" name="Дата 4"/>
          <p:cNvSpPr>
            <a:spLocks noGrp="1"/>
          </p:cNvSpPr>
          <p:nvPr>
            <p:ph type="dt" sz="half" idx="10"/>
          </p:nvPr>
        </p:nvSpPr>
        <p:spPr/>
        <p:txBody>
          <a:bodyPr/>
          <a:lstStyle/>
          <a:p>
            <a:fld id="{CFFFA7C5-D9DB-44D1-A5F4-11AC54B42FAF}" type="datetimeFigureOut">
              <a:rPr lang="en-US" smtClean="0"/>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endParaRPr lang="ru-RU"/>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endParaRPr lang="ru-RU"/>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7" name="Дата 6"/>
          <p:cNvSpPr>
            <a:spLocks noGrp="1"/>
          </p:cNvSpPr>
          <p:nvPr>
            <p:ph type="dt" sz="half" idx="10"/>
          </p:nvPr>
        </p:nvSpPr>
        <p:spPr/>
        <p:txBody>
          <a:bodyPr/>
          <a:lstStyle/>
          <a:p>
            <a:fld id="{CFFFA7C5-D9DB-44D1-A5F4-11AC54B42FAF}" type="datetimeFigureOut">
              <a:rPr lang="en-US" smtClean="0"/>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Дата 2"/>
          <p:cNvSpPr>
            <a:spLocks noGrp="1"/>
          </p:cNvSpPr>
          <p:nvPr>
            <p:ph type="dt" sz="half" idx="10"/>
          </p:nvPr>
        </p:nvSpPr>
        <p:spPr/>
        <p:txBody>
          <a:bodyPr/>
          <a:lstStyle/>
          <a:p>
            <a:fld id="{CFFFA7C5-D9DB-44D1-A5F4-11AC54B42FAF}" type="datetimeFigureOut">
              <a:rPr lang="en-US" smtClean="0"/>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FFFA7C5-D9DB-44D1-A5F4-11AC54B42FAF}" type="datetimeFigureOut">
              <a:rPr lang="en-US" smtClean="0"/>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endParaRPr lang="ru-RU"/>
          </a:p>
        </p:txBody>
      </p:sp>
      <p:sp>
        <p:nvSpPr>
          <p:cNvPr id="5" name="Дата 4"/>
          <p:cNvSpPr>
            <a:spLocks noGrp="1"/>
          </p:cNvSpPr>
          <p:nvPr>
            <p:ph type="dt" sz="half" idx="10"/>
          </p:nvPr>
        </p:nvSpPr>
        <p:spPr/>
        <p:txBody>
          <a:bodyPr/>
          <a:lstStyle/>
          <a:p>
            <a:fld id="{CFFFA7C5-D9DB-44D1-A5F4-11AC54B42FAF}" type="datetimeFigureOut">
              <a:rPr lang="en-US" smtClean="0"/>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endParaRPr lang="ru-RU"/>
          </a:p>
        </p:txBody>
      </p:sp>
      <p:sp>
        <p:nvSpPr>
          <p:cNvPr id="5" name="Дата 4"/>
          <p:cNvSpPr>
            <a:spLocks noGrp="1"/>
          </p:cNvSpPr>
          <p:nvPr>
            <p:ph type="dt" sz="half" idx="10"/>
          </p:nvPr>
        </p:nvSpPr>
        <p:spPr/>
        <p:txBody>
          <a:bodyPr/>
          <a:lstStyle/>
          <a:p>
            <a:fld id="{CFFFA7C5-D9DB-44D1-A5F4-11AC54B42FAF}" type="datetimeFigureOut">
              <a:rPr lang="en-US" smtClean="0"/>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Дата 3"/>
          <p:cNvSpPr>
            <a:spLocks noGrp="1"/>
          </p:cNvSpPr>
          <p:nvPr>
            <p:ph type="dt" sz="half" idx="10"/>
          </p:nvPr>
        </p:nvSpPr>
        <p:spPr/>
        <p:txBody>
          <a:bodyPr/>
          <a:lstStyle/>
          <a:p>
            <a:fld id="{CFFFA7C5-D9DB-44D1-A5F4-11AC54B42FAF}" type="datetimeFigureOut">
              <a:rPr lang="en-US" smtClean="0"/>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Дата 3"/>
          <p:cNvSpPr>
            <a:spLocks noGrp="1"/>
          </p:cNvSpPr>
          <p:nvPr>
            <p:ph type="dt" sz="half" idx="10"/>
          </p:nvPr>
        </p:nvSpPr>
        <p:spPr/>
        <p:txBody>
          <a:bodyPr/>
          <a:lstStyle/>
          <a:p>
            <a:fld id="{CFFFA7C5-D9DB-44D1-A5F4-11AC54B42FAF}" type="datetimeFigureOut">
              <a:rPr lang="en-US" smtClean="0"/>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EB2ADE65-4CEA-4805-B08F-22E9AA10E43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FFA7C5-D9DB-44D1-A5F4-11AC54B42FAF}" type="datetimeFigureOut">
              <a:rPr lang="en-US" smtClean="0"/>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ADE65-4CEA-4805-B08F-22E9AA10E43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77562" y="3133534"/>
            <a:ext cx="5236883" cy="590931"/>
          </a:xfrm>
          <a:prstGeom prst="rect">
            <a:avLst/>
          </a:prstGeom>
        </p:spPr>
        <p:txBody>
          <a:bodyPr wrap="none">
            <a:spAutoFit/>
          </a:bodyPr>
          <a:lstStyle/>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«Жадные» алгоритмы</a:t>
            </a:r>
            <a:endParaRPr lang="ru-RU" sz="36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94414" y="774071"/>
            <a:ext cx="10803172" cy="923330"/>
          </a:xfrm>
          <a:prstGeom prst="rect">
            <a:avLst/>
          </a:prstGeom>
        </p:spPr>
        <p:txBody>
          <a:bodyPr wrap="square">
            <a:spAutoFit/>
          </a:bodyPr>
          <a:lstStyle/>
          <a:p>
            <a:pPr algn="just"/>
            <a:r>
              <a:rPr lang="ru-RU" b="1" u="sng" dirty="0"/>
              <a:t>Жадные алгоритмы </a:t>
            </a:r>
            <a:r>
              <a:rPr lang="ru-RU" dirty="0"/>
              <a:t>– это алгоритмы, склонные добиваться сиюминутного вознаграждения. Они делают выбор, который является </a:t>
            </a:r>
            <a:r>
              <a:rPr lang="ru-RU" i="1" dirty="0"/>
              <a:t>локально оптимальным</a:t>
            </a:r>
            <a:r>
              <a:rPr lang="ru-RU" dirty="0"/>
              <a:t>, надеясь, что в конце они придут к </a:t>
            </a:r>
            <a:r>
              <a:rPr lang="ru-RU" i="1" dirty="0"/>
              <a:t>глобальному оптимуму</a:t>
            </a:r>
            <a:r>
              <a:rPr lang="ru-RU" dirty="0"/>
              <a:t>. </a:t>
            </a:r>
            <a:endParaRPr lang="ru-RU" dirty="0"/>
          </a:p>
        </p:txBody>
      </p:sp>
      <p:sp>
        <p:nvSpPr>
          <p:cNvPr id="3" name="Прямоугольник 2"/>
          <p:cNvSpPr/>
          <p:nvPr/>
        </p:nvSpPr>
        <p:spPr>
          <a:xfrm>
            <a:off x="694412" y="2898216"/>
            <a:ext cx="11025809" cy="1200329"/>
          </a:xfrm>
          <a:prstGeom prst="rect">
            <a:avLst/>
          </a:prstGeom>
        </p:spPr>
        <p:txBody>
          <a:bodyPr wrap="square">
            <a:spAutoFit/>
          </a:bodyPr>
          <a:lstStyle/>
          <a:p>
            <a:pPr algn="just"/>
            <a:r>
              <a:rPr lang="ru-RU" b="1" u="sng" dirty="0"/>
              <a:t>Примером</a:t>
            </a:r>
            <a:r>
              <a:rPr lang="ru-RU" dirty="0"/>
              <a:t> жадной процедуры является  отсчитывание  сдачи  продавщицей  в  круглосуточном  мини-маркете. Для того чтобы использовать как можно меньше монет, продавщица как можно дольше выдает монеты самого высокого номинала, переходя к следующему более низкому номиналу, когда это уже невозможно, и повторяет все сначала.</a:t>
            </a:r>
            <a:endParaRPr lang="ru-RU" dirty="0"/>
          </a:p>
        </p:txBody>
      </p:sp>
      <p:sp>
        <p:nvSpPr>
          <p:cNvPr id="4" name="Прямоугольник 3"/>
          <p:cNvSpPr/>
          <p:nvPr/>
        </p:nvSpPr>
        <p:spPr>
          <a:xfrm>
            <a:off x="694412" y="1974643"/>
            <a:ext cx="11025809" cy="646331"/>
          </a:xfrm>
          <a:prstGeom prst="rect">
            <a:avLst/>
          </a:prstGeom>
        </p:spPr>
        <p:txBody>
          <a:bodyPr wrap="square">
            <a:spAutoFit/>
          </a:bodyPr>
          <a:lstStyle/>
          <a:p>
            <a:r>
              <a:rPr lang="ru-RU" b="1" u="sng" dirty="0"/>
              <a:t>Жадность</a:t>
            </a:r>
            <a:r>
              <a:rPr lang="ru-RU" dirty="0"/>
              <a:t> – это простая стратегия, которая хорошо работает с некоторыми вычислительными задачами, но оказывается безуспешной с другими. </a:t>
            </a:r>
            <a:endParaRPr lang="ru-RU" dirty="0"/>
          </a:p>
        </p:txBody>
      </p:sp>
      <p:sp>
        <p:nvSpPr>
          <p:cNvPr id="5" name="Прямоугольник 4"/>
          <p:cNvSpPr/>
          <p:nvPr/>
        </p:nvSpPr>
        <p:spPr>
          <a:xfrm>
            <a:off x="694412" y="4375787"/>
            <a:ext cx="11113275" cy="923330"/>
          </a:xfrm>
          <a:prstGeom prst="rect">
            <a:avLst/>
          </a:prstGeom>
        </p:spPr>
        <p:txBody>
          <a:bodyPr wrap="square">
            <a:spAutoFit/>
          </a:bodyPr>
          <a:lstStyle/>
          <a:p>
            <a:pPr algn="just"/>
            <a:r>
              <a:rPr lang="ru-RU" dirty="0"/>
              <a:t>В случае отсчитывания наличных, если у нас есть монеты номиналом 1, 5, 25, жадная процедура всегда производит наименьшее возможное число монет, но то же самое не верно для 1, 10, 25. Попробуйте выдать 30, которые жадно составят 25, 1, 1, 1, 1, 1, тогда как оптимальным будет 10, 10, 10.</a:t>
            </a:r>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75861" y="1305342"/>
            <a:ext cx="11100021" cy="3693319"/>
          </a:xfrm>
          <a:prstGeom prst="rect">
            <a:avLst/>
          </a:prstGeom>
        </p:spPr>
        <p:txBody>
          <a:bodyPr wrap="square">
            <a:spAutoFit/>
          </a:bodyPr>
          <a:lstStyle/>
          <a:p>
            <a:r>
              <a:rPr lang="ru-RU" b="1" dirty="0">
                <a:solidFill>
                  <a:srgbClr val="000000"/>
                </a:solidFill>
                <a:latin typeface="Arial" panose="020B0604020202020204" pitchFamily="34" charset="0"/>
              </a:rPr>
              <a:t>Принцип жадного выбора</a:t>
            </a:r>
            <a:endParaRPr lang="ru-RU" b="1" dirty="0">
              <a:solidFill>
                <a:srgbClr val="000000"/>
              </a:solidFill>
              <a:latin typeface="Arial" panose="020B0604020202020204" pitchFamily="34" charset="0"/>
            </a:endParaRPr>
          </a:p>
          <a:p>
            <a:endParaRPr lang="ru-RU" b="1" dirty="0">
              <a:solidFill>
                <a:srgbClr val="54595D"/>
              </a:solidFill>
              <a:latin typeface="Arial" panose="020B0604020202020204" pitchFamily="34" charset="0"/>
            </a:endParaRPr>
          </a:p>
          <a:p>
            <a:pPr algn="just"/>
            <a:r>
              <a:rPr lang="ru-RU" dirty="0">
                <a:solidFill>
                  <a:srgbClr val="202122"/>
                </a:solidFill>
                <a:latin typeface="Arial" panose="020B0604020202020204" pitchFamily="34" charset="0"/>
              </a:rPr>
              <a:t>Говорят, что к оптимизационной задаче применим </a:t>
            </a:r>
            <a:r>
              <a:rPr lang="ru-RU" b="1" dirty="0">
                <a:solidFill>
                  <a:srgbClr val="202122"/>
                </a:solidFill>
                <a:latin typeface="Arial" panose="020B0604020202020204" pitchFamily="34" charset="0"/>
              </a:rPr>
              <a:t>принцип жадного выбора</a:t>
            </a:r>
            <a:r>
              <a:rPr lang="ru-RU" dirty="0">
                <a:solidFill>
                  <a:srgbClr val="202122"/>
                </a:solidFill>
                <a:latin typeface="Arial" panose="020B0604020202020204" pitchFamily="34" charset="0"/>
              </a:rPr>
              <a:t>, если последовательность локально оптимальных выборов даёт глобально оптимальное решение. В типичном случае доказательство оптимальности следует такой схеме:</a:t>
            </a:r>
            <a:endParaRPr lang="ru-RU" dirty="0">
              <a:solidFill>
                <a:srgbClr val="202122"/>
              </a:solidFill>
              <a:latin typeface="Arial" panose="020B0604020202020204" pitchFamily="34" charset="0"/>
            </a:endParaRPr>
          </a:p>
          <a:p>
            <a:endParaRPr lang="ru-RU" dirty="0">
              <a:solidFill>
                <a:srgbClr val="202122"/>
              </a:solidFill>
              <a:latin typeface="Arial" panose="020B0604020202020204" pitchFamily="34" charset="0"/>
            </a:endParaRPr>
          </a:p>
          <a:p>
            <a:pPr>
              <a:buFont typeface="+mj-lt"/>
              <a:buAutoNum type="arabicPeriod"/>
            </a:pPr>
            <a:r>
              <a:rPr lang="ru-RU" dirty="0">
                <a:solidFill>
                  <a:srgbClr val="202122"/>
                </a:solidFill>
                <a:latin typeface="Arial" panose="020B0604020202020204" pitchFamily="34" charset="0"/>
              </a:rPr>
              <a:t>Доказывается, что жадный выбор на первом шаге не закрывает пути к оптимальному решению: для всякого решения есть другое, согласованное с жадным выбором и не хуже первого.</a:t>
            </a:r>
            <a:endParaRPr lang="ru-RU" dirty="0">
              <a:solidFill>
                <a:srgbClr val="202122"/>
              </a:solidFill>
              <a:latin typeface="Arial" panose="020B0604020202020204" pitchFamily="34" charset="0"/>
            </a:endParaRPr>
          </a:p>
          <a:p>
            <a:pPr>
              <a:buFont typeface="+mj-lt"/>
              <a:buAutoNum type="arabicPeriod"/>
            </a:pPr>
            <a:endParaRPr lang="ru-RU" dirty="0">
              <a:solidFill>
                <a:srgbClr val="202122"/>
              </a:solidFill>
              <a:latin typeface="Arial" panose="020B0604020202020204" pitchFamily="34" charset="0"/>
            </a:endParaRPr>
          </a:p>
          <a:p>
            <a:pPr>
              <a:buFont typeface="+mj-lt"/>
              <a:buAutoNum type="arabicPeriod"/>
            </a:pPr>
            <a:r>
              <a:rPr lang="ru-RU" dirty="0">
                <a:solidFill>
                  <a:srgbClr val="202122"/>
                </a:solidFill>
                <a:latin typeface="Arial" panose="020B0604020202020204" pitchFamily="34" charset="0"/>
              </a:rPr>
              <a:t>Показывается, что подзадача, возникающая после жадного выбора на первом шаге, аналогична исходной.</a:t>
            </a:r>
            <a:endParaRPr lang="ru-RU" dirty="0">
              <a:solidFill>
                <a:srgbClr val="202122"/>
              </a:solidFill>
              <a:latin typeface="Arial" panose="020B0604020202020204" pitchFamily="34" charset="0"/>
            </a:endParaRPr>
          </a:p>
          <a:p>
            <a:pPr>
              <a:buFont typeface="+mj-lt"/>
              <a:buAutoNum type="arabicPeriod"/>
            </a:pPr>
            <a:endParaRPr lang="ru-RU" dirty="0">
              <a:solidFill>
                <a:srgbClr val="202122"/>
              </a:solidFill>
              <a:latin typeface="Arial" panose="020B0604020202020204" pitchFamily="34" charset="0"/>
            </a:endParaRPr>
          </a:p>
          <a:p>
            <a:pPr>
              <a:buFont typeface="+mj-lt"/>
              <a:buAutoNum type="arabicPeriod"/>
            </a:pPr>
            <a:r>
              <a:rPr lang="ru-RU" dirty="0">
                <a:solidFill>
                  <a:srgbClr val="202122"/>
                </a:solidFill>
                <a:latin typeface="Arial" panose="020B0604020202020204" pitchFamily="34" charset="0"/>
              </a:rPr>
              <a:t>Рассуждение завершается </a:t>
            </a:r>
            <a:r>
              <a:rPr lang="ru-RU" dirty="0">
                <a:latin typeface="Arial" panose="020B0604020202020204" pitchFamily="34" charset="0"/>
              </a:rPr>
              <a:t>по индукции.</a:t>
            </a:r>
            <a:endParaRPr lang="ru-RU" i="0" dirty="0">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247863" y="2845763"/>
            <a:ext cx="7696273" cy="1166473"/>
          </a:xfrm>
          <a:prstGeom prst="rect">
            <a:avLst/>
          </a:prstGeom>
        </p:spPr>
        <p:txBody>
          <a:bodyPr wrap="none">
            <a:spAutoFit/>
          </a:bodyPr>
          <a:lstStyle/>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«Жадные» алгоритмы.</a:t>
            </a:r>
            <a:endParaRPr lang="ru-RU" sz="3600" b="1" dirty="0">
              <a:latin typeface="Arial" panose="020B0604020202020204" pitchFamily="34" charset="0"/>
              <a:cs typeface="Arial" panose="020B0604020202020204" pitchFamily="34" charset="0"/>
              <a:sym typeface="Comic Sans MS" panose="030F0702030302020204"/>
            </a:endParaRPr>
          </a:p>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Задача составления расписания</a:t>
            </a:r>
            <a:endParaRPr lang="ru-RU" sz="36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1"/>
          <a:stretch>
            <a:fillRect/>
          </a:stretch>
        </p:blipFill>
        <p:spPr>
          <a:xfrm>
            <a:off x="885991" y="1871662"/>
            <a:ext cx="3295650" cy="3114675"/>
          </a:xfrm>
          <a:prstGeom prst="rect">
            <a:avLst/>
          </a:prstGeom>
        </p:spPr>
      </p:pic>
      <p:pic>
        <p:nvPicPr>
          <p:cNvPr id="4" name="Рисунок 3"/>
          <p:cNvPicPr>
            <a:picLocks noChangeAspect="1"/>
          </p:cNvPicPr>
          <p:nvPr/>
        </p:nvPicPr>
        <p:blipFill>
          <a:blip r:embed="rId2"/>
          <a:stretch>
            <a:fillRect/>
          </a:stretch>
        </p:blipFill>
        <p:spPr>
          <a:xfrm>
            <a:off x="4424198" y="1871662"/>
            <a:ext cx="7172325" cy="335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0" y="904750"/>
            <a:ext cx="3524250" cy="3076575"/>
          </a:xfrm>
          <a:prstGeom prst="rect">
            <a:avLst/>
          </a:prstGeom>
        </p:spPr>
      </p:pic>
      <p:pic>
        <p:nvPicPr>
          <p:cNvPr id="3" name="Рисунок 2"/>
          <p:cNvPicPr>
            <a:picLocks noChangeAspect="1"/>
          </p:cNvPicPr>
          <p:nvPr/>
        </p:nvPicPr>
        <p:blipFill>
          <a:blip r:embed="rId2"/>
          <a:stretch>
            <a:fillRect/>
          </a:stretch>
        </p:blipFill>
        <p:spPr>
          <a:xfrm>
            <a:off x="3509879" y="904750"/>
            <a:ext cx="3990975" cy="3276600"/>
          </a:xfrm>
          <a:prstGeom prst="rect">
            <a:avLst/>
          </a:prstGeom>
        </p:spPr>
      </p:pic>
      <p:pic>
        <p:nvPicPr>
          <p:cNvPr id="4" name="Рисунок 3"/>
          <p:cNvPicPr>
            <a:picLocks noChangeAspect="1"/>
          </p:cNvPicPr>
          <p:nvPr/>
        </p:nvPicPr>
        <p:blipFill>
          <a:blip r:embed="rId3"/>
          <a:stretch>
            <a:fillRect/>
          </a:stretch>
        </p:blipFill>
        <p:spPr>
          <a:xfrm>
            <a:off x="7364150" y="930592"/>
            <a:ext cx="4229100" cy="3267075"/>
          </a:xfrm>
          <a:prstGeom prst="rect">
            <a:avLst/>
          </a:prstGeom>
        </p:spPr>
      </p:pic>
      <p:pic>
        <p:nvPicPr>
          <p:cNvPr id="5" name="Рисунок 4"/>
          <p:cNvPicPr>
            <a:picLocks noChangeAspect="1"/>
          </p:cNvPicPr>
          <p:nvPr/>
        </p:nvPicPr>
        <p:blipFill>
          <a:blip r:embed="rId4"/>
          <a:stretch>
            <a:fillRect/>
          </a:stretch>
        </p:blipFill>
        <p:spPr>
          <a:xfrm>
            <a:off x="2331554" y="4530835"/>
            <a:ext cx="6972300" cy="158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395003" y="2845763"/>
            <a:ext cx="5401992" cy="1166473"/>
          </a:xfrm>
          <a:prstGeom prst="rect">
            <a:avLst/>
          </a:prstGeom>
        </p:spPr>
        <p:txBody>
          <a:bodyPr wrap="none">
            <a:spAutoFit/>
          </a:bodyPr>
          <a:lstStyle/>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«Жадные» алгоритмы.</a:t>
            </a:r>
            <a:endParaRPr lang="ru-RU" sz="3600" b="1" dirty="0">
              <a:latin typeface="Arial" panose="020B0604020202020204" pitchFamily="34" charset="0"/>
              <a:cs typeface="Arial" panose="020B0604020202020204" pitchFamily="34" charset="0"/>
              <a:sym typeface="Comic Sans MS" panose="030F0702030302020204"/>
            </a:endParaRPr>
          </a:p>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Задача о рюкзаке</a:t>
            </a:r>
            <a:endParaRPr lang="ru-RU" sz="36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390607" y="1581150"/>
            <a:ext cx="2352675" cy="2238375"/>
          </a:xfrm>
          <a:prstGeom prst="rect">
            <a:avLst/>
          </a:prstGeom>
        </p:spPr>
      </p:pic>
      <p:pic>
        <p:nvPicPr>
          <p:cNvPr id="3" name="Рисунок 2"/>
          <p:cNvPicPr>
            <a:picLocks noChangeAspect="1"/>
          </p:cNvPicPr>
          <p:nvPr/>
        </p:nvPicPr>
        <p:blipFill>
          <a:blip r:embed="rId2"/>
          <a:stretch>
            <a:fillRect/>
          </a:stretch>
        </p:blipFill>
        <p:spPr>
          <a:xfrm>
            <a:off x="3860855" y="0"/>
            <a:ext cx="2705100" cy="3276600"/>
          </a:xfrm>
          <a:prstGeom prst="rect">
            <a:avLst/>
          </a:prstGeom>
        </p:spPr>
      </p:pic>
      <p:pic>
        <p:nvPicPr>
          <p:cNvPr id="4" name="Рисунок 3"/>
          <p:cNvPicPr>
            <a:picLocks noChangeAspect="1"/>
          </p:cNvPicPr>
          <p:nvPr/>
        </p:nvPicPr>
        <p:blipFill>
          <a:blip r:embed="rId3"/>
          <a:stretch>
            <a:fillRect/>
          </a:stretch>
        </p:blipFill>
        <p:spPr>
          <a:xfrm>
            <a:off x="6096000" y="0"/>
            <a:ext cx="2066925" cy="3057525"/>
          </a:xfrm>
          <a:prstGeom prst="rect">
            <a:avLst/>
          </a:prstGeom>
        </p:spPr>
      </p:pic>
      <p:pic>
        <p:nvPicPr>
          <p:cNvPr id="5" name="Рисунок 4"/>
          <p:cNvPicPr>
            <a:picLocks noChangeAspect="1"/>
          </p:cNvPicPr>
          <p:nvPr/>
        </p:nvPicPr>
        <p:blipFill>
          <a:blip r:embed="rId4"/>
          <a:stretch>
            <a:fillRect/>
          </a:stretch>
        </p:blipFill>
        <p:spPr>
          <a:xfrm>
            <a:off x="8317064" y="-114300"/>
            <a:ext cx="3048000" cy="3390900"/>
          </a:xfrm>
          <a:prstGeom prst="rect">
            <a:avLst/>
          </a:prstGeom>
        </p:spPr>
      </p:pic>
      <p:pic>
        <p:nvPicPr>
          <p:cNvPr id="6" name="Рисунок 5"/>
          <p:cNvPicPr>
            <a:picLocks noChangeAspect="1"/>
          </p:cNvPicPr>
          <p:nvPr/>
        </p:nvPicPr>
        <p:blipFill>
          <a:blip r:embed="rId5"/>
          <a:stretch>
            <a:fillRect/>
          </a:stretch>
        </p:blipFill>
        <p:spPr>
          <a:xfrm>
            <a:off x="0" y="3838575"/>
            <a:ext cx="6067425" cy="2876550"/>
          </a:xfrm>
          <a:prstGeom prst="rect">
            <a:avLst/>
          </a:prstGeom>
        </p:spPr>
      </p:pic>
      <p:pic>
        <p:nvPicPr>
          <p:cNvPr id="7" name="Рисунок 6"/>
          <p:cNvPicPr>
            <a:picLocks noChangeAspect="1"/>
          </p:cNvPicPr>
          <p:nvPr/>
        </p:nvPicPr>
        <p:blipFill>
          <a:blip r:embed="rId6"/>
          <a:stretch>
            <a:fillRect/>
          </a:stretch>
        </p:blipFill>
        <p:spPr>
          <a:xfrm>
            <a:off x="7472251" y="3794513"/>
            <a:ext cx="4143375" cy="2781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578650" y="3133534"/>
            <a:ext cx="5034713" cy="590931"/>
          </a:xfrm>
          <a:prstGeom prst="rect">
            <a:avLst/>
          </a:prstGeom>
        </p:spPr>
        <p:txBody>
          <a:bodyPr wrap="none">
            <a:spAutoFit/>
          </a:bodyPr>
          <a:lstStyle/>
          <a:p>
            <a:pPr marL="609600" lvl="0" indent="-609600" algn="ctr">
              <a:lnSpc>
                <a:spcPct val="90000"/>
              </a:lnSpc>
              <a:spcBef>
                <a:spcPts val="560"/>
              </a:spcBef>
              <a:buClr>
                <a:srgbClr val="006600"/>
              </a:buClr>
              <a:buSzPts val="2800"/>
            </a:pPr>
            <a:r>
              <a:rPr lang="ru-RU" sz="3600" b="1" dirty="0">
                <a:latin typeface="Arial" panose="020B0604020202020204" pitchFamily="34" charset="0"/>
                <a:cs typeface="Arial" panose="020B0604020202020204" pitchFamily="34" charset="0"/>
                <a:sym typeface="Comic Sans MS" panose="030F0702030302020204"/>
              </a:rPr>
              <a:t>Алгоритм Хаффмана</a:t>
            </a:r>
            <a:endParaRPr lang="ru-RU" sz="36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Объект 2"/>
          <p:cNvGraphicFramePr>
            <a:graphicFrameLocks noChangeAspect="1"/>
          </p:cNvGraphicFramePr>
          <p:nvPr/>
        </p:nvGraphicFramePr>
        <p:xfrm>
          <a:off x="3187259" y="2884335"/>
          <a:ext cx="5817480" cy="1089329"/>
        </p:xfrm>
        <a:graphic>
          <a:graphicData uri="http://schemas.openxmlformats.org/presentationml/2006/ole">
            <mc:AlternateContent xmlns:mc="http://schemas.openxmlformats.org/markup-compatibility/2006">
              <mc:Choice xmlns:v="urn:schemas-microsoft-com:vml" Requires="v">
                <p:oleObj spid="_x0000_s2059" name="" r:id="rId1" imgW="2387600" imgH="444500" progId="Equation.3">
                  <p:embed/>
                </p:oleObj>
              </mc:Choice>
              <mc:Fallback>
                <p:oleObj name="" r:id="rId1" imgW="2387600" imgH="444500" progId="Equation.3">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7259" y="2884335"/>
                        <a:ext cx="5817480" cy="1089329"/>
                      </a:xfrm>
                      <a:prstGeom prst="rect">
                        <a:avLst/>
                      </a:prstGeom>
                      <a:noFill/>
                    </p:spPr>
                  </p:pic>
                </p:oleObj>
              </mc:Fallback>
            </mc:AlternateContent>
          </a:graphicData>
        </a:graphic>
      </p:graphicFrame>
      <p:sp>
        <p:nvSpPr>
          <p:cNvPr id="4" name="Прямоугольник 3"/>
          <p:cNvSpPr/>
          <p:nvPr/>
        </p:nvSpPr>
        <p:spPr>
          <a:xfrm>
            <a:off x="1306663" y="1581219"/>
            <a:ext cx="9721795" cy="954107"/>
          </a:xfrm>
          <a:prstGeom prst="rect">
            <a:avLst/>
          </a:prstGeom>
        </p:spPr>
        <p:txBody>
          <a:bodyPr wrap="square">
            <a:spAutoFit/>
          </a:bodyPr>
          <a:lstStyle/>
          <a:p>
            <a:r>
              <a:rPr lang="en-US" sz="2800" dirty="0" err="1">
                <a:latin typeface="Calibri" panose="020F0502020204030204" pitchFamily="34" charset="0"/>
                <a:ea typeface="Times New Roman" panose="02020603050405020304" pitchFamily="18" charset="0"/>
                <a:cs typeface="Calibri" panose="020F0502020204030204" pitchFamily="34" charset="0"/>
              </a:rPr>
              <a:t>Информационной</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характеристикой</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алфавита</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источника</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сообщений</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на</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основе</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этого</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алфавита</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en-US" sz="2800" dirty="0" err="1">
                <a:latin typeface="Calibri" panose="020F0502020204030204" pitchFamily="34" charset="0"/>
                <a:ea typeface="Times New Roman" panose="02020603050405020304" pitchFamily="18" charset="0"/>
                <a:cs typeface="Calibri" panose="020F0502020204030204" pitchFamily="34" charset="0"/>
              </a:rPr>
              <a:t>является</a:t>
            </a:r>
            <a:r>
              <a:rPr lang="en-US" sz="2800" dirty="0">
                <a:latin typeface="Calibri" panose="020F0502020204030204" pitchFamily="34" charset="0"/>
                <a:ea typeface="Times New Roman" panose="02020603050405020304" pitchFamily="18" charset="0"/>
                <a:cs typeface="Calibri" panose="020F0502020204030204" pitchFamily="34" charset="0"/>
              </a:rPr>
              <a:t> </a:t>
            </a:r>
            <a:r>
              <a:rPr lang="x-none" sz="2800" i="1" dirty="0">
                <a:latin typeface="Calibri" panose="020F0502020204030204" pitchFamily="34" charset="0"/>
                <a:ea typeface="Times New Roman" panose="02020603050405020304" pitchFamily="18" charset="0"/>
                <a:cs typeface="Calibri" panose="020F0502020204030204" pitchFamily="34" charset="0"/>
              </a:rPr>
              <a:t>энтропия</a:t>
            </a:r>
            <a:endParaRPr lang="ru-RU" sz="2800" dirty="0">
              <a:latin typeface="Calibri" panose="020F0502020204030204" pitchFamily="34" charset="0"/>
              <a:cs typeface="Calibri" panose="020F0502020204030204" pitchFamily="34" charset="0"/>
            </a:endParaRPr>
          </a:p>
        </p:txBody>
      </p:sp>
      <p:sp>
        <p:nvSpPr>
          <p:cNvPr id="6" name="Прямоугольник 5"/>
          <p:cNvSpPr/>
          <p:nvPr/>
        </p:nvSpPr>
        <p:spPr>
          <a:xfrm>
            <a:off x="5335615" y="4671681"/>
            <a:ext cx="4420636" cy="523220"/>
          </a:xfrm>
          <a:prstGeom prst="rect">
            <a:avLst/>
          </a:prstGeom>
        </p:spPr>
        <p:txBody>
          <a:bodyPr wrap="square">
            <a:spAutoFit/>
          </a:bodyPr>
          <a:lstStyle/>
          <a:p>
            <a:r>
              <a:rPr lang="ru-RU" sz="2800" dirty="0">
                <a:latin typeface="Calibri" panose="020F0502020204030204" pitchFamily="34" charset="0"/>
                <a:ea typeface="Times New Roman" panose="02020603050405020304" pitchFamily="18" charset="0"/>
                <a:cs typeface="Calibri" panose="020F0502020204030204" pitchFamily="34" charset="0"/>
              </a:rPr>
              <a:t>Для русского языка </a:t>
            </a:r>
            <a:r>
              <a:rPr lang="en-US" sz="2800" dirty="0">
                <a:latin typeface="Calibri" panose="020F0502020204030204" pitchFamily="34" charset="0"/>
                <a:ea typeface="Times New Roman" panose="02020603050405020304" pitchFamily="18" charset="0"/>
                <a:cs typeface="Calibri" panose="020F0502020204030204" pitchFamily="34" charset="0"/>
              </a:rPr>
              <a:t>~</a:t>
            </a:r>
            <a:r>
              <a:rPr lang="ru-RU" sz="2800" dirty="0">
                <a:latin typeface="Calibri" panose="020F0502020204030204" pitchFamily="34" charset="0"/>
                <a:ea typeface="Times New Roman" panose="02020603050405020304" pitchFamily="18" charset="0"/>
                <a:cs typeface="Calibri" panose="020F0502020204030204" pitchFamily="34" charset="0"/>
              </a:rPr>
              <a:t> 4,358 </a:t>
            </a:r>
            <a:endParaRPr lang="ru-RU" sz="2800"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650680" y="4138718"/>
            <a:ext cx="10890637" cy="2308324"/>
          </a:xfrm>
          <a:prstGeom prst="rect">
            <a:avLst/>
          </a:prstGeom>
        </p:spPr>
        <p:txBody>
          <a:bodyPr wrap="square">
            <a:spAutoFit/>
          </a:bodyPr>
          <a:lstStyle/>
          <a:p>
            <a:pPr algn="just"/>
            <a:r>
              <a:rPr lang="ru-RU" dirty="0">
                <a:solidFill>
                  <a:srgbClr val="000000"/>
                </a:solidFill>
                <a:latin typeface="Arial" panose="020B0604020202020204" pitchFamily="34" charset="0"/>
              </a:rPr>
              <a:t>Код называется </a:t>
            </a:r>
            <a:r>
              <a:rPr lang="ru-RU" b="1" i="1" dirty="0">
                <a:solidFill>
                  <a:srgbClr val="000000"/>
                </a:solidFill>
                <a:latin typeface="Arial" panose="020B0604020202020204" pitchFamily="34" charset="0"/>
              </a:rPr>
              <a:t>префиксным</a:t>
            </a:r>
            <a:r>
              <a:rPr lang="ru-RU" dirty="0">
                <a:solidFill>
                  <a:srgbClr val="000000"/>
                </a:solidFill>
                <a:latin typeface="Arial" panose="020B0604020202020204" pitchFamily="34" charset="0"/>
              </a:rPr>
              <a:t>, если он удовлетворяет </a:t>
            </a:r>
            <a:r>
              <a:rPr lang="ru-RU" b="1" i="1" dirty="0">
                <a:solidFill>
                  <a:srgbClr val="000000"/>
                </a:solidFill>
                <a:latin typeface="Arial" panose="020B0604020202020204" pitchFamily="34" charset="0"/>
              </a:rPr>
              <a:t>условию </a:t>
            </a:r>
            <a:r>
              <a:rPr lang="ru-RU" b="1" i="1" dirty="0" err="1">
                <a:solidFill>
                  <a:srgbClr val="000000"/>
                </a:solidFill>
                <a:latin typeface="Arial" panose="020B0604020202020204" pitchFamily="34" charset="0"/>
              </a:rPr>
              <a:t>Фано</a:t>
            </a:r>
            <a:r>
              <a:rPr lang="ru-RU" dirty="0">
                <a:solidFill>
                  <a:srgbClr val="000000"/>
                </a:solidFill>
                <a:latin typeface="Arial" panose="020B0604020202020204" pitchFamily="34" charset="0"/>
              </a:rPr>
              <a:t>:</a:t>
            </a:r>
            <a:endParaRPr lang="ru-RU" dirty="0">
              <a:solidFill>
                <a:srgbClr val="000000"/>
              </a:solidFill>
              <a:latin typeface="Arial" panose="020B0604020202020204" pitchFamily="34" charset="0"/>
            </a:endParaRPr>
          </a:p>
          <a:p>
            <a:pPr algn="just"/>
            <a:endParaRPr lang="en-US" b="1" dirty="0">
              <a:solidFill>
                <a:srgbClr val="000000"/>
              </a:solidFill>
              <a:latin typeface="Arial" panose="020B0604020202020204" pitchFamily="34" charset="0"/>
            </a:endParaRPr>
          </a:p>
          <a:p>
            <a:pPr algn="just"/>
            <a:r>
              <a:rPr lang="ru-RU" b="1" dirty="0">
                <a:solidFill>
                  <a:srgbClr val="000000"/>
                </a:solidFill>
                <a:latin typeface="Arial" panose="020B0604020202020204" pitchFamily="34" charset="0"/>
              </a:rPr>
              <a:t>Неравномерный код может быть однозначно декодирован, если никакой из кодов не совпадает с началом какого-либо иного, более длинного кода .</a:t>
            </a:r>
            <a:endParaRPr lang="ru-RU" dirty="0">
              <a:solidFill>
                <a:srgbClr val="000000"/>
              </a:solidFill>
              <a:latin typeface="Arial" panose="020B0604020202020204" pitchFamily="34" charset="0"/>
            </a:endParaRPr>
          </a:p>
          <a:p>
            <a:pPr algn="just"/>
            <a:endParaRPr lang="en-US" dirty="0">
              <a:solidFill>
                <a:srgbClr val="000000"/>
              </a:solidFill>
              <a:latin typeface="Arial" panose="020B0604020202020204" pitchFamily="34" charset="0"/>
            </a:endParaRPr>
          </a:p>
          <a:p>
            <a:pPr algn="just"/>
            <a:r>
              <a:rPr lang="ru-RU" dirty="0">
                <a:solidFill>
                  <a:srgbClr val="000000"/>
                </a:solidFill>
                <a:latin typeface="Arial" panose="020B0604020202020204" pitchFamily="34" charset="0"/>
              </a:rPr>
              <a:t>Например, если имеется код </a:t>
            </a:r>
            <a:r>
              <a:rPr lang="ru-RU" i="1" dirty="0">
                <a:solidFill>
                  <a:srgbClr val="000000"/>
                </a:solidFill>
                <a:latin typeface="Arial" panose="020B0604020202020204" pitchFamily="34" charset="0"/>
              </a:rPr>
              <a:t>110,</a:t>
            </a:r>
            <a:r>
              <a:rPr lang="ru-RU" dirty="0">
                <a:solidFill>
                  <a:srgbClr val="000000"/>
                </a:solidFill>
                <a:latin typeface="Arial" panose="020B0604020202020204" pitchFamily="34" charset="0"/>
              </a:rPr>
              <a:t> то уже не могут использоваться коды </a:t>
            </a:r>
            <a:r>
              <a:rPr lang="ru-RU" i="1" dirty="0">
                <a:solidFill>
                  <a:srgbClr val="000000"/>
                </a:solidFill>
                <a:latin typeface="Arial" panose="020B0604020202020204" pitchFamily="34" charset="0"/>
              </a:rPr>
              <a:t>1, 11, 1101, 110101</a:t>
            </a:r>
            <a:r>
              <a:rPr lang="ru-RU" dirty="0">
                <a:solidFill>
                  <a:srgbClr val="000000"/>
                </a:solidFill>
                <a:latin typeface="Arial" panose="020B0604020202020204" pitchFamily="34" charset="0"/>
              </a:rPr>
              <a:t> и пр. </a:t>
            </a:r>
            <a:r>
              <a:rPr lang="ru-RU" b="1" i="1" dirty="0">
                <a:solidFill>
                  <a:srgbClr val="000000"/>
                </a:solidFill>
                <a:latin typeface="Arial" panose="020B0604020202020204" pitchFamily="34" charset="0"/>
              </a:rPr>
              <a:t>При использовании префиксного кодирования не нужно передавать разделители знаков, что делает сообщение более коротким</a:t>
            </a:r>
            <a:r>
              <a:rPr lang="ru-RU" dirty="0">
                <a:solidFill>
                  <a:srgbClr val="000000"/>
                </a:solidFill>
                <a:latin typeface="Arial" panose="020B0604020202020204" pitchFamily="34" charset="0"/>
              </a:rPr>
              <a:t>.</a:t>
            </a:r>
            <a:endParaRPr lang="ru-RU" b="0" i="0" dirty="0">
              <a:solidFill>
                <a:srgbClr val="000000"/>
              </a:solidFill>
              <a:effectLst/>
              <a:latin typeface="Arial" panose="020B0604020202020204" pitchFamily="34" charset="0"/>
            </a:endParaRPr>
          </a:p>
        </p:txBody>
      </p:sp>
      <p:sp>
        <p:nvSpPr>
          <p:cNvPr id="4" name="Прямоугольник 3"/>
          <p:cNvSpPr/>
          <p:nvPr/>
        </p:nvSpPr>
        <p:spPr>
          <a:xfrm>
            <a:off x="650680" y="393789"/>
            <a:ext cx="10997979" cy="1938992"/>
          </a:xfrm>
          <a:prstGeom prst="rect">
            <a:avLst/>
          </a:prstGeom>
        </p:spPr>
        <p:txBody>
          <a:bodyPr wrap="square">
            <a:spAutoFit/>
          </a:bodyPr>
          <a:lstStyle/>
          <a:p>
            <a:pPr algn="just"/>
            <a:r>
              <a:rPr lang="ru-RU" sz="2000" dirty="0">
                <a:solidFill>
                  <a:srgbClr val="000000"/>
                </a:solidFill>
                <a:latin typeface="Arial" panose="020B0604020202020204" pitchFamily="34" charset="0"/>
              </a:rPr>
              <a:t>Идея, лежащая в основе кода </a:t>
            </a:r>
            <a:r>
              <a:rPr lang="ru-RU" sz="2000" dirty="0" err="1">
                <a:solidFill>
                  <a:srgbClr val="000000"/>
                </a:solidFill>
                <a:latin typeface="Arial" panose="020B0604020202020204" pitchFamily="34" charset="0"/>
              </a:rPr>
              <a:t>Хаффмена</a:t>
            </a:r>
            <a:r>
              <a:rPr lang="ru-RU" sz="2000" dirty="0">
                <a:solidFill>
                  <a:srgbClr val="000000"/>
                </a:solidFill>
                <a:latin typeface="Arial" panose="020B0604020202020204" pitchFamily="34" charset="0"/>
              </a:rPr>
              <a:t>, достаточно проста. Вместо того чтобы кодировать все символы одинаковым числом бит (как это сделано, например, в ASCII кодировке, где на каждый символ отводится ровно по 8 бит), будем кодировать символы, которые встречаются чаще, меньшим числом бит, чем те, которые встречаются реже. Более того, потребуем, чтобы код был оптимален или, другими словами, минимально-избыточен.</a:t>
            </a:r>
            <a:endParaRPr lang="ru-RU" sz="2000" dirty="0"/>
          </a:p>
        </p:txBody>
      </p:sp>
      <p:sp>
        <p:nvSpPr>
          <p:cNvPr id="5" name="Прямоугольник 4"/>
          <p:cNvSpPr/>
          <p:nvPr/>
        </p:nvSpPr>
        <p:spPr>
          <a:xfrm>
            <a:off x="650681" y="2635585"/>
            <a:ext cx="10997978" cy="1200329"/>
          </a:xfrm>
          <a:prstGeom prst="rect">
            <a:avLst/>
          </a:prstGeom>
        </p:spPr>
        <p:txBody>
          <a:bodyPr wrap="square">
            <a:spAutoFit/>
          </a:bodyPr>
          <a:lstStyle/>
          <a:p>
            <a:r>
              <a:rPr lang="ru-RU" b="1" i="1" dirty="0">
                <a:solidFill>
                  <a:srgbClr val="000000"/>
                </a:solidFill>
                <a:latin typeface="Arial" panose="020B0604020202020204" pitchFamily="34" charset="0"/>
              </a:rPr>
              <a:t>Идея алгоритма</a:t>
            </a:r>
            <a:r>
              <a:rPr lang="ru-RU" dirty="0">
                <a:solidFill>
                  <a:srgbClr val="000000"/>
                </a:solidFill>
                <a:latin typeface="Arial" panose="020B0604020202020204" pitchFamily="34" charset="0"/>
              </a:rPr>
              <a:t>: зная вероятность вхождения символов в сообщение, можно описать процедуру построения кодов переменной длины, состоящих из целого количества битов. До начала кодирования должны быть известны вероятности появления каждой буквы, из которых будет состоять сообщение.</a:t>
            </a:r>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nvGraphicFramePr>
        <p:xfrm>
          <a:off x="3880237" y="221315"/>
          <a:ext cx="3816625" cy="6415370"/>
        </p:xfrm>
        <a:graphic>
          <a:graphicData uri="http://schemas.openxmlformats.org/drawingml/2006/table">
            <a:tbl>
              <a:tblPr firstRow="1" firstCol="1" bandRow="1">
                <a:tableStyleId>{5C22544A-7EE6-4342-B048-85BDC9FD1C3A}</a:tableStyleId>
              </a:tblPr>
              <a:tblGrid>
                <a:gridCol w="1944019"/>
                <a:gridCol w="1872606"/>
              </a:tblGrid>
              <a:tr h="6415370">
                <a:tc>
                  <a:txBody>
                    <a:bodyPr/>
                    <a:lstStyle/>
                    <a:p>
                      <a:pPr algn="r">
                        <a:spcAft>
                          <a:spcPts val="0"/>
                        </a:spcAft>
                        <a:tabLst>
                          <a:tab pos="457200" algn="l"/>
                        </a:tabLst>
                      </a:pPr>
                      <a:r>
                        <a:rPr lang="ru-RU" sz="1500">
                          <a:solidFill>
                            <a:schemeClr val="tx1"/>
                          </a:solidFill>
                          <a:effectLst/>
                        </a:rPr>
                        <a:t>Символ алфавита</a:t>
                      </a:r>
                      <a:endParaRPr lang="ru-RU" sz="1500">
                        <a:solidFill>
                          <a:schemeClr val="tx1"/>
                        </a:solidFill>
                        <a:effectLst/>
                      </a:endParaRPr>
                    </a:p>
                    <a:p>
                      <a:pPr algn="r">
                        <a:spcAft>
                          <a:spcPts val="0"/>
                        </a:spcAft>
                        <a:tabLst>
                          <a:tab pos="457200" algn="l"/>
                        </a:tabLst>
                      </a:pPr>
                      <a:r>
                        <a:rPr lang="en-US" sz="1500">
                          <a:solidFill>
                            <a:schemeClr val="tx1"/>
                          </a:solidFill>
                          <a:effectLst/>
                        </a:rPr>
                        <a:t>E</a:t>
                      </a:r>
                      <a:endParaRPr lang="ru-RU" sz="1500">
                        <a:solidFill>
                          <a:schemeClr val="tx1"/>
                        </a:solidFill>
                        <a:effectLst/>
                      </a:endParaRPr>
                    </a:p>
                    <a:p>
                      <a:pPr algn="r">
                        <a:spcAft>
                          <a:spcPts val="0"/>
                        </a:spcAft>
                        <a:tabLst>
                          <a:tab pos="457200" algn="l"/>
                        </a:tabLst>
                      </a:pPr>
                      <a:r>
                        <a:rPr lang="en-US" sz="1500">
                          <a:solidFill>
                            <a:schemeClr val="tx1"/>
                          </a:solidFill>
                          <a:effectLst/>
                        </a:rPr>
                        <a:t>T</a:t>
                      </a:r>
                      <a:endParaRPr lang="ru-RU" sz="1500">
                        <a:solidFill>
                          <a:schemeClr val="tx1"/>
                        </a:solidFill>
                        <a:effectLst/>
                      </a:endParaRPr>
                    </a:p>
                    <a:p>
                      <a:pPr algn="r">
                        <a:spcAft>
                          <a:spcPts val="0"/>
                        </a:spcAft>
                        <a:tabLst>
                          <a:tab pos="457200" algn="l"/>
                        </a:tabLst>
                      </a:pPr>
                      <a:r>
                        <a:rPr lang="en-US" sz="1500">
                          <a:solidFill>
                            <a:schemeClr val="tx1"/>
                          </a:solidFill>
                          <a:effectLst/>
                        </a:rPr>
                        <a:t>A</a:t>
                      </a:r>
                      <a:endParaRPr lang="ru-RU" sz="1500">
                        <a:solidFill>
                          <a:schemeClr val="tx1"/>
                        </a:solidFill>
                        <a:effectLst/>
                      </a:endParaRPr>
                    </a:p>
                    <a:p>
                      <a:pPr algn="r">
                        <a:spcAft>
                          <a:spcPts val="0"/>
                        </a:spcAft>
                        <a:tabLst>
                          <a:tab pos="457200" algn="l"/>
                        </a:tabLst>
                      </a:pPr>
                      <a:r>
                        <a:rPr lang="en-US" sz="1500">
                          <a:solidFill>
                            <a:schemeClr val="tx1"/>
                          </a:solidFill>
                          <a:effectLst/>
                        </a:rPr>
                        <a:t>O</a:t>
                      </a:r>
                      <a:endParaRPr lang="ru-RU" sz="1500">
                        <a:solidFill>
                          <a:schemeClr val="tx1"/>
                        </a:solidFill>
                        <a:effectLst/>
                      </a:endParaRPr>
                    </a:p>
                    <a:p>
                      <a:pPr algn="r">
                        <a:spcAft>
                          <a:spcPts val="0"/>
                        </a:spcAft>
                        <a:tabLst>
                          <a:tab pos="457200" algn="l"/>
                        </a:tabLst>
                      </a:pPr>
                      <a:r>
                        <a:rPr lang="pl-PL" sz="1500">
                          <a:solidFill>
                            <a:schemeClr val="tx1"/>
                          </a:solidFill>
                          <a:effectLst/>
                        </a:rPr>
                        <a:t>N</a:t>
                      </a:r>
                      <a:endParaRPr lang="ru-RU" sz="1500">
                        <a:solidFill>
                          <a:schemeClr val="tx1"/>
                        </a:solidFill>
                        <a:effectLst/>
                      </a:endParaRPr>
                    </a:p>
                    <a:p>
                      <a:pPr algn="r">
                        <a:spcAft>
                          <a:spcPts val="0"/>
                        </a:spcAft>
                        <a:tabLst>
                          <a:tab pos="457200" algn="l"/>
                        </a:tabLst>
                      </a:pPr>
                      <a:r>
                        <a:rPr lang="pl-PL" sz="1500">
                          <a:solidFill>
                            <a:schemeClr val="tx1"/>
                          </a:solidFill>
                          <a:effectLst/>
                        </a:rPr>
                        <a:t>R</a:t>
                      </a:r>
                      <a:endParaRPr lang="ru-RU" sz="1500">
                        <a:solidFill>
                          <a:schemeClr val="tx1"/>
                        </a:solidFill>
                        <a:effectLst/>
                      </a:endParaRPr>
                    </a:p>
                    <a:p>
                      <a:pPr algn="r">
                        <a:spcAft>
                          <a:spcPts val="0"/>
                        </a:spcAft>
                        <a:tabLst>
                          <a:tab pos="457200" algn="l"/>
                        </a:tabLst>
                      </a:pPr>
                      <a:r>
                        <a:rPr lang="pl-PL" sz="1500">
                          <a:solidFill>
                            <a:schemeClr val="tx1"/>
                          </a:solidFill>
                          <a:effectLst/>
                        </a:rPr>
                        <a:t>I</a:t>
                      </a:r>
                      <a:endParaRPr lang="ru-RU" sz="1500">
                        <a:solidFill>
                          <a:schemeClr val="tx1"/>
                        </a:solidFill>
                        <a:effectLst/>
                      </a:endParaRPr>
                    </a:p>
                    <a:p>
                      <a:pPr algn="r">
                        <a:spcAft>
                          <a:spcPts val="0"/>
                        </a:spcAft>
                        <a:tabLst>
                          <a:tab pos="457200" algn="l"/>
                        </a:tabLst>
                      </a:pPr>
                      <a:r>
                        <a:rPr lang="pl-PL" sz="1500">
                          <a:solidFill>
                            <a:schemeClr val="tx1"/>
                          </a:solidFill>
                          <a:effectLst/>
                        </a:rPr>
                        <a:t>S</a:t>
                      </a:r>
                      <a:endParaRPr lang="ru-RU" sz="1500">
                        <a:solidFill>
                          <a:schemeClr val="tx1"/>
                        </a:solidFill>
                        <a:effectLst/>
                      </a:endParaRPr>
                    </a:p>
                    <a:p>
                      <a:pPr algn="r">
                        <a:spcAft>
                          <a:spcPts val="0"/>
                        </a:spcAft>
                        <a:tabLst>
                          <a:tab pos="457200" algn="l"/>
                        </a:tabLst>
                      </a:pPr>
                      <a:r>
                        <a:rPr lang="pl-PL" sz="1500">
                          <a:solidFill>
                            <a:schemeClr val="tx1"/>
                          </a:solidFill>
                          <a:effectLst/>
                        </a:rPr>
                        <a:t>H</a:t>
                      </a:r>
                      <a:endParaRPr lang="ru-RU" sz="1500">
                        <a:solidFill>
                          <a:schemeClr val="tx1"/>
                        </a:solidFill>
                        <a:effectLst/>
                      </a:endParaRPr>
                    </a:p>
                    <a:p>
                      <a:pPr algn="r">
                        <a:spcAft>
                          <a:spcPts val="0"/>
                        </a:spcAft>
                        <a:tabLst>
                          <a:tab pos="457200" algn="l"/>
                        </a:tabLst>
                      </a:pPr>
                      <a:r>
                        <a:rPr lang="pl-PL" sz="1500">
                          <a:solidFill>
                            <a:schemeClr val="tx1"/>
                          </a:solidFill>
                          <a:effectLst/>
                        </a:rPr>
                        <a:t>D</a:t>
                      </a:r>
                      <a:endParaRPr lang="ru-RU" sz="1500">
                        <a:solidFill>
                          <a:schemeClr val="tx1"/>
                        </a:solidFill>
                        <a:effectLst/>
                      </a:endParaRPr>
                    </a:p>
                    <a:p>
                      <a:pPr algn="r">
                        <a:spcAft>
                          <a:spcPts val="0"/>
                        </a:spcAft>
                        <a:tabLst>
                          <a:tab pos="457200" algn="l"/>
                        </a:tabLst>
                      </a:pPr>
                      <a:r>
                        <a:rPr lang="pl-PL" sz="1500">
                          <a:solidFill>
                            <a:schemeClr val="tx1"/>
                          </a:solidFill>
                          <a:effectLst/>
                        </a:rPr>
                        <a:t>L</a:t>
                      </a:r>
                      <a:endParaRPr lang="ru-RU" sz="1500">
                        <a:solidFill>
                          <a:schemeClr val="tx1"/>
                        </a:solidFill>
                        <a:effectLst/>
                      </a:endParaRPr>
                    </a:p>
                    <a:p>
                      <a:pPr algn="r">
                        <a:spcAft>
                          <a:spcPts val="0"/>
                        </a:spcAft>
                        <a:tabLst>
                          <a:tab pos="457200" algn="l"/>
                        </a:tabLst>
                      </a:pPr>
                      <a:r>
                        <a:rPr lang="pl-PL" sz="1500">
                          <a:solidFill>
                            <a:schemeClr val="tx1"/>
                          </a:solidFill>
                          <a:effectLst/>
                        </a:rPr>
                        <a:t>F</a:t>
                      </a:r>
                      <a:endParaRPr lang="ru-RU" sz="1500">
                        <a:solidFill>
                          <a:schemeClr val="tx1"/>
                        </a:solidFill>
                        <a:effectLst/>
                      </a:endParaRPr>
                    </a:p>
                    <a:p>
                      <a:pPr algn="r">
                        <a:spcAft>
                          <a:spcPts val="0"/>
                        </a:spcAft>
                        <a:tabLst>
                          <a:tab pos="457200" algn="l"/>
                        </a:tabLst>
                      </a:pPr>
                      <a:r>
                        <a:rPr lang="pl-PL" sz="1500">
                          <a:solidFill>
                            <a:schemeClr val="tx1"/>
                          </a:solidFill>
                          <a:effectLst/>
                        </a:rPr>
                        <a:t>C</a:t>
                      </a:r>
                      <a:endParaRPr lang="ru-RU" sz="1500">
                        <a:solidFill>
                          <a:schemeClr val="tx1"/>
                        </a:solidFill>
                        <a:effectLst/>
                      </a:endParaRPr>
                    </a:p>
                    <a:p>
                      <a:pPr algn="r">
                        <a:spcAft>
                          <a:spcPts val="0"/>
                        </a:spcAft>
                        <a:tabLst>
                          <a:tab pos="457200" algn="l"/>
                        </a:tabLst>
                      </a:pPr>
                      <a:r>
                        <a:rPr lang="pl-PL" sz="1500">
                          <a:solidFill>
                            <a:schemeClr val="tx1"/>
                          </a:solidFill>
                          <a:effectLst/>
                        </a:rPr>
                        <a:t>M</a:t>
                      </a:r>
                      <a:endParaRPr lang="ru-RU" sz="1500">
                        <a:solidFill>
                          <a:schemeClr val="tx1"/>
                        </a:solidFill>
                        <a:effectLst/>
                      </a:endParaRPr>
                    </a:p>
                    <a:p>
                      <a:pPr algn="r">
                        <a:spcAft>
                          <a:spcPts val="0"/>
                        </a:spcAft>
                        <a:tabLst>
                          <a:tab pos="457200" algn="l"/>
                        </a:tabLst>
                      </a:pPr>
                      <a:r>
                        <a:rPr lang="pl-PL" sz="1500">
                          <a:solidFill>
                            <a:schemeClr val="tx1"/>
                          </a:solidFill>
                          <a:effectLst/>
                        </a:rPr>
                        <a:t>U</a:t>
                      </a:r>
                      <a:endParaRPr lang="ru-RU" sz="1500">
                        <a:solidFill>
                          <a:schemeClr val="tx1"/>
                        </a:solidFill>
                        <a:effectLst/>
                      </a:endParaRPr>
                    </a:p>
                    <a:p>
                      <a:pPr algn="r">
                        <a:spcAft>
                          <a:spcPts val="0"/>
                        </a:spcAft>
                        <a:tabLst>
                          <a:tab pos="457200" algn="l"/>
                        </a:tabLst>
                      </a:pPr>
                      <a:r>
                        <a:rPr lang="pl-PL" sz="1500">
                          <a:solidFill>
                            <a:schemeClr val="tx1"/>
                          </a:solidFill>
                          <a:effectLst/>
                        </a:rPr>
                        <a:t>G</a:t>
                      </a:r>
                      <a:endParaRPr lang="ru-RU" sz="1500">
                        <a:solidFill>
                          <a:schemeClr val="tx1"/>
                        </a:solidFill>
                        <a:effectLst/>
                      </a:endParaRPr>
                    </a:p>
                    <a:p>
                      <a:pPr algn="r">
                        <a:spcAft>
                          <a:spcPts val="0"/>
                        </a:spcAft>
                        <a:tabLst>
                          <a:tab pos="457200" algn="l"/>
                        </a:tabLst>
                      </a:pPr>
                      <a:r>
                        <a:rPr lang="pl-PL" sz="1500">
                          <a:solidFill>
                            <a:schemeClr val="tx1"/>
                          </a:solidFill>
                          <a:effectLst/>
                        </a:rPr>
                        <a:t>Y</a:t>
                      </a:r>
                      <a:endParaRPr lang="ru-RU" sz="1500">
                        <a:solidFill>
                          <a:schemeClr val="tx1"/>
                        </a:solidFill>
                        <a:effectLst/>
                      </a:endParaRPr>
                    </a:p>
                    <a:p>
                      <a:pPr algn="r">
                        <a:spcAft>
                          <a:spcPts val="0"/>
                        </a:spcAft>
                        <a:tabLst>
                          <a:tab pos="457200" algn="l"/>
                        </a:tabLst>
                      </a:pPr>
                      <a:r>
                        <a:rPr lang="pl-PL" sz="1500">
                          <a:solidFill>
                            <a:schemeClr val="tx1"/>
                          </a:solidFill>
                          <a:effectLst/>
                        </a:rPr>
                        <a:t>P</a:t>
                      </a:r>
                      <a:endParaRPr lang="ru-RU" sz="1500">
                        <a:solidFill>
                          <a:schemeClr val="tx1"/>
                        </a:solidFill>
                        <a:effectLst/>
                      </a:endParaRPr>
                    </a:p>
                    <a:p>
                      <a:pPr algn="r">
                        <a:spcAft>
                          <a:spcPts val="0"/>
                        </a:spcAft>
                        <a:tabLst>
                          <a:tab pos="457200" algn="l"/>
                        </a:tabLst>
                      </a:pPr>
                      <a:r>
                        <a:rPr lang="pl-PL" sz="1500">
                          <a:solidFill>
                            <a:schemeClr val="tx1"/>
                          </a:solidFill>
                          <a:effectLst/>
                        </a:rPr>
                        <a:t>W</a:t>
                      </a:r>
                      <a:endParaRPr lang="ru-RU" sz="1500">
                        <a:solidFill>
                          <a:schemeClr val="tx1"/>
                        </a:solidFill>
                        <a:effectLst/>
                      </a:endParaRPr>
                    </a:p>
                    <a:p>
                      <a:pPr algn="r">
                        <a:spcAft>
                          <a:spcPts val="0"/>
                        </a:spcAft>
                        <a:tabLst>
                          <a:tab pos="457200" algn="l"/>
                        </a:tabLst>
                      </a:pPr>
                      <a:r>
                        <a:rPr lang="pl-PL" sz="1500">
                          <a:solidFill>
                            <a:schemeClr val="tx1"/>
                          </a:solidFill>
                          <a:effectLst/>
                        </a:rPr>
                        <a:t>B</a:t>
                      </a:r>
                      <a:endParaRPr lang="ru-RU" sz="1500">
                        <a:solidFill>
                          <a:schemeClr val="tx1"/>
                        </a:solidFill>
                        <a:effectLst/>
                      </a:endParaRPr>
                    </a:p>
                    <a:p>
                      <a:pPr algn="r">
                        <a:spcAft>
                          <a:spcPts val="0"/>
                        </a:spcAft>
                        <a:tabLst>
                          <a:tab pos="457200" algn="l"/>
                        </a:tabLst>
                      </a:pPr>
                      <a:r>
                        <a:rPr lang="pl-PL" sz="1500">
                          <a:solidFill>
                            <a:schemeClr val="tx1"/>
                          </a:solidFill>
                          <a:effectLst/>
                        </a:rPr>
                        <a:t>V</a:t>
                      </a:r>
                      <a:endParaRPr lang="ru-RU" sz="1500">
                        <a:solidFill>
                          <a:schemeClr val="tx1"/>
                        </a:solidFill>
                        <a:effectLst/>
                      </a:endParaRPr>
                    </a:p>
                    <a:p>
                      <a:pPr algn="r">
                        <a:spcAft>
                          <a:spcPts val="0"/>
                        </a:spcAft>
                        <a:tabLst>
                          <a:tab pos="457200" algn="l"/>
                        </a:tabLst>
                      </a:pPr>
                      <a:r>
                        <a:rPr lang="pl-PL" sz="1500">
                          <a:solidFill>
                            <a:schemeClr val="tx1"/>
                          </a:solidFill>
                          <a:effectLst/>
                        </a:rPr>
                        <a:t>K</a:t>
                      </a:r>
                      <a:endParaRPr lang="ru-RU" sz="1500">
                        <a:solidFill>
                          <a:schemeClr val="tx1"/>
                        </a:solidFill>
                        <a:effectLst/>
                      </a:endParaRPr>
                    </a:p>
                    <a:p>
                      <a:pPr algn="r">
                        <a:spcAft>
                          <a:spcPts val="0"/>
                        </a:spcAft>
                        <a:tabLst>
                          <a:tab pos="457200" algn="l"/>
                        </a:tabLst>
                      </a:pPr>
                      <a:r>
                        <a:rPr lang="pl-PL" sz="1500">
                          <a:solidFill>
                            <a:schemeClr val="tx1"/>
                          </a:solidFill>
                          <a:effectLst/>
                        </a:rPr>
                        <a:t>X</a:t>
                      </a:r>
                      <a:endParaRPr lang="ru-RU" sz="1500">
                        <a:solidFill>
                          <a:schemeClr val="tx1"/>
                        </a:solidFill>
                        <a:effectLst/>
                      </a:endParaRPr>
                    </a:p>
                    <a:p>
                      <a:pPr algn="r">
                        <a:spcAft>
                          <a:spcPts val="0"/>
                        </a:spcAft>
                        <a:tabLst>
                          <a:tab pos="457200" algn="l"/>
                        </a:tabLst>
                      </a:pPr>
                      <a:r>
                        <a:rPr lang="pl-PL" sz="1500">
                          <a:solidFill>
                            <a:schemeClr val="tx1"/>
                          </a:solidFill>
                          <a:effectLst/>
                        </a:rPr>
                        <a:t>J</a:t>
                      </a:r>
                      <a:endParaRPr lang="ru-RU" sz="1500">
                        <a:solidFill>
                          <a:schemeClr val="tx1"/>
                        </a:solidFill>
                        <a:effectLst/>
                      </a:endParaRPr>
                    </a:p>
                    <a:p>
                      <a:pPr algn="r">
                        <a:spcAft>
                          <a:spcPts val="0"/>
                        </a:spcAft>
                        <a:tabLst>
                          <a:tab pos="457200" algn="l"/>
                        </a:tabLst>
                      </a:pPr>
                      <a:r>
                        <a:rPr lang="pl-PL" sz="1500">
                          <a:solidFill>
                            <a:schemeClr val="tx1"/>
                          </a:solidFill>
                          <a:effectLst/>
                        </a:rPr>
                        <a:t>Q</a:t>
                      </a:r>
                      <a:endParaRPr lang="ru-RU" sz="1500">
                        <a:solidFill>
                          <a:schemeClr val="tx1"/>
                        </a:solidFill>
                        <a:effectLst/>
                      </a:endParaRPr>
                    </a:p>
                    <a:p>
                      <a:pPr algn="r">
                        <a:spcAft>
                          <a:spcPts val="0"/>
                        </a:spcAft>
                        <a:tabLst>
                          <a:tab pos="457200" algn="l"/>
                        </a:tabLst>
                      </a:pPr>
                      <a:r>
                        <a:rPr lang="pl-PL" sz="1500">
                          <a:solidFill>
                            <a:schemeClr val="tx1"/>
                          </a:solidFill>
                          <a:effectLst/>
                        </a:rPr>
                        <a:t>Z</a:t>
                      </a:r>
                      <a:endParaRPr lang="ru-RU" sz="15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7905" marR="7790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tabLst>
                          <a:tab pos="457200" algn="l"/>
                        </a:tabLst>
                      </a:pPr>
                      <a:r>
                        <a:rPr lang="ru-RU" sz="1500" dirty="0">
                          <a:solidFill>
                            <a:schemeClr val="tx1"/>
                          </a:solidFill>
                          <a:effectLst/>
                        </a:rPr>
                        <a:t>Бинарный код</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1110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1011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1010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0110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01111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01001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01000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00011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00010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00001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00000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011101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011100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110100011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110100001</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110100000</a:t>
                      </a:r>
                      <a:endParaRPr lang="ru-RU" sz="1500" dirty="0">
                        <a:solidFill>
                          <a:schemeClr val="tx1"/>
                        </a:solidFill>
                        <a:effectLst/>
                      </a:endParaRPr>
                    </a:p>
                    <a:p>
                      <a:pPr algn="just">
                        <a:spcAft>
                          <a:spcPts val="0"/>
                        </a:spcAft>
                        <a:tabLst>
                          <a:tab pos="457200" algn="l"/>
                        </a:tabLst>
                      </a:pPr>
                      <a:r>
                        <a:rPr lang="en-US" sz="1500" dirty="0">
                          <a:solidFill>
                            <a:schemeClr val="tx1"/>
                          </a:solidFill>
                          <a:effectLst/>
                        </a:rPr>
                        <a:t>1101000101</a:t>
                      </a:r>
                      <a:endParaRPr lang="en-US" sz="1500" dirty="0">
                        <a:solidFill>
                          <a:schemeClr val="tx1"/>
                        </a:solidFill>
                        <a:effectLst/>
                      </a:endParaRPr>
                    </a:p>
                    <a:p>
                      <a:pPr algn="just">
                        <a:spcAft>
                          <a:spcPts val="0"/>
                        </a:spcAft>
                        <a:tabLst>
                          <a:tab pos="457200" algn="l"/>
                        </a:tabLst>
                      </a:pPr>
                      <a:r>
                        <a:rPr lang="en-US" sz="1500" dirty="0">
                          <a:solidFill>
                            <a:schemeClr val="tx1"/>
                          </a:solidFill>
                          <a:effectLst/>
                        </a:rPr>
                        <a:t>1101000100</a:t>
                      </a:r>
                      <a:endParaRPr lang="ru-RU" sz="15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7905" marR="7790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690812" y="2505075"/>
            <a:ext cx="6810375" cy="9239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Дерево кодирования Хаффмана после первого шага"/>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6050" y="2371725"/>
            <a:ext cx="6819900" cy="105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709862" y="2719387"/>
            <a:ext cx="6772275" cy="14192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576512" y="2500312"/>
            <a:ext cx="7038975" cy="18573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924175" y="2614612"/>
            <a:ext cx="6343650" cy="16287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924175" y="2614612"/>
            <a:ext cx="6343650" cy="16287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924175" y="2428875"/>
            <a:ext cx="6343650" cy="20002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1"/>
          <a:stretch>
            <a:fillRect/>
          </a:stretch>
        </p:blipFill>
        <p:spPr>
          <a:xfrm>
            <a:off x="2924175" y="2247900"/>
            <a:ext cx="6343650" cy="2362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1"/>
          <a:srcRect t="25400"/>
          <a:stretch>
            <a:fillRect/>
          </a:stretch>
        </p:blipFill>
        <p:spPr>
          <a:xfrm>
            <a:off x="2532579" y="3516465"/>
            <a:ext cx="7126842" cy="2537806"/>
          </a:xfrm>
          <a:prstGeom prst="rect">
            <a:avLst/>
          </a:prstGeom>
        </p:spPr>
      </p:pic>
      <p:pic>
        <p:nvPicPr>
          <p:cNvPr id="4" name="Рисунок 3"/>
          <p:cNvPicPr>
            <a:picLocks noChangeAspect="1"/>
          </p:cNvPicPr>
          <p:nvPr/>
        </p:nvPicPr>
        <p:blipFill>
          <a:blip r:embed="rId2"/>
          <a:stretch>
            <a:fillRect/>
          </a:stretch>
        </p:blipFill>
        <p:spPr>
          <a:xfrm>
            <a:off x="2820808" y="212366"/>
            <a:ext cx="6343650" cy="2362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1"/>
          <a:stretch>
            <a:fillRect/>
          </a:stretch>
        </p:blipFill>
        <p:spPr>
          <a:xfrm>
            <a:off x="2924175" y="2247900"/>
            <a:ext cx="6343650" cy="2362200"/>
          </a:xfrm>
          <a:prstGeom prst="rect">
            <a:avLst/>
          </a:prstGeom>
        </p:spPr>
      </p:pic>
      <p:pic>
        <p:nvPicPr>
          <p:cNvPr id="4" name="Рисунок 3"/>
          <p:cNvPicPr>
            <a:picLocks noChangeAspect="1"/>
          </p:cNvPicPr>
          <p:nvPr/>
        </p:nvPicPr>
        <p:blipFill rotWithShape="1">
          <a:blip r:embed="rId2"/>
          <a:srcRect b="76470"/>
          <a:stretch>
            <a:fillRect/>
          </a:stretch>
        </p:blipFill>
        <p:spPr>
          <a:xfrm>
            <a:off x="1133148" y="4980152"/>
            <a:ext cx="8217585" cy="80044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1"/>
          <a:srcRect b="76470"/>
          <a:stretch>
            <a:fillRect/>
          </a:stretch>
        </p:blipFill>
        <p:spPr>
          <a:xfrm>
            <a:off x="1483006" y="312737"/>
            <a:ext cx="8217585" cy="800447"/>
          </a:xfrm>
          <a:prstGeom prst="rect">
            <a:avLst/>
          </a:prstGeom>
        </p:spPr>
      </p:pic>
      <p:sp>
        <p:nvSpPr>
          <p:cNvPr id="3" name="TextBox 2"/>
          <p:cNvSpPr txBox="1"/>
          <p:nvPr/>
        </p:nvSpPr>
        <p:spPr>
          <a:xfrm>
            <a:off x="659958" y="1563878"/>
            <a:ext cx="3278462" cy="523220"/>
          </a:xfrm>
          <a:prstGeom prst="rect">
            <a:avLst/>
          </a:prstGeom>
          <a:noFill/>
        </p:spPr>
        <p:txBody>
          <a:bodyPr wrap="none" rtlCol="0">
            <a:spAutoFit/>
          </a:bodyPr>
          <a:lstStyle/>
          <a:p>
            <a:r>
              <a:rPr lang="en-US" sz="2800" dirty="0"/>
              <a:t>S= “z</a:t>
            </a:r>
            <a:r>
              <a:rPr lang="en-US" sz="2800" baseline="-25000" dirty="0"/>
              <a:t>1</a:t>
            </a:r>
            <a:r>
              <a:rPr lang="en-US" sz="2800" dirty="0"/>
              <a:t>z</a:t>
            </a:r>
            <a:r>
              <a:rPr lang="en-US" sz="2800" baseline="-25000" dirty="0"/>
              <a:t>2</a:t>
            </a:r>
            <a:r>
              <a:rPr lang="en-US" sz="2800" dirty="0"/>
              <a:t>z</a:t>
            </a:r>
            <a:r>
              <a:rPr lang="en-US" sz="2800" baseline="-25000" dirty="0"/>
              <a:t>1</a:t>
            </a:r>
            <a:r>
              <a:rPr lang="en-US" sz="2800" dirty="0"/>
              <a:t>z</a:t>
            </a:r>
            <a:r>
              <a:rPr lang="en-US" sz="2800" baseline="-25000" dirty="0"/>
              <a:t>3</a:t>
            </a:r>
            <a:r>
              <a:rPr lang="en-US" sz="2800" dirty="0"/>
              <a:t>z</a:t>
            </a:r>
            <a:r>
              <a:rPr lang="en-US" sz="2800" baseline="-25000" dirty="0"/>
              <a:t>4</a:t>
            </a:r>
            <a:r>
              <a:rPr lang="en-US" sz="2800" dirty="0"/>
              <a:t>z</a:t>
            </a:r>
            <a:r>
              <a:rPr lang="en-US" sz="2800" baseline="-25000" dirty="0"/>
              <a:t>6</a:t>
            </a:r>
            <a:r>
              <a:rPr lang="en-US" sz="2800" dirty="0"/>
              <a:t>z</a:t>
            </a:r>
            <a:r>
              <a:rPr lang="en-US" sz="2800" baseline="-25000" dirty="0"/>
              <a:t>8</a:t>
            </a:r>
            <a:r>
              <a:rPr lang="en-US" sz="2800" dirty="0"/>
              <a:t>z</a:t>
            </a:r>
            <a:r>
              <a:rPr lang="en-US" sz="2800" baseline="-25000" dirty="0"/>
              <a:t>7</a:t>
            </a:r>
            <a:r>
              <a:rPr lang="en-US" sz="2800" dirty="0"/>
              <a:t>z</a:t>
            </a:r>
            <a:r>
              <a:rPr lang="en-US" sz="2800" baseline="-25000" dirty="0"/>
              <a:t>5</a:t>
            </a:r>
            <a:r>
              <a:rPr lang="en-US" sz="2800" dirty="0"/>
              <a:t>”</a:t>
            </a:r>
            <a:endParaRPr lang="ru-RU" sz="2800" baseline="-25000" dirty="0"/>
          </a:p>
        </p:txBody>
      </p:sp>
      <p:sp>
        <p:nvSpPr>
          <p:cNvPr id="4" name="TextBox 3"/>
          <p:cNvSpPr txBox="1"/>
          <p:nvPr/>
        </p:nvSpPr>
        <p:spPr>
          <a:xfrm>
            <a:off x="659958" y="2537792"/>
            <a:ext cx="6397905" cy="523220"/>
          </a:xfrm>
          <a:prstGeom prst="rect">
            <a:avLst/>
          </a:prstGeom>
          <a:noFill/>
        </p:spPr>
        <p:txBody>
          <a:bodyPr wrap="none" rtlCol="0">
            <a:spAutoFit/>
          </a:bodyPr>
          <a:lstStyle/>
          <a:p>
            <a:r>
              <a:rPr lang="en-US" sz="2800" dirty="0"/>
              <a:t>SP= “10111000000101000101101010011”</a:t>
            </a:r>
            <a:endParaRPr lang="ru-RU" sz="2800" baseline="-25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419" y="307572"/>
            <a:ext cx="3566489" cy="523220"/>
          </a:xfrm>
          <a:prstGeom prst="rect">
            <a:avLst/>
          </a:prstGeom>
          <a:noFill/>
        </p:spPr>
        <p:txBody>
          <a:bodyPr wrap="none" rtlCol="0">
            <a:spAutoFit/>
          </a:bodyPr>
          <a:lstStyle/>
          <a:p>
            <a:r>
              <a:rPr lang="en-US" sz="2800" dirty="0"/>
              <a:t>S= “</a:t>
            </a:r>
            <a:r>
              <a:rPr lang="ru-RU" sz="2800" dirty="0"/>
              <a:t>мама мыла раму</a:t>
            </a:r>
            <a:r>
              <a:rPr lang="en-US" sz="2800" dirty="0"/>
              <a:t>”</a:t>
            </a:r>
            <a:endParaRPr lang="ru-RU" sz="2800" baseline="-25000"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3114</Words>
  <Application>WPS Presentation</Application>
  <PresentationFormat>Широкоэкранный</PresentationFormat>
  <Paragraphs>104</Paragraphs>
  <Slides>24</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5" baseType="lpstr">
      <vt:lpstr>Arial</vt:lpstr>
      <vt:lpstr>SimSun</vt:lpstr>
      <vt:lpstr>Wingdings</vt:lpstr>
      <vt:lpstr>Comic Sans MS</vt:lpstr>
      <vt:lpstr>Calibri</vt:lpstr>
      <vt:lpstr>Times New Roman</vt:lpstr>
      <vt:lpstr>Microsoft YaHei</vt:lpstr>
      <vt:lpstr>Arial Unicode MS</vt:lpstr>
      <vt:lpstr>Calibri Light</vt:lpstr>
      <vt:lpstr>Тема Office</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graph?</dc:title>
  <dc:creator>Levonog</dc:creator>
  <cp:lastModifiedBy>Диана Подшивале�</cp:lastModifiedBy>
  <cp:revision>66</cp:revision>
  <dcterms:created xsi:type="dcterms:W3CDTF">2021-07-10T19:33:00Z</dcterms:created>
  <dcterms:modified xsi:type="dcterms:W3CDTF">2024-10-27T16:12:19Z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81667D36C6BA4320A9E3541A8CD5AFA2_12</vt:lpwstr>
  </property>
  <property fmtid="{D5CDD505-2E9C-101B-9397-08002B2CF9AE}" pid="3" name="KSOProductBuildVer">
    <vt:lpwstr>1033-12.2.0.18607</vt:lpwstr>
  </property>
</Properties>
</file>